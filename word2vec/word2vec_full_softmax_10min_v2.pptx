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166b6043d348f0" /><Relationship Type="http://schemas.openxmlformats.org/officeDocument/2006/relationships/extended-properties" Target="/docProps/app.xml" Id="Raea8bb05499749a7" /><Relationship Type="http://schemas.openxmlformats.org/officeDocument/2006/relationships/officeDocument" Target="/ppt/presentation.xml" Id="Re45315ab3a7d42cd" /></Relationships>
</file>

<file path=ppt/presentation.xml><?xml version="1.0" encoding="utf-8"?>
<p:presentation xmlns:p="http://schemas.openxmlformats.org/presentationml/2006/main">
  <p:sldMasterIdLst>
    <p:sldMasterId xmlns:r="http://schemas.openxmlformats.org/officeDocument/2006/relationships" id="2147483648" r:id="Rc12466269a06411c"/>
  </p:sldMasterIdLst>
  <p:notesMasterIdLst>
    <p:notesMasterId xmlns:r="http://schemas.openxmlformats.org/officeDocument/2006/relationships" r:id="R51e5e662e6f7474d"/>
  </p:notesMasterIdLst>
  <p:sldIdLst>
    <p:sldId xmlns:r="http://schemas.openxmlformats.org/officeDocument/2006/relationships" id="256" r:id="R5bfb04e4b3a54af1"/>
    <p:sldId xmlns:r="http://schemas.openxmlformats.org/officeDocument/2006/relationships" id="257" r:id="R5a9afe719fe944a7"/>
    <p:sldId xmlns:r="http://schemas.openxmlformats.org/officeDocument/2006/relationships" id="258" r:id="R470f4f20f3e04115"/>
    <p:sldId xmlns:r="http://schemas.openxmlformats.org/officeDocument/2006/relationships" id="259" r:id="R953cbb7f1deb4ff0"/>
    <p:sldId xmlns:r="http://schemas.openxmlformats.org/officeDocument/2006/relationships" id="260" r:id="Rc11a07baea954e84"/>
    <p:sldId xmlns:r="http://schemas.openxmlformats.org/officeDocument/2006/relationships" id="261" r:id="R94043f81131f41a4"/>
    <p:sldId xmlns:r="http://schemas.openxmlformats.org/officeDocument/2006/relationships" id="262" r:id="R2297f419caf14518"/>
    <p:sldId xmlns:r="http://schemas.openxmlformats.org/officeDocument/2006/relationships" id="263" r:id="R348fbc19d8af4b08"/>
    <p:sldId xmlns:r="http://schemas.openxmlformats.org/officeDocument/2006/relationships" id="264" r:id="Rc57fb7724ed146bc"/>
    <p:sldId xmlns:r="http://schemas.openxmlformats.org/officeDocument/2006/relationships" id="265" r:id="R2f202a2d533347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4056d72e074e7d" /><Relationship Type="http://schemas.openxmlformats.org/officeDocument/2006/relationships/slideMaster" Target="/ppt/slideMasters/slideMaster1.xml" Id="Rc12466269a06411c" /><Relationship Type="http://schemas.openxmlformats.org/officeDocument/2006/relationships/notesMaster" Target="/ppt/notesMasters/notesMaster1.xml" Id="R51e5e662e6f7474d" /><Relationship Type="http://schemas.openxmlformats.org/officeDocument/2006/relationships/presProps" Target="/ppt/presProps.xml" Id="Rdf97c70880804ef3" /><Relationship Type="http://schemas.openxmlformats.org/officeDocument/2006/relationships/tableStyles" Target="/ppt/tableStyles.xml" Id="Ra4935886c90d4266" /><Relationship Type="http://schemas.openxmlformats.org/officeDocument/2006/relationships/slide" Target="/ppt/slides/slide1.xml" Id="R5bfb04e4b3a54af1" /><Relationship Type="http://schemas.openxmlformats.org/officeDocument/2006/relationships/slide" Target="/ppt/slides/slide2.xml" Id="R5a9afe719fe944a7" /><Relationship Type="http://schemas.openxmlformats.org/officeDocument/2006/relationships/slide" Target="/ppt/slides/slide3.xml" Id="R470f4f20f3e04115" /><Relationship Type="http://schemas.openxmlformats.org/officeDocument/2006/relationships/slide" Target="/ppt/slides/slide4.xml" Id="R953cbb7f1deb4ff0" /><Relationship Type="http://schemas.openxmlformats.org/officeDocument/2006/relationships/slide" Target="/ppt/slides/slide5.xml" Id="Rc11a07baea954e84" /><Relationship Type="http://schemas.openxmlformats.org/officeDocument/2006/relationships/slide" Target="/ppt/slides/slide6.xml" Id="R94043f81131f41a4" /><Relationship Type="http://schemas.openxmlformats.org/officeDocument/2006/relationships/slide" Target="/ppt/slides/slide7.xml" Id="R2297f419caf14518" /><Relationship Type="http://schemas.openxmlformats.org/officeDocument/2006/relationships/slide" Target="/ppt/slides/slide8.xml" Id="R348fbc19d8af4b08" /><Relationship Type="http://schemas.openxmlformats.org/officeDocument/2006/relationships/slide" Target="/ppt/slides/slide9.xml" Id="Rc57fb7724ed146bc" /><Relationship Type="http://schemas.openxmlformats.org/officeDocument/2006/relationships/slide" Target="/ppt/slides/slide10.xml" Id="R2f202a2d533347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adaaed25b443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3eb5b386ca4faf" /><Relationship Type="http://schemas.openxmlformats.org/officeDocument/2006/relationships/notesMaster" Target="/ppt/notesMasters/notesMaster1.xml" Id="R69c3a4659f2149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07d3d912f6499f" /><Relationship Type="http://schemas.openxmlformats.org/officeDocument/2006/relationships/notesMaster" Target="/ppt/notesMasters/notesMaster1.xml" Id="Re75f362d9c864c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7690e70fe94795" /><Relationship Type="http://schemas.openxmlformats.org/officeDocument/2006/relationships/notesMaster" Target="/ppt/notesMasters/notesMaster1.xml" Id="R59708176aa6541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9a97541025406e" /><Relationship Type="http://schemas.openxmlformats.org/officeDocument/2006/relationships/notesMaster" Target="/ppt/notesMasters/notesMaster1.xml" Id="R4113b4a539cf42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3fcd42b7454266" /><Relationship Type="http://schemas.openxmlformats.org/officeDocument/2006/relationships/notesMaster" Target="/ppt/notesMasters/notesMaster1.xml" Id="R52e0c9c867424b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3af85d0a724767" /><Relationship Type="http://schemas.openxmlformats.org/officeDocument/2006/relationships/notesMaster" Target="/ppt/notesMasters/notesMaster1.xml" Id="R81a02009392645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65190e163b4507" /><Relationship Type="http://schemas.openxmlformats.org/officeDocument/2006/relationships/notesMaster" Target="/ppt/notesMasters/notesMaster1.xml" Id="R9287f549d09c47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13805f3e0c414a" /><Relationship Type="http://schemas.openxmlformats.org/officeDocument/2006/relationships/notesMaster" Target="/ppt/notesMasters/notesMaster1.xml" Id="Rd4a925fb71ba4f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e32872b49f4e80" /><Relationship Type="http://schemas.openxmlformats.org/officeDocument/2006/relationships/notesMaster" Target="/ppt/notesMasters/notesMaster1.xml" Id="Rb44ebe23d6654e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9a8f3d2f444fb4" /><Relationship Type="http://schemas.openxmlformats.org/officeDocument/2006/relationships/notesMaster" Target="/ppt/notesMasters/notesMaster1.xml" Id="R822ad1c32b2a42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Student 1 begins. Define Word2Vec as learning a vector for each word from nearby-word prediction. Our implementation is skip-gram with full softmax, trained from scratch with Python loops. Based on the supplied word2vec_full_softmax_from_scratch.ipynb.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Each sentence is split into tokens. With radius one, each center word is paired with its immediate neighbors. The model receives center ID c and aims to predict observed outside ID o. The notebook makes 112 training pairs from 28 three-word sentences, vocabulary size V=27. The reverse-direction pairs are also included. Equation E1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a:t>
            </a:r>
          </a:p>
          <a:p xmlns:a="http://schemas.openxmlformats.org/drawingml/2006/main">
            <a:r>
              <a:t>The vocabulary has V=27 words, and this example uses d=8. W_in is 27×8. Each row is one center-word embedding. For center word cat, simply select its row, giving h_cat of length 8. This is equivalent to multiplying W_in transpose by a 27-dimensional one-hot vector. The diagram is schematic; symbols are not the actual trained numerical values. Equation E2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a:t>
            </a:r>
          </a:p>
          <a:p xmlns:a="http://schemas.openxmlformats.org/drawingml/2006/main">
            <a:r>
              <a:t>W_out is also 27×8, but its rows represent words as possible context words. For each candidate j, take the dot product of W_out[j] with h_cat. The result is a scalar compatibility score. Repeating for all 27 rows yields 27 scores. Higher score means a better relative fit near the center; it is not yet a probability. Equation E2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a:t>
            </a:r>
          </a:p>
          <a:p xmlns:a="http://schemas.openxmlformats.org/drawingml/2006/main">
            <a:r>
              <a:t>The three-score example is illustrative, not the actual 27-word model. Full softmax exponentiates each candidate score and divides by the sum across all V candidates, producing probabilities that total one. The loss is negative log of the probability assigned to the observed context word. We use direct exponentials in the beginner notebook; subtracting the max score would be a numerically stable equivalent for large models. Equations E3 and 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 seconds.</a:t>
            </a:r>
          </a:p>
          <a:p xmlns:a="http://schemas.openxmlformats.org/drawingml/2006/main">
            <a:r>
              <a:t>Student 2 begins. Let y be one-hot at observed outside word o. Then g=p−y is the score gradient. By chain rule, output-matrix gradient is outer product g h transpose, shape 27×8; center-vector gradient is W_out transpose times g, length 8. Only row c of W_in updates. The code computes both gradients from old weights before either update. Equations E5–E8.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a:t>
            </a:r>
          </a:p>
          <a:p xmlns:a="http://schemas.openxmlformats.org/drawingml/2006/main">
            <a:r>
              <a:t>Walk through notebook functions make_pairs, forward, loss_and_gradients, step, and train. Each pair causes one stochastic gradient descent update. The main math uses ordinary Python loops, not a Word2Vec library. The supplied run uses 60 epochs, learning rate 0.08, 112 pairs, vocabulary 27, embedding dimension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p>
          <a:p xmlns:a="http://schemas.openxmlformats.org/drawingml/2006/main">
            <a:r>
              <a:t>Show the actual mean training loss printed by the supplied notebook at epochs 0, 10, 20, 40, and 60. The loss decreases on the training data. This does not measure accuracy on unseen text. The graph is a native editable PowerPoint chart. Data source: supplied Word2Vec notebook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p>
          <a:p xmlns:a="http://schemas.openxmlformats.org/drawingml/2006/main">
            <a:r>
              <a:t>This is the required parameter experiment. Change only d from 2 to 8. Two V×d matrices give 2Vd parameters: 108 versus 432 for V=27. Initial and final losses are copied from the notebook output. The 8-dimensional model reaches lower training loss, but we have no held-out evaluation, so do not claim better generalization. Equation 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a:t>
            </a:r>
          </a:p>
          <a:p xmlns:a="http://schemas.openxmlformats.org/drawingml/2006/main">
            <a:r>
              <a:t>The final notebook cell checks one fixed pair: manual loss, center gradient, and every output gradient agree with vectorized NumPy via allclose. Limitations: tiny constructed corpus, one vector per word so polysemy is unresolved, text bias can be learned, and full softmax is costly for large V because every update touches all words. Both teammates should be able to explain the derivatives and code during questions. Source: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8f1210c3e342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f0d543c2aa47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c7d482c85143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2df4952a9943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0b8f26d4cb4d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4845bc8a3247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12B32F-9462-4161-A888-FAA9BBCCBC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30B455-A53F-4125-A21E-04A2626E69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812879-3DA7-4BB6-9A25-FEE9830623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06698-1AF7-4E36-AF01-C3436F4B19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A52B4A-4607-4221-924B-5EC957D061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98448F-7523-4855-A13F-DCE38ADC21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B9BC64-4B4F-418B-B0E6-3D2209D4C2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2809D1-E4D3-48C9-BB9F-FEBB690B25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BEFBFC-0537-46E6-BABB-A4A7F7468C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F2080E-3AE7-4914-9721-728BFBB3CB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084d07ab6d4643" /><Relationship Type="http://schemas.openxmlformats.org/officeDocument/2006/relationships/slideLayout" Target="/ppt/slideLayouts/slideLayout1.xml" Id="R529c9ccf61d6427d" /><Relationship Type="http://schemas.openxmlformats.org/officeDocument/2006/relationships/slideLayout" Target="/ppt/slideLayouts/slideLayout2.xml" Id="R6ad3e713881c4c55" /><Relationship Type="http://schemas.openxmlformats.org/officeDocument/2006/relationships/slideLayout" Target="/ppt/slideLayouts/slideLayout3.xml" Id="Rd85e3a8e58134aa3" /><Relationship Type="http://schemas.openxmlformats.org/officeDocument/2006/relationships/slideLayout" Target="/ppt/slideLayouts/slideLayout4.xml" Id="R369be8979d9144a3" /><Relationship Type="http://schemas.openxmlformats.org/officeDocument/2006/relationships/slideLayout" Target="/ppt/slideLayouts/slideLayout5.xml" Id="R073b970a892743b5" /><Relationship Type="http://schemas.openxmlformats.org/officeDocument/2006/relationships/slideLayout" Target="/ppt/slideLayouts/slideLayout6.xml" Id="Rfda5737c121947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9c9ccf61d6427d"/>
    <p:sldLayoutId xmlns:r="http://schemas.openxmlformats.org/officeDocument/2006/relationships" id="2147483650" r:id="R6ad3e713881c4c55"/>
    <p:sldLayoutId xmlns:r="http://schemas.openxmlformats.org/officeDocument/2006/relationships" id="2147483651" r:id="Rd85e3a8e58134aa3"/>
    <p:sldLayoutId xmlns:r="http://schemas.openxmlformats.org/officeDocument/2006/relationships" id="2147483652" r:id="R369be8979d9144a3"/>
    <p:sldLayoutId xmlns:r="http://schemas.openxmlformats.org/officeDocument/2006/relationships" id="2147483653" r:id="R073b970a892743b5"/>
    <p:sldLayoutId xmlns:r="http://schemas.openxmlformats.org/officeDocument/2006/relationships" id="2147483654" r:id="Rfda5737c121947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36fd1f25364d17" /><Relationship Type="http://schemas.openxmlformats.org/officeDocument/2006/relationships/notesSlide" Target="/ppt/notesSlides/notesSlide1.xml" Id="Rad730fe9ff0947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bdeb37ceeb40df" /><Relationship Type="http://schemas.openxmlformats.org/officeDocument/2006/relationships/notesSlide" Target="/ppt/notesSlides/notesSlide2.xml" Id="Ra555d9db4f9641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154573cd8e48be" /><Relationship Type="http://schemas.openxmlformats.org/officeDocument/2006/relationships/notesSlide" Target="/ppt/notesSlides/notesSlide3.xml" Id="R40d48054ed014f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8ebd508e974a1a" /><Relationship Type="http://schemas.openxmlformats.org/officeDocument/2006/relationships/notesSlide" Target="/ppt/notesSlides/notesSlide4.xml" Id="R9b16e2f9a61c47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f747217dfc4e8f" /><Relationship Type="http://schemas.openxmlformats.org/officeDocument/2006/relationships/notesSlide" Target="/ppt/notesSlides/notesSlide5.xml" Id="R64a07115270747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dcc998aaf049ee" /><Relationship Type="http://schemas.openxmlformats.org/officeDocument/2006/relationships/notesSlide" Target="/ppt/notesSlides/notesSlide6.xml" Id="Rac4e145527934a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87c825c1c94941" /><Relationship Type="http://schemas.openxmlformats.org/officeDocument/2006/relationships/notesSlide" Target="/ppt/notesSlides/notesSlide7.xml" Id="R24dc5434dc7747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29089428e64998" /><Relationship Type="http://schemas.openxmlformats.org/officeDocument/2006/relationships/chart" Target="/ppt/slides/charts/chart1.xml" Id="Rd81608318aea4eee" /><Relationship Type="http://schemas.openxmlformats.org/officeDocument/2006/relationships/notesSlide" Target="/ppt/notesSlides/notesSlide8.xml" Id="R78d441f7c47249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ca82c194774fb2" /><Relationship Type="http://schemas.openxmlformats.org/officeDocument/2006/relationships/notesSlide" Target="/ppt/notesSlides/notesSlide9.xml" Id="R44088f9038424a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a0a19462d794d5f" /><Relationship Type="http://schemas.openxmlformats.org/officeDocument/2006/relationships/notesSlide" Target="/ppt/notesSlides/notesSlide10.xml" Id="R77414894de504e5a" /></Relationships>
</file>

<file path=ppt/slides/charts/chart1.xml><?xml version="1.0" encoding="utf-8"?>
<c:chartSpace xmlns:c="http://schemas.openxmlformats.org/drawingml/2006/chart">
  <c:lang val="en-US"/>
  <c:chart>
    <c:plotArea>
      <c:lineChart>
        <c:grouping val="standard"/>
        <c:varyColors val="0"/>
        <c:ser>
          <c:idx val="0"/>
          <c:order val="0"/>
          <c:tx>
            <c:v>Mean training loss</c:v>
          </c:tx>
          <c:spPr>
            <a:ln xmlns:a="http://schemas.openxmlformats.org/drawingml/2006/main" w="38100">
              <a:solidFill>
                <a:srgbClr val="5751D3"/>
              </a:solidFill>
              <a:prstDash val="solid"/>
            </a:ln>
          </c:spPr>
          <c:marker>
            <c:symbol val="circle"/>
            <c:size val="9"/>
            <c:spPr>
              <a:solidFill xmlns:a="http://schemas.openxmlformats.org/drawingml/2006/main">
                <a:srgbClr val="5751D3"/>
              </a:solidFill>
            </c:spPr>
          </c:marker>
          <c:cat>
            <c:numLit>
              <c:formatCode>General</c:formatCode>
              <c:ptCount val="5"/>
              <c:pt idx="0">
                <c:v>0</c:v>
              </c:pt>
              <c:pt idx="1">
                <c:v>10</c:v>
              </c:pt>
              <c:pt idx="2">
                <c:v>20</c:v>
              </c:pt>
              <c:pt idx="3">
                <c:v>40</c:v>
              </c:pt>
              <c:pt idx="4">
                <c:v>60</c:v>
              </c:pt>
            </c:numLit>
          </c:cat>
          <c:val>
            <c:numLit>
              <c:formatCode>General</c:formatCode>
              <c:ptCount val="5"/>
              <c:pt idx="0">
                <c:v>3.2964</c:v>
              </c:pt>
              <c:pt idx="1">
                <c:v>1.9346</c:v>
              </c:pt>
              <c:pt idx="2">
                <c:v>1.0922</c:v>
              </c:pt>
              <c:pt idx="3">
                <c:v>1.0298</c:v>
              </c:pt>
              <c:pt idx="4">
                <c:v>1.0287</c:v>
              </c:pt>
            </c:numLit>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latin typeface="Microsoft YaHei"/>
                    <a:ea typeface="Microsoft YaHei"/>
                    <a:cs typeface="Microsoft YaHei"/>
                  </a:rPr>
                  <a:t>Epoch</a:t>
                </a:r>
              </a:p>
            </c:rich>
          </c:tx>
          <c:overlay val="0"/>
          <c:txPr>
            <a:bodyPr xmlns:a="http://schemas.openxmlformats.org/drawingml/2006/main" anchorCtr="1"/>
            <a:lstStyle xmlns:a="http://schemas.openxmlformats.org/drawingml/2006/main"/>
            <a:p xmlns:a="http://schemas.openxmlformats.org/drawingml/2006/main">
              <a:pPr>
                <a:defRPr sz="1275">
                  <a:latin typeface="Microsoft YaHei"/>
                  <a:ea typeface="Microsoft YaHei"/>
                  <a:cs typeface="Microsoft YaHe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Microsoft YaHei"/>
                <a:ea typeface="Microsoft YaHei"/>
                <a:cs typeface="Microsoft YaHei"/>
              </a:defRPr>
            </a:pPr>
          </a:p>
        </c:txPr>
        <c:crossAx val="48672768"/>
      </c:catAx>
      <c:valAx>
        <c:axId val="48672768"/>
        <c:scaling>
          <c:orientation val="minMax"/>
          <c:max val="3.5"/>
          <c:min val="0"/>
        </c:scaling>
        <c:delete val="0"/>
        <c:axPos val="l"/>
        <c:title>
          <c:tx>
            <c:rich>
              <a:bodyPr xmlns:a="http://schemas.openxmlformats.org/drawingml/2006/main"/>
              <a:lstStyle xmlns:a="http://schemas.openxmlformats.org/drawingml/2006/main"/>
              <a:p xmlns:a="http://schemas.openxmlformats.org/drawingml/2006/main">
                <a:r>
                  <a:rPr sz="1275">
                    <a:latin typeface="Microsoft YaHei"/>
                    <a:ea typeface="Microsoft YaHei"/>
                    <a:cs typeface="Microsoft YaHei"/>
                  </a:rPr>
                  <a:t>Mean negative log likelihood</a:t>
                </a:r>
              </a:p>
            </c:rich>
          </c:tx>
          <c:overlay val="0"/>
          <c:txPr>
            <a:bodyPr xmlns:a="http://schemas.openxmlformats.org/drawingml/2006/main" anchorCtr="1"/>
            <a:lstStyle xmlns:a="http://schemas.openxmlformats.org/drawingml/2006/main"/>
            <a:p xmlns:a="http://schemas.openxmlformats.org/drawingml/2006/main">
              <a:pPr>
                <a:defRPr sz="1275">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Microsoft YaHei"/>
                <a:ea typeface="Microsoft YaHei"/>
                <a:cs typeface="Microsoft YaHei"/>
              </a:defRPr>
            </a:pPr>
          </a:p>
        </c:txPr>
        <c:crossAx val="48650112"/>
        <c:crossBetween val="between"/>
        <c:majorUnit val="0.5"/>
      </c:valAx>
      <c:spPr>
        <a:solidFill xmlns:a="http://schemas.openxmlformats.org/drawingml/2006/main">
          <a:srgbClr val="F6F6EF"/>
        </a:solidFill>
      </c:spPr>
    </c:plotArea>
    <c:plotVisOnly val="1"/>
  </c:chart>
  <c:spPr>
    <a:solidFill xmlns:a="http://schemas.openxmlformats.org/drawingml/2006/main">
      <a:srgbClr val="F6F6EF"/>
    </a:solidFill>
  </c:spPr>
</c:chartSpace>
</file>

<file path=ppt/slides/slide1.xml><?xml version="1.0" encoding="utf-8"?>
<p:sld xmlns:p="http://schemas.openxmlformats.org/presentationml/2006/main">
  <p:cSld>
    <p:bg>
      <p:bgPr>
        <a:solidFill xmlns:a="http://schemas.openxmlformats.org/drawingml/2006/main">
          <a:srgbClr val="E9EDDF"/>
        </a:solidFill>
      </p:bgPr>
    </p:bg>
    <p:spTree>
      <p:nvGrpSpPr>
        <p:cNvPr id="1" name=""/>
        <p:cNvGrpSpPr/>
        <p:nvPr/>
      </p:nvGrpSpPr>
      <p:grpSpPr>
        <a:xfrm xmlns:a="http://schemas.openxmlformats.org/drawingml/2006/main"/>
      </p:grpSpPr>
      <p:sp>
        <p:nvSpPr>
          <p:cNvPr id="5" name="MATRIX × AI">
            <a:extLst xmlns:a="http://schemas.openxmlformats.org/drawingml/2006/main">
              <a:ext uri="{FF2B5EF4-FFF2-40B4-BE49-F238E27FC236}">
                <a16:creationId xmlns:a16="http://schemas.microsoft.com/office/drawing/2014/main" id="{2DF648F6-D4AB-4658-9D0D-165E8D7B10D2}"/>
              </a:ext>
            </a:extLst>
          </p:cNvPr>
          <p:cNvSpPr>
            <a:spLocks xmlns:a="http://schemas.openxmlformats.org/drawingml/2006/main" noGrp="1"/>
          </p:cNvSpPr>
          <p:nvPr/>
        </p:nvSpPr>
        <p:spPr>
          <a:xfrm xmlns:a="http://schemas.openxmlformats.org/drawingml/2006/main">
            <a:off x="781050" y="5905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00" b="1">
                <a:solidFill>
                  <a:srgbClr val="728C59"/>
                </a:solidFill>
                <a:latin typeface="Microsoft YaHei"/>
                <a:ea typeface="Microsoft YaHei"/>
                <a:cs typeface="Microsoft YaHei"/>
              </a:defRPr>
            </a:defPPr>
            <a:lvl1pPr algn="l">
              <a:buNone/>
              <a:defRPr sz="1500" b="1">
                <a:solidFill>
                  <a:srgbClr val="728C59"/>
                </a:solidFill>
                <a:latin typeface="Microsoft YaHei"/>
                <a:ea typeface="Microsoft YaHei"/>
                <a:cs typeface="Microsoft YaHei"/>
              </a:defRPr>
            </a:lvl1pPr>
            <a:lvl2pPr algn="l">
              <a:buNone/>
              <a:defRPr sz="1500" b="1">
                <a:solidFill>
                  <a:srgbClr val="728C59"/>
                </a:solidFill>
                <a:latin typeface="Microsoft YaHei"/>
                <a:ea typeface="Microsoft YaHei"/>
                <a:cs typeface="Microsoft YaHei"/>
              </a:defRPr>
            </a:lvl2pPr>
            <a:lvl3pPr algn="l">
              <a:buNone/>
              <a:defRPr sz="1500" b="1">
                <a:solidFill>
                  <a:srgbClr val="728C59"/>
                </a:solidFill>
                <a:latin typeface="Microsoft YaHei"/>
                <a:ea typeface="Microsoft YaHei"/>
                <a:cs typeface="Microsoft YaHei"/>
              </a:defRPr>
            </a:lvl3pPr>
            <a:lvl4pPr algn="l">
              <a:buNone/>
              <a:defRPr sz="1500" b="1">
                <a:solidFill>
                  <a:srgbClr val="728C59"/>
                </a:solidFill>
                <a:latin typeface="Microsoft YaHei"/>
                <a:ea typeface="Microsoft YaHei"/>
                <a:cs typeface="Microsoft YaHei"/>
              </a:defRPr>
            </a:lvl4pPr>
            <a:lvl5pPr algn="l">
              <a:buNone/>
              <a:defRPr sz="1500" b="1">
                <a:solidFill>
                  <a:srgbClr val="728C59"/>
                </a:solidFill>
                <a:latin typeface="Microsoft YaHei"/>
                <a:ea typeface="Microsoft YaHei"/>
                <a:cs typeface="Microsoft YaHei"/>
              </a:defRPr>
            </a:lvl5pPr>
            <a:lvl6pPr algn="l">
              <a:buNone/>
              <a:defRPr sz="1500" b="1">
                <a:solidFill>
                  <a:srgbClr val="728C59"/>
                </a:solidFill>
                <a:latin typeface="Microsoft YaHei"/>
                <a:ea typeface="Microsoft YaHei"/>
                <a:cs typeface="Microsoft YaHei"/>
              </a:defRPr>
            </a:lvl6pPr>
            <a:lvl7pPr algn="l">
              <a:buNone/>
              <a:defRPr sz="1500" b="1">
                <a:solidFill>
                  <a:srgbClr val="728C59"/>
                </a:solidFill>
                <a:latin typeface="Microsoft YaHei"/>
                <a:ea typeface="Microsoft YaHei"/>
                <a:cs typeface="Microsoft YaHei"/>
              </a:defRPr>
            </a:lvl7pPr>
            <a:lvl8pPr algn="l">
              <a:buNone/>
              <a:defRPr sz="1500" b="1">
                <a:solidFill>
                  <a:srgbClr val="728C59"/>
                </a:solidFill>
                <a:latin typeface="Microsoft YaHei"/>
                <a:ea typeface="Microsoft YaHei"/>
                <a:cs typeface="Microsoft YaHei"/>
              </a:defRPr>
            </a:lvl8pPr>
            <a:lvl9pPr algn="l">
              <a:buNone/>
              <a:defRPr sz="1500" b="1">
                <a:solidFill>
                  <a:srgbClr val="728C59"/>
                </a:solidFill>
                <a:latin typeface="Microsoft YaHei"/>
                <a:ea typeface="Microsoft YaHei"/>
                <a:cs typeface="Microsoft YaHei"/>
              </a:defRPr>
            </a:lvl9pPr>
          </a:lstStyle>
          <a:p xmlns:a="http://schemas.openxmlformats.org/drawingml/2006/main">
            <a:pPr algn="l">
              <a:buNone/>
              <a:defRPr sz="1500" b="1">
                <a:solidFill>
                  <a:srgbClr val="728C59"/>
                </a:solidFill>
                <a:latin typeface="Microsoft YaHei"/>
                <a:ea typeface="Microsoft YaHei"/>
                <a:cs typeface="Microsoft YaHei"/>
              </a:defRPr>
            </a:pPr>
            <a:r>
              <a:rPr sz="1500" b="1">
                <a:solidFill>
                  <a:srgbClr val="728C59"/>
                </a:solidFill>
                <a:latin typeface="Microsoft YaHei"/>
                <a:ea typeface="Microsoft YaHei"/>
                <a:cs typeface="Microsoft YaHei"/>
              </a:rPr>
              <a:t>MATRIX × AI</a:t>
            </a:r>
          </a:p>
        </p:txBody>
      </p:sp>
      <p:sp>
        <p:nvSpPr>
          <p:cNvPr id="2" name="Word2Vec: learning&#10;word ">
            <a:extLst xmlns:a="http://schemas.openxmlformats.org/drawingml/2006/main">
              <a:ext uri="{FF2B5EF4-FFF2-40B4-BE49-F238E27FC236}">
                <a16:creationId xmlns:a16="http://schemas.microsoft.com/office/drawing/2014/main" id="{81309C1A-328D-40EE-BA4F-F98ED5FFBBEA}"/>
              </a:ext>
            </a:extLst>
          </p:cNvPr>
          <p:cNvSpPr>
            <a:spLocks xmlns:a="http://schemas.openxmlformats.org/drawingml/2006/main" noGrp="1"/>
          </p:cNvSpPr>
          <p:nvPr/>
        </p:nvSpPr>
        <p:spPr>
          <a:xfrm xmlns:a="http://schemas.openxmlformats.org/drawingml/2006/main">
            <a:off x="781050" y="1428750"/>
            <a:ext cx="105727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4800" b="1">
                <a:solidFill>
                  <a:srgbClr val="25302B"/>
                </a:solidFill>
                <a:latin typeface="Microsoft YaHei"/>
                <a:ea typeface="Microsoft YaHei"/>
                <a:cs typeface="Microsoft YaHei"/>
              </a:defRPr>
            </a:defPPr>
            <a:lvl1pPr algn="l">
              <a:buNone/>
              <a:defRPr sz="4800" b="1">
                <a:solidFill>
                  <a:srgbClr val="25302B"/>
                </a:solidFill>
                <a:latin typeface="Microsoft YaHei"/>
                <a:ea typeface="Microsoft YaHei"/>
                <a:cs typeface="Microsoft YaHei"/>
              </a:defRPr>
            </a:lvl1pPr>
            <a:lvl2pPr algn="l">
              <a:buNone/>
              <a:defRPr sz="4800" b="1">
                <a:solidFill>
                  <a:srgbClr val="25302B"/>
                </a:solidFill>
                <a:latin typeface="Microsoft YaHei"/>
                <a:ea typeface="Microsoft YaHei"/>
                <a:cs typeface="Microsoft YaHei"/>
              </a:defRPr>
            </a:lvl2pPr>
            <a:lvl3pPr algn="l">
              <a:buNone/>
              <a:defRPr sz="4800" b="1">
                <a:solidFill>
                  <a:srgbClr val="25302B"/>
                </a:solidFill>
                <a:latin typeface="Microsoft YaHei"/>
                <a:ea typeface="Microsoft YaHei"/>
                <a:cs typeface="Microsoft YaHei"/>
              </a:defRPr>
            </a:lvl3pPr>
            <a:lvl4pPr algn="l">
              <a:buNone/>
              <a:defRPr sz="4800" b="1">
                <a:solidFill>
                  <a:srgbClr val="25302B"/>
                </a:solidFill>
                <a:latin typeface="Microsoft YaHei"/>
                <a:ea typeface="Microsoft YaHei"/>
                <a:cs typeface="Microsoft YaHei"/>
              </a:defRPr>
            </a:lvl4pPr>
            <a:lvl5pPr algn="l">
              <a:buNone/>
              <a:defRPr sz="4800" b="1">
                <a:solidFill>
                  <a:srgbClr val="25302B"/>
                </a:solidFill>
                <a:latin typeface="Microsoft YaHei"/>
                <a:ea typeface="Microsoft YaHei"/>
                <a:cs typeface="Microsoft YaHei"/>
              </a:defRPr>
            </a:lvl5pPr>
            <a:lvl6pPr algn="l">
              <a:buNone/>
              <a:defRPr sz="4800" b="1">
                <a:solidFill>
                  <a:srgbClr val="25302B"/>
                </a:solidFill>
                <a:latin typeface="Microsoft YaHei"/>
                <a:ea typeface="Microsoft YaHei"/>
                <a:cs typeface="Microsoft YaHei"/>
              </a:defRPr>
            </a:lvl6pPr>
            <a:lvl7pPr algn="l">
              <a:buNone/>
              <a:defRPr sz="4800" b="1">
                <a:solidFill>
                  <a:srgbClr val="25302B"/>
                </a:solidFill>
                <a:latin typeface="Microsoft YaHei"/>
                <a:ea typeface="Microsoft YaHei"/>
                <a:cs typeface="Microsoft YaHei"/>
              </a:defRPr>
            </a:lvl7pPr>
            <a:lvl8pPr algn="l">
              <a:buNone/>
              <a:defRPr sz="4800" b="1">
                <a:solidFill>
                  <a:srgbClr val="25302B"/>
                </a:solidFill>
                <a:latin typeface="Microsoft YaHei"/>
                <a:ea typeface="Microsoft YaHei"/>
                <a:cs typeface="Microsoft YaHei"/>
              </a:defRPr>
            </a:lvl8pPr>
            <a:lvl9pPr algn="l">
              <a:buNone/>
              <a:defRPr sz="4800" b="1">
                <a:solidFill>
                  <a:srgbClr val="25302B"/>
                </a:solidFill>
                <a:latin typeface="Microsoft YaHei"/>
                <a:ea typeface="Microsoft YaHei"/>
                <a:cs typeface="Microsoft YaHei"/>
              </a:defRPr>
            </a:lvl9pPr>
          </a:lstStyle>
          <a:p xmlns:a="http://schemas.openxmlformats.org/drawingml/2006/main">
            <a:pPr algn="l">
              <a:buNone/>
              <a:defRPr sz="4800" b="1">
                <a:solidFill>
                  <a:srgbClr val="25302B"/>
                </a:solidFill>
                <a:latin typeface="Microsoft YaHei"/>
                <a:ea typeface="Microsoft YaHei"/>
                <a:cs typeface="Microsoft YaHei"/>
              </a:defRPr>
            </a:pPr>
            <a:r>
              <a:rPr sz="4800" b="1">
                <a:solidFill>
                  <a:srgbClr val="25302B"/>
                </a:solidFill>
                <a:latin typeface="Microsoft YaHei"/>
                <a:ea typeface="Microsoft YaHei"/>
                <a:cs typeface="Microsoft YaHei"/>
              </a:rPr>
              <a:t>Word2Vec: learning</a:t>
            </a:r>
          </a:p>
          <a:p xmlns:a="http://schemas.openxmlformats.org/drawingml/2006/main">
            <a:pPr algn="l">
              <a:buNone/>
              <a:defRPr sz="4800" b="1">
                <a:solidFill>
                  <a:srgbClr val="25302B"/>
                </a:solidFill>
                <a:latin typeface="Microsoft YaHei"/>
                <a:ea typeface="Microsoft YaHei"/>
                <a:cs typeface="Microsoft YaHei"/>
              </a:defRPr>
            </a:pPr>
            <a:r>
              <a:rPr sz="4800" b="1">
                <a:solidFill>
                  <a:srgbClr val="25302B"/>
                </a:solidFill>
                <a:latin typeface="Microsoft YaHei"/>
                <a:ea typeface="Microsoft YaHei"/>
                <a:cs typeface="Microsoft YaHei"/>
              </a:rPr>
              <a:t>word vectors from context</a:t>
            </a:r>
          </a:p>
        </p:txBody>
      </p:sp>
      <p:sp>
        <p:nvSpPr>
          <p:cNvPr id="3" name="Skip-gram with full soft">
            <a:extLst xmlns:a="http://schemas.openxmlformats.org/drawingml/2006/main">
              <a:ext uri="{FF2B5EF4-FFF2-40B4-BE49-F238E27FC236}">
                <a16:creationId xmlns:a16="http://schemas.microsoft.com/office/drawing/2014/main" id="{498176E0-E5BF-4A17-8873-197027BA4B2E}"/>
              </a:ext>
            </a:extLst>
          </p:cNvPr>
          <p:cNvSpPr>
            <a:spLocks xmlns:a="http://schemas.openxmlformats.org/drawingml/2006/main" noGrp="1"/>
          </p:cNvSpPr>
          <p:nvPr/>
        </p:nvSpPr>
        <p:spPr>
          <a:xfrm xmlns:a="http://schemas.openxmlformats.org/drawingml/2006/main">
            <a:off x="781050" y="3752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0">
                <a:solidFill>
                  <a:srgbClr val="5751D3"/>
                </a:solidFill>
                <a:latin typeface="Microsoft YaHei"/>
                <a:ea typeface="Microsoft YaHei"/>
                <a:cs typeface="Microsoft YaHei"/>
              </a:defRPr>
            </a:defPPr>
            <a:lvl1pPr algn="l">
              <a:buNone/>
              <a:defRPr sz="2325" b="0">
                <a:solidFill>
                  <a:srgbClr val="5751D3"/>
                </a:solidFill>
                <a:latin typeface="Microsoft YaHei"/>
                <a:ea typeface="Microsoft YaHei"/>
                <a:cs typeface="Microsoft YaHei"/>
              </a:defRPr>
            </a:lvl1pPr>
            <a:lvl2pPr algn="l">
              <a:buNone/>
              <a:defRPr sz="2325" b="0">
                <a:solidFill>
                  <a:srgbClr val="5751D3"/>
                </a:solidFill>
                <a:latin typeface="Microsoft YaHei"/>
                <a:ea typeface="Microsoft YaHei"/>
                <a:cs typeface="Microsoft YaHei"/>
              </a:defRPr>
            </a:lvl2pPr>
            <a:lvl3pPr algn="l">
              <a:buNone/>
              <a:defRPr sz="2325" b="0">
                <a:solidFill>
                  <a:srgbClr val="5751D3"/>
                </a:solidFill>
                <a:latin typeface="Microsoft YaHei"/>
                <a:ea typeface="Microsoft YaHei"/>
                <a:cs typeface="Microsoft YaHei"/>
              </a:defRPr>
            </a:lvl3pPr>
            <a:lvl4pPr algn="l">
              <a:buNone/>
              <a:defRPr sz="2325" b="0">
                <a:solidFill>
                  <a:srgbClr val="5751D3"/>
                </a:solidFill>
                <a:latin typeface="Microsoft YaHei"/>
                <a:ea typeface="Microsoft YaHei"/>
                <a:cs typeface="Microsoft YaHei"/>
              </a:defRPr>
            </a:lvl4pPr>
            <a:lvl5pPr algn="l">
              <a:buNone/>
              <a:defRPr sz="2325" b="0">
                <a:solidFill>
                  <a:srgbClr val="5751D3"/>
                </a:solidFill>
                <a:latin typeface="Microsoft YaHei"/>
                <a:ea typeface="Microsoft YaHei"/>
                <a:cs typeface="Microsoft YaHei"/>
              </a:defRPr>
            </a:lvl5pPr>
            <a:lvl6pPr algn="l">
              <a:buNone/>
              <a:defRPr sz="2325" b="0">
                <a:solidFill>
                  <a:srgbClr val="5751D3"/>
                </a:solidFill>
                <a:latin typeface="Microsoft YaHei"/>
                <a:ea typeface="Microsoft YaHei"/>
                <a:cs typeface="Microsoft YaHei"/>
              </a:defRPr>
            </a:lvl6pPr>
            <a:lvl7pPr algn="l">
              <a:buNone/>
              <a:defRPr sz="2325" b="0">
                <a:solidFill>
                  <a:srgbClr val="5751D3"/>
                </a:solidFill>
                <a:latin typeface="Microsoft YaHei"/>
                <a:ea typeface="Microsoft YaHei"/>
                <a:cs typeface="Microsoft YaHei"/>
              </a:defRPr>
            </a:lvl7pPr>
            <a:lvl8pPr algn="l">
              <a:buNone/>
              <a:defRPr sz="2325" b="0">
                <a:solidFill>
                  <a:srgbClr val="5751D3"/>
                </a:solidFill>
                <a:latin typeface="Microsoft YaHei"/>
                <a:ea typeface="Microsoft YaHei"/>
                <a:cs typeface="Microsoft YaHei"/>
              </a:defRPr>
            </a:lvl8pPr>
            <a:lvl9pPr algn="l">
              <a:buNone/>
              <a:defRPr sz="2325" b="0">
                <a:solidFill>
                  <a:srgbClr val="5751D3"/>
                </a:solidFill>
                <a:latin typeface="Microsoft YaHei"/>
                <a:ea typeface="Microsoft YaHei"/>
                <a:cs typeface="Microsoft YaHei"/>
              </a:defRPr>
            </a:lvl9pPr>
          </a:lstStyle>
          <a:p xmlns:a="http://schemas.openxmlformats.org/drawingml/2006/main">
            <a:pPr algn="l">
              <a:buNone/>
              <a:defRPr sz="2325" b="0">
                <a:solidFill>
                  <a:srgbClr val="5751D3"/>
                </a:solidFill>
                <a:latin typeface="Microsoft YaHei"/>
                <a:ea typeface="Microsoft YaHei"/>
                <a:cs typeface="Microsoft YaHei"/>
              </a:defRPr>
            </a:pPr>
            <a:r>
              <a:rPr sz="2325" b="0">
                <a:solidFill>
                  <a:srgbClr val="5751D3"/>
                </a:solidFill>
                <a:latin typeface="Microsoft YaHei"/>
                <a:ea typeface="Microsoft YaHei"/>
                <a:cs typeface="Microsoft YaHei"/>
              </a:rPr>
              <a:t>Skip-gram with full softmax · from-scratch notebook</a:t>
            </a:r>
          </a:p>
        </p:txBody>
      </p:sp>
      <p:sp>
        <p:nvSpPr>
          <p:cNvPr id="4" name="Pairs   →   scores   →  ">
            <a:extLst xmlns:a="http://schemas.openxmlformats.org/drawingml/2006/main">
              <a:ext uri="{FF2B5EF4-FFF2-40B4-BE49-F238E27FC236}">
                <a16:creationId xmlns:a16="http://schemas.microsoft.com/office/drawing/2014/main" id="{2FCB28A1-FA4A-4CE6-B1E3-9E03AE70D039}"/>
              </a:ext>
            </a:extLst>
          </p:cNvPr>
          <p:cNvSpPr>
            <a:spLocks xmlns:a="http://schemas.openxmlformats.org/drawingml/2006/main" noGrp="1"/>
          </p:cNvSpPr>
          <p:nvPr/>
        </p:nvSpPr>
        <p:spPr>
          <a:xfrm xmlns:a="http://schemas.openxmlformats.org/drawingml/2006/main">
            <a:off x="781050" y="51054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718064"/>
                </a:solidFill>
                <a:latin typeface="Microsoft YaHei"/>
                <a:ea typeface="Microsoft YaHei"/>
                <a:cs typeface="Microsoft YaHei"/>
              </a:defRPr>
            </a:defPPr>
            <a:lvl1pPr algn="l">
              <a:buNone/>
              <a:defRPr sz="1950" b="0">
                <a:solidFill>
                  <a:srgbClr val="718064"/>
                </a:solidFill>
                <a:latin typeface="Microsoft YaHei"/>
                <a:ea typeface="Microsoft YaHei"/>
                <a:cs typeface="Microsoft YaHei"/>
              </a:defRPr>
            </a:lvl1pPr>
            <a:lvl2pPr algn="l">
              <a:buNone/>
              <a:defRPr sz="1950" b="0">
                <a:solidFill>
                  <a:srgbClr val="718064"/>
                </a:solidFill>
                <a:latin typeface="Microsoft YaHei"/>
                <a:ea typeface="Microsoft YaHei"/>
                <a:cs typeface="Microsoft YaHei"/>
              </a:defRPr>
            </a:lvl2pPr>
            <a:lvl3pPr algn="l">
              <a:buNone/>
              <a:defRPr sz="1950" b="0">
                <a:solidFill>
                  <a:srgbClr val="718064"/>
                </a:solidFill>
                <a:latin typeface="Microsoft YaHei"/>
                <a:ea typeface="Microsoft YaHei"/>
                <a:cs typeface="Microsoft YaHei"/>
              </a:defRPr>
            </a:lvl3pPr>
            <a:lvl4pPr algn="l">
              <a:buNone/>
              <a:defRPr sz="1950" b="0">
                <a:solidFill>
                  <a:srgbClr val="718064"/>
                </a:solidFill>
                <a:latin typeface="Microsoft YaHei"/>
                <a:ea typeface="Microsoft YaHei"/>
                <a:cs typeface="Microsoft YaHei"/>
              </a:defRPr>
            </a:lvl4pPr>
            <a:lvl5pPr algn="l">
              <a:buNone/>
              <a:defRPr sz="1950" b="0">
                <a:solidFill>
                  <a:srgbClr val="718064"/>
                </a:solidFill>
                <a:latin typeface="Microsoft YaHei"/>
                <a:ea typeface="Microsoft YaHei"/>
                <a:cs typeface="Microsoft YaHei"/>
              </a:defRPr>
            </a:lvl5pPr>
            <a:lvl6pPr algn="l">
              <a:buNone/>
              <a:defRPr sz="1950" b="0">
                <a:solidFill>
                  <a:srgbClr val="718064"/>
                </a:solidFill>
                <a:latin typeface="Microsoft YaHei"/>
                <a:ea typeface="Microsoft YaHei"/>
                <a:cs typeface="Microsoft YaHei"/>
              </a:defRPr>
            </a:lvl6pPr>
            <a:lvl7pPr algn="l">
              <a:buNone/>
              <a:defRPr sz="1950" b="0">
                <a:solidFill>
                  <a:srgbClr val="718064"/>
                </a:solidFill>
                <a:latin typeface="Microsoft YaHei"/>
                <a:ea typeface="Microsoft YaHei"/>
                <a:cs typeface="Microsoft YaHei"/>
              </a:defRPr>
            </a:lvl7pPr>
            <a:lvl8pPr algn="l">
              <a:buNone/>
              <a:defRPr sz="1950" b="0">
                <a:solidFill>
                  <a:srgbClr val="718064"/>
                </a:solidFill>
                <a:latin typeface="Microsoft YaHei"/>
                <a:ea typeface="Microsoft YaHei"/>
                <a:cs typeface="Microsoft YaHei"/>
              </a:defRPr>
            </a:lvl8pPr>
            <a:lvl9pPr algn="l">
              <a:buNone/>
              <a:defRPr sz="1950" b="0">
                <a:solidFill>
                  <a:srgbClr val="718064"/>
                </a:solidFill>
                <a:latin typeface="Microsoft YaHei"/>
                <a:ea typeface="Microsoft YaHei"/>
                <a:cs typeface="Microsoft YaHei"/>
              </a:defRPr>
            </a:lvl9pPr>
          </a:lstStyle>
          <a:p xmlns:a="http://schemas.openxmlformats.org/drawingml/2006/main">
            <a:pPr algn="l">
              <a:buNone/>
              <a:defRPr sz="1950" b="0">
                <a:solidFill>
                  <a:srgbClr val="718064"/>
                </a:solidFill>
                <a:latin typeface="Microsoft YaHei"/>
                <a:ea typeface="Microsoft YaHei"/>
                <a:cs typeface="Microsoft YaHei"/>
              </a:defRPr>
            </a:pPr>
            <a:r>
              <a:rPr sz="1950" b="0">
                <a:solidFill>
                  <a:srgbClr val="718064"/>
                </a:solidFill>
                <a:latin typeface="Microsoft YaHei"/>
                <a:ea typeface="Microsoft YaHei"/>
                <a:cs typeface="Microsoft YaHei"/>
              </a:rPr>
              <a:t>Pairs   →   scores   →   probabilities   →   gradients   →   embeddings</a:t>
            </a:r>
          </a:p>
        </p:txBody>
      </p:sp>
    </p:spTree>
    <p:extLst>
      <p:ext uri="{BB962C8B-B14F-4D97-AF65-F5344CB8AC3E}">
        <p14:creationId xmlns:p14="http://schemas.microsoft.com/office/powerpoint/2010/main" val="30507463"/>
      </p:ext>
    </p:extLst>
  </p:cSld>
</p:sld>
</file>

<file path=ppt/slides/slide2.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8" name="PROBLEM · TRAINING EXAMP">
            <a:extLst xmlns:a="http://schemas.openxmlformats.org/drawingml/2006/main">
              <a:ext uri="{FF2B5EF4-FFF2-40B4-BE49-F238E27FC236}">
                <a16:creationId xmlns:a16="http://schemas.microsoft.com/office/drawing/2014/main" id="{3ACE0587-EB15-4567-A2F0-6F3197B259C7}"/>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PROBLEM · TRAINING EXAMPLES</a:t>
            </a:r>
          </a:p>
        </p:txBody>
      </p:sp>
      <p:sp>
        <p:nvSpPr>
          <p:cNvPr id="2" name="Predict a nearby word">
            <a:extLst xmlns:a="http://schemas.openxmlformats.org/drawingml/2006/main">
              <a:ext uri="{FF2B5EF4-FFF2-40B4-BE49-F238E27FC236}">
                <a16:creationId xmlns:a16="http://schemas.microsoft.com/office/drawing/2014/main" id="{803B4386-9FB7-4C68-A14E-38B2096817B5}"/>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Predict a nearby word</a:t>
            </a:r>
          </a:p>
        </p:txBody>
      </p:sp>
      <p:sp>
        <p:nvSpPr>
          <p:cNvPr id="3" name="02 / 10">
            <a:extLst xmlns:a="http://schemas.openxmlformats.org/drawingml/2006/main">
              <a:ext uri="{FF2B5EF4-FFF2-40B4-BE49-F238E27FC236}">
                <a16:creationId xmlns:a16="http://schemas.microsoft.com/office/drawing/2014/main" id="{7C9D915E-775C-41EB-B1C3-46CD67E220A2}"/>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02 / 10</a:t>
            </a:r>
          </a:p>
        </p:txBody>
      </p:sp>
      <p:sp>
        <p:nvSpPr>
          <p:cNvPr id="4" name="cat    likes    milk">
            <a:extLst xmlns:a="http://schemas.openxmlformats.org/drawingml/2006/main">
              <a:ext uri="{FF2B5EF4-FFF2-40B4-BE49-F238E27FC236}">
                <a16:creationId xmlns:a16="http://schemas.microsoft.com/office/drawing/2014/main" id="{E53EB264-A455-40D7-8ED7-63914CCA0A62}"/>
              </a:ext>
            </a:extLst>
          </p:cNvPr>
          <p:cNvSpPr>
            <a:spLocks xmlns:a="http://schemas.openxmlformats.org/drawingml/2006/main" noGrp="1"/>
          </p:cNvSpPr>
          <p:nvPr/>
        </p:nvSpPr>
        <p:spPr>
          <a:xfrm xmlns:a="http://schemas.openxmlformats.org/drawingml/2006/main">
            <a:off x="685800" y="1647825"/>
            <a:ext cx="1038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600" b="1">
                <a:solidFill>
                  <a:srgbClr val="5751D3"/>
                </a:solidFill>
                <a:latin typeface="Consolas"/>
                <a:ea typeface="Consolas"/>
                <a:cs typeface="Consolas"/>
              </a:defRPr>
            </a:defPPr>
            <a:lvl1pPr algn="l">
              <a:buNone/>
              <a:defRPr sz="3600" b="1">
                <a:solidFill>
                  <a:srgbClr val="5751D3"/>
                </a:solidFill>
                <a:latin typeface="Consolas"/>
                <a:ea typeface="Consolas"/>
                <a:cs typeface="Consolas"/>
              </a:defRPr>
            </a:lvl1pPr>
            <a:lvl2pPr algn="l">
              <a:buNone/>
              <a:defRPr sz="3600" b="1">
                <a:solidFill>
                  <a:srgbClr val="5751D3"/>
                </a:solidFill>
                <a:latin typeface="Consolas"/>
                <a:ea typeface="Consolas"/>
                <a:cs typeface="Consolas"/>
              </a:defRPr>
            </a:lvl2pPr>
            <a:lvl3pPr algn="l">
              <a:buNone/>
              <a:defRPr sz="3600" b="1">
                <a:solidFill>
                  <a:srgbClr val="5751D3"/>
                </a:solidFill>
                <a:latin typeface="Consolas"/>
                <a:ea typeface="Consolas"/>
                <a:cs typeface="Consolas"/>
              </a:defRPr>
            </a:lvl3pPr>
            <a:lvl4pPr algn="l">
              <a:buNone/>
              <a:defRPr sz="3600" b="1">
                <a:solidFill>
                  <a:srgbClr val="5751D3"/>
                </a:solidFill>
                <a:latin typeface="Consolas"/>
                <a:ea typeface="Consolas"/>
                <a:cs typeface="Consolas"/>
              </a:defRPr>
            </a:lvl4pPr>
            <a:lvl5pPr algn="l">
              <a:buNone/>
              <a:defRPr sz="3600" b="1">
                <a:solidFill>
                  <a:srgbClr val="5751D3"/>
                </a:solidFill>
                <a:latin typeface="Consolas"/>
                <a:ea typeface="Consolas"/>
                <a:cs typeface="Consolas"/>
              </a:defRPr>
            </a:lvl5pPr>
            <a:lvl6pPr algn="l">
              <a:buNone/>
              <a:defRPr sz="3600" b="1">
                <a:solidFill>
                  <a:srgbClr val="5751D3"/>
                </a:solidFill>
                <a:latin typeface="Consolas"/>
                <a:ea typeface="Consolas"/>
                <a:cs typeface="Consolas"/>
              </a:defRPr>
            </a:lvl6pPr>
            <a:lvl7pPr algn="l">
              <a:buNone/>
              <a:defRPr sz="3600" b="1">
                <a:solidFill>
                  <a:srgbClr val="5751D3"/>
                </a:solidFill>
                <a:latin typeface="Consolas"/>
                <a:ea typeface="Consolas"/>
                <a:cs typeface="Consolas"/>
              </a:defRPr>
            </a:lvl7pPr>
            <a:lvl8pPr algn="l">
              <a:buNone/>
              <a:defRPr sz="3600" b="1">
                <a:solidFill>
                  <a:srgbClr val="5751D3"/>
                </a:solidFill>
                <a:latin typeface="Consolas"/>
                <a:ea typeface="Consolas"/>
                <a:cs typeface="Consolas"/>
              </a:defRPr>
            </a:lvl8pPr>
            <a:lvl9pPr algn="l">
              <a:buNone/>
              <a:defRPr sz="3600" b="1">
                <a:solidFill>
                  <a:srgbClr val="5751D3"/>
                </a:solidFill>
                <a:latin typeface="Consolas"/>
                <a:ea typeface="Consolas"/>
                <a:cs typeface="Consolas"/>
              </a:defRPr>
            </a:lvl9pPr>
          </a:lstStyle>
          <a:p xmlns:a="http://schemas.openxmlformats.org/drawingml/2006/main">
            <a:pPr algn="l">
              <a:buNone/>
              <a:defRPr sz="3600" b="1">
                <a:solidFill>
                  <a:srgbClr val="5751D3"/>
                </a:solidFill>
                <a:latin typeface="Consolas"/>
                <a:ea typeface="Consolas"/>
                <a:cs typeface="Consolas"/>
              </a:defRPr>
            </a:pPr>
            <a:r>
              <a:rPr sz="3600" b="1">
                <a:solidFill>
                  <a:srgbClr val="5751D3"/>
                </a:solidFill>
                <a:latin typeface="Consolas"/>
                <a:ea typeface="Consolas"/>
                <a:cs typeface="Consolas"/>
              </a:rPr>
              <a:t>cat    likes    milk</a:t>
            </a:r>
          </a:p>
        </p:txBody>
      </p:sp>
      <p:sp>
        <p:nvSpPr>
          <p:cNvPr id="5" name="Center word: likes">
            <a:extLst xmlns:a="http://schemas.openxmlformats.org/drawingml/2006/main">
              <a:ext uri="{FF2B5EF4-FFF2-40B4-BE49-F238E27FC236}">
                <a16:creationId xmlns:a16="http://schemas.microsoft.com/office/drawing/2014/main" id="{EDDC14A1-5E6C-475F-A0CF-EBB682001C27}"/>
              </a:ext>
            </a:extLst>
          </p:cNvPr>
          <p:cNvSpPr>
            <a:spLocks xmlns:a="http://schemas.openxmlformats.org/drawingml/2006/main" noGrp="1"/>
          </p:cNvSpPr>
          <p:nvPr/>
        </p:nvSpPr>
        <p:spPr>
          <a:xfrm xmlns:a="http://schemas.openxmlformats.org/drawingml/2006/main">
            <a:off x="685800" y="294322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25302B"/>
                </a:solidFill>
                <a:latin typeface="Microsoft YaHei"/>
                <a:ea typeface="Microsoft YaHei"/>
                <a:cs typeface="Microsoft YaHei"/>
              </a:defRPr>
            </a:defPPr>
            <a:lvl1pPr algn="l">
              <a:buNone/>
              <a:defRPr sz="2250" b="1">
                <a:solidFill>
                  <a:srgbClr val="25302B"/>
                </a:solidFill>
                <a:latin typeface="Microsoft YaHei"/>
                <a:ea typeface="Microsoft YaHei"/>
                <a:cs typeface="Microsoft YaHei"/>
              </a:defRPr>
            </a:lvl1pPr>
            <a:lvl2pPr algn="l">
              <a:buNone/>
              <a:defRPr sz="2250" b="1">
                <a:solidFill>
                  <a:srgbClr val="25302B"/>
                </a:solidFill>
                <a:latin typeface="Microsoft YaHei"/>
                <a:ea typeface="Microsoft YaHei"/>
                <a:cs typeface="Microsoft YaHei"/>
              </a:defRPr>
            </a:lvl2pPr>
            <a:lvl3pPr algn="l">
              <a:buNone/>
              <a:defRPr sz="2250" b="1">
                <a:solidFill>
                  <a:srgbClr val="25302B"/>
                </a:solidFill>
                <a:latin typeface="Microsoft YaHei"/>
                <a:ea typeface="Microsoft YaHei"/>
                <a:cs typeface="Microsoft YaHei"/>
              </a:defRPr>
            </a:lvl3pPr>
            <a:lvl4pPr algn="l">
              <a:buNone/>
              <a:defRPr sz="2250" b="1">
                <a:solidFill>
                  <a:srgbClr val="25302B"/>
                </a:solidFill>
                <a:latin typeface="Microsoft YaHei"/>
                <a:ea typeface="Microsoft YaHei"/>
                <a:cs typeface="Microsoft YaHei"/>
              </a:defRPr>
            </a:lvl4pPr>
            <a:lvl5pPr algn="l">
              <a:buNone/>
              <a:defRPr sz="2250" b="1">
                <a:solidFill>
                  <a:srgbClr val="25302B"/>
                </a:solidFill>
                <a:latin typeface="Microsoft YaHei"/>
                <a:ea typeface="Microsoft YaHei"/>
                <a:cs typeface="Microsoft YaHei"/>
              </a:defRPr>
            </a:lvl5pPr>
            <a:lvl6pPr algn="l">
              <a:buNone/>
              <a:defRPr sz="2250" b="1">
                <a:solidFill>
                  <a:srgbClr val="25302B"/>
                </a:solidFill>
                <a:latin typeface="Microsoft YaHei"/>
                <a:ea typeface="Microsoft YaHei"/>
                <a:cs typeface="Microsoft YaHei"/>
              </a:defRPr>
            </a:lvl6pPr>
            <a:lvl7pPr algn="l">
              <a:buNone/>
              <a:defRPr sz="2250" b="1">
                <a:solidFill>
                  <a:srgbClr val="25302B"/>
                </a:solidFill>
                <a:latin typeface="Microsoft YaHei"/>
                <a:ea typeface="Microsoft YaHei"/>
                <a:cs typeface="Microsoft YaHei"/>
              </a:defRPr>
            </a:lvl7pPr>
            <a:lvl8pPr algn="l">
              <a:buNone/>
              <a:defRPr sz="2250" b="1">
                <a:solidFill>
                  <a:srgbClr val="25302B"/>
                </a:solidFill>
                <a:latin typeface="Microsoft YaHei"/>
                <a:ea typeface="Microsoft YaHei"/>
                <a:cs typeface="Microsoft YaHei"/>
              </a:defRPr>
            </a:lvl8pPr>
            <a:lvl9pPr algn="l">
              <a:buNone/>
              <a:defRPr sz="2250" b="1">
                <a:solidFill>
                  <a:srgbClr val="25302B"/>
                </a:solidFill>
                <a:latin typeface="Microsoft YaHei"/>
                <a:ea typeface="Microsoft YaHei"/>
                <a:cs typeface="Microsoft YaHei"/>
              </a:defRPr>
            </a:lvl9pPr>
          </a:lstStyle>
          <a:p xmlns:a="http://schemas.openxmlformats.org/drawingml/2006/main">
            <a:pPr algn="l">
              <a:buNone/>
              <a:defRPr sz="2250" b="1">
                <a:solidFill>
                  <a:srgbClr val="25302B"/>
                </a:solidFill>
                <a:latin typeface="Microsoft YaHei"/>
                <a:ea typeface="Microsoft YaHei"/>
                <a:cs typeface="Microsoft YaHei"/>
              </a:defRPr>
            </a:pPr>
            <a:r>
              <a:rPr sz="2250" b="1">
                <a:solidFill>
                  <a:srgbClr val="25302B"/>
                </a:solidFill>
                <a:latin typeface="Microsoft YaHei"/>
                <a:ea typeface="Microsoft YaHei"/>
                <a:cs typeface="Microsoft YaHei"/>
              </a:rPr>
              <a:t>Center word: likes</a:t>
            </a:r>
          </a:p>
        </p:txBody>
      </p:sp>
      <p:sp>
        <p:nvSpPr>
          <p:cNvPr id="6" name="Observed neighbors: cat,">
            <a:extLst xmlns:a="http://schemas.openxmlformats.org/drawingml/2006/main">
              <a:ext uri="{FF2B5EF4-FFF2-40B4-BE49-F238E27FC236}">
                <a16:creationId xmlns:a16="http://schemas.microsoft.com/office/drawing/2014/main" id="{9E06AD81-6306-46D2-8F97-C81527E2A9F3}"/>
              </a:ext>
            </a:extLst>
          </p:cNvPr>
          <p:cNvSpPr>
            <a:spLocks xmlns:a="http://schemas.openxmlformats.org/drawingml/2006/main" noGrp="1"/>
          </p:cNvSpPr>
          <p:nvPr/>
        </p:nvSpPr>
        <p:spPr>
          <a:xfrm xmlns:a="http://schemas.openxmlformats.org/drawingml/2006/main">
            <a:off x="685800" y="3619500"/>
            <a:ext cx="947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0">
                <a:solidFill>
                  <a:srgbClr val="25302B"/>
                </a:solidFill>
                <a:latin typeface="Microsoft YaHei"/>
                <a:ea typeface="Microsoft YaHei"/>
                <a:cs typeface="Microsoft YaHei"/>
              </a:defRPr>
            </a:defPPr>
            <a:lvl1pPr algn="l">
              <a:buNone/>
              <a:defRPr sz="2250" b="0">
                <a:solidFill>
                  <a:srgbClr val="25302B"/>
                </a:solidFill>
                <a:latin typeface="Microsoft YaHei"/>
                <a:ea typeface="Microsoft YaHei"/>
                <a:cs typeface="Microsoft YaHei"/>
              </a:defRPr>
            </a:lvl1pPr>
            <a:lvl2pPr algn="l">
              <a:buNone/>
              <a:defRPr sz="2250" b="0">
                <a:solidFill>
                  <a:srgbClr val="25302B"/>
                </a:solidFill>
                <a:latin typeface="Microsoft YaHei"/>
                <a:ea typeface="Microsoft YaHei"/>
                <a:cs typeface="Microsoft YaHei"/>
              </a:defRPr>
            </a:lvl2pPr>
            <a:lvl3pPr algn="l">
              <a:buNone/>
              <a:defRPr sz="2250" b="0">
                <a:solidFill>
                  <a:srgbClr val="25302B"/>
                </a:solidFill>
                <a:latin typeface="Microsoft YaHei"/>
                <a:ea typeface="Microsoft YaHei"/>
                <a:cs typeface="Microsoft YaHei"/>
              </a:defRPr>
            </a:lvl3pPr>
            <a:lvl4pPr algn="l">
              <a:buNone/>
              <a:defRPr sz="2250" b="0">
                <a:solidFill>
                  <a:srgbClr val="25302B"/>
                </a:solidFill>
                <a:latin typeface="Microsoft YaHei"/>
                <a:ea typeface="Microsoft YaHei"/>
                <a:cs typeface="Microsoft YaHei"/>
              </a:defRPr>
            </a:lvl4pPr>
            <a:lvl5pPr algn="l">
              <a:buNone/>
              <a:defRPr sz="2250" b="0">
                <a:solidFill>
                  <a:srgbClr val="25302B"/>
                </a:solidFill>
                <a:latin typeface="Microsoft YaHei"/>
                <a:ea typeface="Microsoft YaHei"/>
                <a:cs typeface="Microsoft YaHei"/>
              </a:defRPr>
            </a:lvl5pPr>
            <a:lvl6pPr algn="l">
              <a:buNone/>
              <a:defRPr sz="2250" b="0">
                <a:solidFill>
                  <a:srgbClr val="25302B"/>
                </a:solidFill>
                <a:latin typeface="Microsoft YaHei"/>
                <a:ea typeface="Microsoft YaHei"/>
                <a:cs typeface="Microsoft YaHei"/>
              </a:defRPr>
            </a:lvl6pPr>
            <a:lvl7pPr algn="l">
              <a:buNone/>
              <a:defRPr sz="2250" b="0">
                <a:solidFill>
                  <a:srgbClr val="25302B"/>
                </a:solidFill>
                <a:latin typeface="Microsoft YaHei"/>
                <a:ea typeface="Microsoft YaHei"/>
                <a:cs typeface="Microsoft YaHei"/>
              </a:defRPr>
            </a:lvl7pPr>
            <a:lvl8pPr algn="l">
              <a:buNone/>
              <a:defRPr sz="2250" b="0">
                <a:solidFill>
                  <a:srgbClr val="25302B"/>
                </a:solidFill>
                <a:latin typeface="Microsoft YaHei"/>
                <a:ea typeface="Microsoft YaHei"/>
                <a:cs typeface="Microsoft YaHei"/>
              </a:defRPr>
            </a:lvl8pPr>
            <a:lvl9pPr algn="l">
              <a:buNone/>
              <a:defRPr sz="2250" b="0">
                <a:solidFill>
                  <a:srgbClr val="25302B"/>
                </a:solidFill>
                <a:latin typeface="Microsoft YaHei"/>
                <a:ea typeface="Microsoft YaHei"/>
                <a:cs typeface="Microsoft YaHei"/>
              </a:defRPr>
            </a:lvl9pPr>
          </a:lstStyle>
          <a:p xmlns:a="http://schemas.openxmlformats.org/drawingml/2006/main">
            <a:pPr algn="l">
              <a:buNone/>
              <a:defRPr sz="2250" b="0">
                <a:solidFill>
                  <a:srgbClr val="25302B"/>
                </a:solidFill>
                <a:latin typeface="Microsoft YaHei"/>
                <a:ea typeface="Microsoft YaHei"/>
                <a:cs typeface="Microsoft YaHei"/>
              </a:defRPr>
            </a:pPr>
            <a:r>
              <a:rPr sz="2250" b="0">
                <a:solidFill>
                  <a:srgbClr val="25302B"/>
                </a:solidFill>
                <a:latin typeface="Microsoft YaHei"/>
                <a:ea typeface="Microsoft YaHei"/>
                <a:cs typeface="Microsoft YaHei"/>
              </a:rPr>
              <a:t>Observed neighbors: cat, milk</a:t>
            </a:r>
          </a:p>
        </p:txBody>
      </p:sp>
      <p:sp>
        <p:nvSpPr>
          <p:cNvPr id="7" name="Window radius 1 creates ">
            <a:extLst xmlns:a="http://schemas.openxmlformats.org/drawingml/2006/main">
              <a:ext uri="{FF2B5EF4-FFF2-40B4-BE49-F238E27FC236}">
                <a16:creationId xmlns:a16="http://schemas.microsoft.com/office/drawing/2014/main" id="{56181C5E-A736-40C2-8BCF-72C3F6A982E5}"/>
              </a:ext>
            </a:extLst>
          </p:cNvPr>
          <p:cNvSpPr>
            <a:spLocks xmlns:a="http://schemas.openxmlformats.org/drawingml/2006/main" noGrp="1"/>
          </p:cNvSpPr>
          <p:nvPr/>
        </p:nvSpPr>
        <p:spPr>
          <a:xfrm xmlns:a="http://schemas.openxmlformats.org/drawingml/2006/main">
            <a:off x="685800" y="4781550"/>
            <a:ext cx="10763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718064"/>
                </a:solidFill>
                <a:latin typeface="Microsoft YaHei"/>
                <a:ea typeface="Microsoft YaHei"/>
                <a:cs typeface="Microsoft YaHei"/>
              </a:defRPr>
            </a:defPPr>
            <a:lvl1pPr algn="l">
              <a:buNone/>
              <a:defRPr sz="1950" b="0">
                <a:solidFill>
                  <a:srgbClr val="718064"/>
                </a:solidFill>
                <a:latin typeface="Microsoft YaHei"/>
                <a:ea typeface="Microsoft YaHei"/>
                <a:cs typeface="Microsoft YaHei"/>
              </a:defRPr>
            </a:lvl1pPr>
            <a:lvl2pPr algn="l">
              <a:buNone/>
              <a:defRPr sz="1950" b="0">
                <a:solidFill>
                  <a:srgbClr val="718064"/>
                </a:solidFill>
                <a:latin typeface="Microsoft YaHei"/>
                <a:ea typeface="Microsoft YaHei"/>
                <a:cs typeface="Microsoft YaHei"/>
              </a:defRPr>
            </a:lvl2pPr>
            <a:lvl3pPr algn="l">
              <a:buNone/>
              <a:defRPr sz="1950" b="0">
                <a:solidFill>
                  <a:srgbClr val="718064"/>
                </a:solidFill>
                <a:latin typeface="Microsoft YaHei"/>
                <a:ea typeface="Microsoft YaHei"/>
                <a:cs typeface="Microsoft YaHei"/>
              </a:defRPr>
            </a:lvl3pPr>
            <a:lvl4pPr algn="l">
              <a:buNone/>
              <a:defRPr sz="1950" b="0">
                <a:solidFill>
                  <a:srgbClr val="718064"/>
                </a:solidFill>
                <a:latin typeface="Microsoft YaHei"/>
                <a:ea typeface="Microsoft YaHei"/>
                <a:cs typeface="Microsoft YaHei"/>
              </a:defRPr>
            </a:lvl4pPr>
            <a:lvl5pPr algn="l">
              <a:buNone/>
              <a:defRPr sz="1950" b="0">
                <a:solidFill>
                  <a:srgbClr val="718064"/>
                </a:solidFill>
                <a:latin typeface="Microsoft YaHei"/>
                <a:ea typeface="Microsoft YaHei"/>
                <a:cs typeface="Microsoft YaHei"/>
              </a:defRPr>
            </a:lvl5pPr>
            <a:lvl6pPr algn="l">
              <a:buNone/>
              <a:defRPr sz="1950" b="0">
                <a:solidFill>
                  <a:srgbClr val="718064"/>
                </a:solidFill>
                <a:latin typeface="Microsoft YaHei"/>
                <a:ea typeface="Microsoft YaHei"/>
                <a:cs typeface="Microsoft YaHei"/>
              </a:defRPr>
            </a:lvl6pPr>
            <a:lvl7pPr algn="l">
              <a:buNone/>
              <a:defRPr sz="1950" b="0">
                <a:solidFill>
                  <a:srgbClr val="718064"/>
                </a:solidFill>
                <a:latin typeface="Microsoft YaHei"/>
                <a:ea typeface="Microsoft YaHei"/>
                <a:cs typeface="Microsoft YaHei"/>
              </a:defRPr>
            </a:lvl7pPr>
            <a:lvl8pPr algn="l">
              <a:buNone/>
              <a:defRPr sz="1950" b="0">
                <a:solidFill>
                  <a:srgbClr val="718064"/>
                </a:solidFill>
                <a:latin typeface="Microsoft YaHei"/>
                <a:ea typeface="Microsoft YaHei"/>
                <a:cs typeface="Microsoft YaHei"/>
              </a:defRPr>
            </a:lvl8pPr>
            <a:lvl9pPr algn="l">
              <a:buNone/>
              <a:defRPr sz="1950" b="0">
                <a:solidFill>
                  <a:srgbClr val="718064"/>
                </a:solidFill>
                <a:latin typeface="Microsoft YaHei"/>
                <a:ea typeface="Microsoft YaHei"/>
                <a:cs typeface="Microsoft YaHei"/>
              </a:defRPr>
            </a:lvl9pPr>
          </a:lstStyle>
          <a:p xmlns:a="http://schemas.openxmlformats.org/drawingml/2006/main">
            <a:pPr algn="l">
              <a:buNone/>
              <a:defRPr sz="1950" b="0">
                <a:solidFill>
                  <a:srgbClr val="718064"/>
                </a:solidFill>
                <a:latin typeface="Microsoft YaHei"/>
                <a:ea typeface="Microsoft YaHei"/>
                <a:cs typeface="Microsoft YaHei"/>
              </a:defRPr>
            </a:pPr>
            <a:r>
              <a:rPr sz="1950" b="0">
                <a:solidFill>
                  <a:srgbClr val="718064"/>
                </a:solidFill>
                <a:latin typeface="Microsoft YaHei"/>
                <a:ea typeface="Microsoft YaHei"/>
                <a:cs typeface="Microsoft YaHei"/>
              </a:rPr>
              <a:t>Window radius 1 creates (likes, cat) and (likes, milk).</a:t>
            </a:r>
          </a:p>
        </p:txBody>
      </p:sp>
    </p:spTree>
    <p:extLst>
      <p:ext uri="{BB962C8B-B14F-4D97-AF65-F5344CB8AC3E}">
        <p14:creationId xmlns:p14="http://schemas.microsoft.com/office/powerpoint/2010/main" val="785846946"/>
      </p:ext>
    </p:extLst>
  </p:cSld>
</p:sld>
</file>

<file path=ppt/slides/slide3.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9" name="MATH · INPUT MATRIX">
            <a:extLst xmlns:a="http://schemas.openxmlformats.org/drawingml/2006/main">
              <a:ext uri="{FF2B5EF4-FFF2-40B4-BE49-F238E27FC236}">
                <a16:creationId xmlns:a16="http://schemas.microsoft.com/office/drawing/2014/main" id="{B0B4D474-41A7-4F83-A788-80F4F37B381A}"/>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MATH · INPUT MATRIX</a:t>
            </a:r>
          </a:p>
        </p:txBody>
      </p:sp>
      <p:sp>
        <p:nvSpPr>
          <p:cNvPr id="2" name="W_in stores center-word ">
            <a:extLst xmlns:a="http://schemas.openxmlformats.org/drawingml/2006/main">
              <a:ext uri="{FF2B5EF4-FFF2-40B4-BE49-F238E27FC236}">
                <a16:creationId xmlns:a16="http://schemas.microsoft.com/office/drawing/2014/main" id="{08469F0E-A24C-456B-BE02-D56EE308CCA1}"/>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W_in stores center-word vectors</a:t>
            </a:r>
          </a:p>
        </p:txBody>
      </p:sp>
      <p:sp>
        <p:nvSpPr>
          <p:cNvPr id="3" name="03 / 10">
            <a:extLst xmlns:a="http://schemas.openxmlformats.org/drawingml/2006/main">
              <a:ext uri="{FF2B5EF4-FFF2-40B4-BE49-F238E27FC236}">
                <a16:creationId xmlns:a16="http://schemas.microsoft.com/office/drawing/2014/main" id="{E2F8BE1C-CAFA-4991-8842-87EF9A584802}"/>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03 / 10</a:t>
            </a:r>
          </a:p>
        </p:txBody>
      </p:sp>
      <p:sp>
        <p:nvSpPr>
          <p:cNvPr id="4" name="W_in: 27 rows × 8 column">
            <a:extLst xmlns:a="http://schemas.openxmlformats.org/drawingml/2006/main">
              <a:ext uri="{FF2B5EF4-FFF2-40B4-BE49-F238E27FC236}">
                <a16:creationId xmlns:a16="http://schemas.microsoft.com/office/drawing/2014/main" id="{4C9DAB9E-AA7C-45B5-A800-84CAB9CED50D}"/>
              </a:ext>
            </a:extLst>
          </p:cNvPr>
          <p:cNvSpPr>
            <a:spLocks xmlns:a="http://schemas.openxmlformats.org/drawingml/2006/main" noGrp="1"/>
          </p:cNvSpPr>
          <p:nvPr/>
        </p:nvSpPr>
        <p:spPr>
          <a:xfrm xmlns:a="http://schemas.openxmlformats.org/drawingml/2006/main">
            <a:off x="685800" y="1552575"/>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1">
                <a:solidFill>
                  <a:srgbClr val="5751D3"/>
                </a:solidFill>
                <a:latin typeface="Microsoft YaHei"/>
                <a:ea typeface="Microsoft YaHei"/>
                <a:cs typeface="Microsoft YaHei"/>
              </a:defRPr>
            </a:defPPr>
            <a:lvl1pPr algn="l">
              <a:buNone/>
              <a:defRPr sz="2325" b="1">
                <a:solidFill>
                  <a:srgbClr val="5751D3"/>
                </a:solidFill>
                <a:latin typeface="Microsoft YaHei"/>
                <a:ea typeface="Microsoft YaHei"/>
                <a:cs typeface="Microsoft YaHei"/>
              </a:defRPr>
            </a:lvl1pPr>
            <a:lvl2pPr algn="l">
              <a:buNone/>
              <a:defRPr sz="2325" b="1">
                <a:solidFill>
                  <a:srgbClr val="5751D3"/>
                </a:solidFill>
                <a:latin typeface="Microsoft YaHei"/>
                <a:ea typeface="Microsoft YaHei"/>
                <a:cs typeface="Microsoft YaHei"/>
              </a:defRPr>
            </a:lvl2pPr>
            <a:lvl3pPr algn="l">
              <a:buNone/>
              <a:defRPr sz="2325" b="1">
                <a:solidFill>
                  <a:srgbClr val="5751D3"/>
                </a:solidFill>
                <a:latin typeface="Microsoft YaHei"/>
                <a:ea typeface="Microsoft YaHei"/>
                <a:cs typeface="Microsoft YaHei"/>
              </a:defRPr>
            </a:lvl3pPr>
            <a:lvl4pPr algn="l">
              <a:buNone/>
              <a:defRPr sz="2325" b="1">
                <a:solidFill>
                  <a:srgbClr val="5751D3"/>
                </a:solidFill>
                <a:latin typeface="Microsoft YaHei"/>
                <a:ea typeface="Microsoft YaHei"/>
                <a:cs typeface="Microsoft YaHei"/>
              </a:defRPr>
            </a:lvl4pPr>
            <a:lvl5pPr algn="l">
              <a:buNone/>
              <a:defRPr sz="2325" b="1">
                <a:solidFill>
                  <a:srgbClr val="5751D3"/>
                </a:solidFill>
                <a:latin typeface="Microsoft YaHei"/>
                <a:ea typeface="Microsoft YaHei"/>
                <a:cs typeface="Microsoft YaHei"/>
              </a:defRPr>
            </a:lvl5pPr>
            <a:lvl6pPr algn="l">
              <a:buNone/>
              <a:defRPr sz="2325" b="1">
                <a:solidFill>
                  <a:srgbClr val="5751D3"/>
                </a:solidFill>
                <a:latin typeface="Microsoft YaHei"/>
                <a:ea typeface="Microsoft YaHei"/>
                <a:cs typeface="Microsoft YaHei"/>
              </a:defRPr>
            </a:lvl6pPr>
            <a:lvl7pPr algn="l">
              <a:buNone/>
              <a:defRPr sz="2325" b="1">
                <a:solidFill>
                  <a:srgbClr val="5751D3"/>
                </a:solidFill>
                <a:latin typeface="Microsoft YaHei"/>
                <a:ea typeface="Microsoft YaHei"/>
                <a:cs typeface="Microsoft YaHei"/>
              </a:defRPr>
            </a:lvl7pPr>
            <a:lvl8pPr algn="l">
              <a:buNone/>
              <a:defRPr sz="2325" b="1">
                <a:solidFill>
                  <a:srgbClr val="5751D3"/>
                </a:solidFill>
                <a:latin typeface="Microsoft YaHei"/>
                <a:ea typeface="Microsoft YaHei"/>
                <a:cs typeface="Microsoft YaHei"/>
              </a:defRPr>
            </a:lvl8pPr>
            <a:lvl9pPr algn="l">
              <a:buNone/>
              <a:defRPr sz="2325" b="1">
                <a:solidFill>
                  <a:srgbClr val="5751D3"/>
                </a:solidFill>
                <a:latin typeface="Microsoft YaHei"/>
                <a:ea typeface="Microsoft YaHei"/>
                <a:cs typeface="Microsoft YaHei"/>
              </a:defRPr>
            </a:lvl9pPr>
          </a:lstStyle>
          <a:p xmlns:a="http://schemas.openxmlformats.org/drawingml/2006/main">
            <a:pPr algn="l">
              <a:buNone/>
              <a:defRPr sz="2325" b="1">
                <a:solidFill>
                  <a:srgbClr val="5751D3"/>
                </a:solidFill>
                <a:latin typeface="Microsoft YaHei"/>
                <a:ea typeface="Microsoft YaHei"/>
                <a:cs typeface="Microsoft YaHei"/>
              </a:defRPr>
            </a:pPr>
            <a:r>
              <a:rPr sz="2325" b="1">
                <a:solidFill>
                  <a:srgbClr val="5751D3"/>
                </a:solidFill>
                <a:latin typeface="Microsoft YaHei"/>
                <a:ea typeface="Microsoft YaHei"/>
                <a:cs typeface="Microsoft YaHei"/>
              </a:rPr>
              <a:t>W_in: 27 rows × 8 columns</a:t>
            </a:r>
          </a:p>
        </p:txBody>
      </p:sp>
      <p:graphicFrame>
        <p:nvGraphicFramePr>
          <p:cNvPr id="5" name="">
            <a:extLst xmlns:a="http://schemas.openxmlformats.org/drawingml/2006/main">
              <a:ext uri="{FF2B5EF4-FFF2-40B4-BE49-F238E27FC236}">
                <a16:creationId xmlns:a16="http://schemas.microsoft.com/office/drawing/2014/main" id="{D54AFCD5-6C1D-4C29-8635-0FD8C17BB309}"/>
              </a:ext>
            </a:extLst>
          </p:cNvPr>
          <p:cNvGraphicFramePr/>
          <p:nvPr/>
        </p:nvGraphicFramePr>
        <p:xfrm>
          <a:off xmlns:a="http://schemas.openxmlformats.org/drawingml/2006/main" x="685800" y="2314575"/>
          <a:ext xmlns:a="http://schemas.openxmlformats.org/drawingml/2006/main" cx="5524500" cy="2905125"/>
        </p:xfrm>
        <a:graphic xmlns:a="http://schemas.openxmlformats.org/drawingml/2006/main">
          <a:graphicData uri="http://schemas.openxmlformats.org/drawingml/2006/table">
            <a:tbl>
              <a:tblPr firstRow="1"/>
              <a:tblGrid>
                <a:gridCol w="1104900"/>
                <a:gridCol w="1104900"/>
                <a:gridCol w="1104900"/>
                <a:gridCol w="1104900"/>
                <a:gridCol w="1104900"/>
              </a:tblGrid>
              <a:tr h="581025">
                <a:tc>
                  <a:txBody>
                    <a:bodyPr/>
                    <a:lstStyle/>
                    <a:p>
                      <a:r>
                        <a:rPr sz="1650" b="1">
                          <a:solidFill>
                            <a:srgbClr val="FFFFFF"/>
                          </a:solidFill>
                          <a:latin typeface="Microsoft YaHei"/>
                          <a:ea typeface="Microsoft YaHei"/>
                          <a:cs typeface="Microsoft YaHei"/>
                        </a:rPr>
                        <a:t>Word</a:t>
                      </a:r>
                    </a:p>
                  </a:txBody>
                  <a:tcPr marL="91440" marR="91440" marT="45720" marB="45720">
                    <a:lnL w="9525">
                      <a:solidFill>
                        <a:srgbClr val="DCE1D3"/>
                      </a:solidFill>
                      <a:prstDash val="solid"/>
                    </a:lnL>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1</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2</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8</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r>
              <a:tr h="581025">
                <a:tc>
                  <a:txBody>
                    <a:bodyPr/>
                    <a:lstStyle/>
                    <a:p>
                      <a:r>
                        <a:rPr sz="1650" b="0">
                          <a:solidFill>
                            <a:srgbClr val="25302B"/>
                          </a:solidFill>
                          <a:latin typeface="Microsoft YaHei"/>
                          <a:ea typeface="Microsoft YaHei"/>
                          <a:cs typeface="Microsoft YaHei"/>
                        </a:rPr>
                        <a:t>apple</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a₁</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a₂</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a₈</a:t>
                      </a:r>
                    </a:p>
                  </a:txBody>
                  <a:tcPr marL="91440" marR="91440" marT="45720" marB="45720">
                    <a:lnR w="9525">
                      <a:solidFill>
                        <a:srgbClr val="DCE1D3"/>
                      </a:solidFill>
                      <a:prstDash val="solid"/>
                    </a:lnR>
                    <a:lnB w="9525">
                      <a:solidFill>
                        <a:srgbClr val="DCE1D3"/>
                      </a:solidFill>
                      <a:prstDash val="solid"/>
                    </a:lnB>
                    <a:solidFill>
                      <a:srgbClr val="F6F6EF"/>
                    </a:solidFill>
                  </a:tcPr>
                </a:tc>
              </a:tr>
              <a:tr h="581025">
                <a:tc>
                  <a:txBody>
                    <a:bodyPr/>
                    <a:lstStyle/>
                    <a:p>
                      <a:r>
                        <a:rPr sz="1650" b="1">
                          <a:solidFill>
                            <a:srgbClr val="5751D3"/>
                          </a:solidFill>
                          <a:latin typeface="Microsoft YaHei"/>
                          <a:ea typeface="Microsoft YaHei"/>
                          <a:cs typeface="Microsoft YaHei"/>
                        </a:rPr>
                        <a:t>cat</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h₁</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h₂</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h₈</a:t>
                      </a:r>
                    </a:p>
                  </a:txBody>
                  <a:tcPr marL="91440" marR="91440" marT="45720" marB="45720">
                    <a:lnR w="9525">
                      <a:solidFill>
                        <a:srgbClr val="DCE1D3"/>
                      </a:solidFill>
                      <a:prstDash val="solid"/>
                    </a:lnR>
                    <a:lnB w="9525">
                      <a:solidFill>
                        <a:srgbClr val="DCE1D3"/>
                      </a:solidFill>
                      <a:prstDash val="solid"/>
                    </a:lnB>
                    <a:solidFill>
                      <a:srgbClr val="EDEFE7"/>
                    </a:solidFill>
                  </a:tcPr>
                </a:tc>
              </a:tr>
              <a:tr h="581025">
                <a:tc>
                  <a:txBody>
                    <a:bodyPr/>
                    <a:lstStyle/>
                    <a:p>
                      <a:r>
                        <a:rPr sz="1650" b="0">
                          <a:solidFill>
                            <a:srgbClr val="25302B"/>
                          </a:solidFill>
                          <a:latin typeface="Microsoft YaHei"/>
                          <a:ea typeface="Microsoft YaHei"/>
                          <a:cs typeface="Microsoft YaHei"/>
                        </a:rPr>
                        <a:t>dog</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d₁</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d₂</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d₈</a:t>
                      </a:r>
                    </a:p>
                  </a:txBody>
                  <a:tcPr marL="91440" marR="91440" marT="45720" marB="45720">
                    <a:lnR w="9525">
                      <a:solidFill>
                        <a:srgbClr val="DCE1D3"/>
                      </a:solidFill>
                      <a:prstDash val="solid"/>
                    </a:lnR>
                    <a:lnB w="9525">
                      <a:solidFill>
                        <a:srgbClr val="DCE1D3"/>
                      </a:solidFill>
                      <a:prstDash val="solid"/>
                    </a:lnB>
                    <a:solidFill>
                      <a:srgbClr val="F6F6EF"/>
                    </a:solidFill>
                  </a:tcPr>
                </a:tc>
              </a:tr>
              <a:tr h="581025">
                <a:tc>
                  <a:txBody>
                    <a:bodyPr/>
                    <a:lstStyle/>
                    <a:p>
                      <a:r>
                        <a:rPr sz="1650" b="0">
                          <a:solidFill>
                            <a:srgbClr val="25302B"/>
                          </a:solidFill>
                          <a:latin typeface="Microsoft YaHei"/>
                          <a:ea typeface="Microsoft YaHei"/>
                          <a:cs typeface="Microsoft YaHei"/>
                        </a:rPr>
                        <a:t>…</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r>
            </a:tbl>
          </a:graphicData>
        </a:graphic>
      </p:graphicFrame>
      <p:sp>
        <p:nvSpPr>
          <p:cNvPr id="6" name="Select the row for cente">
            <a:extLst xmlns:a="http://schemas.openxmlformats.org/drawingml/2006/main">
              <a:ext uri="{FF2B5EF4-FFF2-40B4-BE49-F238E27FC236}">
                <a16:creationId xmlns:a16="http://schemas.microsoft.com/office/drawing/2014/main" id="{C3E91E98-01A6-4C93-9923-863964F630F8}"/>
              </a:ext>
            </a:extLst>
          </p:cNvPr>
          <p:cNvSpPr>
            <a:spLocks xmlns:a="http://schemas.openxmlformats.org/drawingml/2006/main" noGrp="1"/>
          </p:cNvSpPr>
          <p:nvPr/>
        </p:nvSpPr>
        <p:spPr>
          <a:xfrm xmlns:a="http://schemas.openxmlformats.org/drawingml/2006/main">
            <a:off x="6981825" y="247650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25302B"/>
                </a:solidFill>
                <a:latin typeface="Microsoft YaHei"/>
                <a:ea typeface="Microsoft YaHei"/>
                <a:cs typeface="Microsoft YaHei"/>
              </a:defRPr>
            </a:defPPr>
            <a:lvl1pPr algn="l">
              <a:buNone/>
              <a:defRPr sz="2250" b="1">
                <a:solidFill>
                  <a:srgbClr val="25302B"/>
                </a:solidFill>
                <a:latin typeface="Microsoft YaHei"/>
                <a:ea typeface="Microsoft YaHei"/>
                <a:cs typeface="Microsoft YaHei"/>
              </a:defRPr>
            </a:lvl1pPr>
            <a:lvl2pPr algn="l">
              <a:buNone/>
              <a:defRPr sz="2250" b="1">
                <a:solidFill>
                  <a:srgbClr val="25302B"/>
                </a:solidFill>
                <a:latin typeface="Microsoft YaHei"/>
                <a:ea typeface="Microsoft YaHei"/>
                <a:cs typeface="Microsoft YaHei"/>
              </a:defRPr>
            </a:lvl2pPr>
            <a:lvl3pPr algn="l">
              <a:buNone/>
              <a:defRPr sz="2250" b="1">
                <a:solidFill>
                  <a:srgbClr val="25302B"/>
                </a:solidFill>
                <a:latin typeface="Microsoft YaHei"/>
                <a:ea typeface="Microsoft YaHei"/>
                <a:cs typeface="Microsoft YaHei"/>
              </a:defRPr>
            </a:lvl3pPr>
            <a:lvl4pPr algn="l">
              <a:buNone/>
              <a:defRPr sz="2250" b="1">
                <a:solidFill>
                  <a:srgbClr val="25302B"/>
                </a:solidFill>
                <a:latin typeface="Microsoft YaHei"/>
                <a:ea typeface="Microsoft YaHei"/>
                <a:cs typeface="Microsoft YaHei"/>
              </a:defRPr>
            </a:lvl4pPr>
            <a:lvl5pPr algn="l">
              <a:buNone/>
              <a:defRPr sz="2250" b="1">
                <a:solidFill>
                  <a:srgbClr val="25302B"/>
                </a:solidFill>
                <a:latin typeface="Microsoft YaHei"/>
                <a:ea typeface="Microsoft YaHei"/>
                <a:cs typeface="Microsoft YaHei"/>
              </a:defRPr>
            </a:lvl5pPr>
            <a:lvl6pPr algn="l">
              <a:buNone/>
              <a:defRPr sz="2250" b="1">
                <a:solidFill>
                  <a:srgbClr val="25302B"/>
                </a:solidFill>
                <a:latin typeface="Microsoft YaHei"/>
                <a:ea typeface="Microsoft YaHei"/>
                <a:cs typeface="Microsoft YaHei"/>
              </a:defRPr>
            </a:lvl6pPr>
            <a:lvl7pPr algn="l">
              <a:buNone/>
              <a:defRPr sz="2250" b="1">
                <a:solidFill>
                  <a:srgbClr val="25302B"/>
                </a:solidFill>
                <a:latin typeface="Microsoft YaHei"/>
                <a:ea typeface="Microsoft YaHei"/>
                <a:cs typeface="Microsoft YaHei"/>
              </a:defRPr>
            </a:lvl7pPr>
            <a:lvl8pPr algn="l">
              <a:buNone/>
              <a:defRPr sz="2250" b="1">
                <a:solidFill>
                  <a:srgbClr val="25302B"/>
                </a:solidFill>
                <a:latin typeface="Microsoft YaHei"/>
                <a:ea typeface="Microsoft YaHei"/>
                <a:cs typeface="Microsoft YaHei"/>
              </a:defRPr>
            </a:lvl8pPr>
            <a:lvl9pPr algn="l">
              <a:buNone/>
              <a:defRPr sz="2250" b="1">
                <a:solidFill>
                  <a:srgbClr val="25302B"/>
                </a:solidFill>
                <a:latin typeface="Microsoft YaHei"/>
                <a:ea typeface="Microsoft YaHei"/>
                <a:cs typeface="Microsoft YaHei"/>
              </a:defRPr>
            </a:lvl9pPr>
          </a:lstStyle>
          <a:p xmlns:a="http://schemas.openxmlformats.org/drawingml/2006/main">
            <a:pPr algn="l">
              <a:buNone/>
              <a:defRPr sz="2250" b="1">
                <a:solidFill>
                  <a:srgbClr val="25302B"/>
                </a:solidFill>
                <a:latin typeface="Microsoft YaHei"/>
                <a:ea typeface="Microsoft YaHei"/>
                <a:cs typeface="Microsoft YaHei"/>
              </a:defRPr>
            </a:pPr>
            <a:r>
              <a:rPr sz="2250" b="1">
                <a:solidFill>
                  <a:srgbClr val="25302B"/>
                </a:solidFill>
                <a:latin typeface="Microsoft YaHei"/>
                <a:ea typeface="Microsoft YaHei"/>
                <a:cs typeface="Microsoft YaHei"/>
              </a:rPr>
              <a:t>Select the row for center word “cat”</a:t>
            </a:r>
          </a:p>
        </p:txBody>
      </p:sp>
      <p:sp>
        <p:nvSpPr>
          <p:cNvPr id="7" name="h_cat = W_in[cat, :]">
            <a:extLst xmlns:a="http://schemas.openxmlformats.org/drawingml/2006/main">
              <a:ext uri="{FF2B5EF4-FFF2-40B4-BE49-F238E27FC236}">
                <a16:creationId xmlns:a16="http://schemas.microsoft.com/office/drawing/2014/main" id="{9A50B29E-A558-474B-9F13-DA3D9C998519}"/>
              </a:ext>
            </a:extLst>
          </p:cNvPr>
          <p:cNvSpPr>
            <a:spLocks xmlns:a="http://schemas.openxmlformats.org/drawingml/2006/main" noGrp="1"/>
          </p:cNvSpPr>
          <p:nvPr/>
        </p:nvSpPr>
        <p:spPr>
          <a:xfrm xmlns:a="http://schemas.openxmlformats.org/drawingml/2006/main">
            <a:off x="6981825" y="3638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1">
                <a:solidFill>
                  <a:srgbClr val="5751D3"/>
                </a:solidFill>
                <a:latin typeface="Consolas"/>
                <a:ea typeface="Consolas"/>
                <a:cs typeface="Consolas"/>
              </a:defRPr>
            </a:defPPr>
            <a:lvl1pPr algn="l">
              <a:buNone/>
              <a:defRPr sz="2325" b="1">
                <a:solidFill>
                  <a:srgbClr val="5751D3"/>
                </a:solidFill>
                <a:latin typeface="Consolas"/>
                <a:ea typeface="Consolas"/>
                <a:cs typeface="Consolas"/>
              </a:defRPr>
            </a:lvl1pPr>
            <a:lvl2pPr algn="l">
              <a:buNone/>
              <a:defRPr sz="2325" b="1">
                <a:solidFill>
                  <a:srgbClr val="5751D3"/>
                </a:solidFill>
                <a:latin typeface="Consolas"/>
                <a:ea typeface="Consolas"/>
                <a:cs typeface="Consolas"/>
              </a:defRPr>
            </a:lvl2pPr>
            <a:lvl3pPr algn="l">
              <a:buNone/>
              <a:defRPr sz="2325" b="1">
                <a:solidFill>
                  <a:srgbClr val="5751D3"/>
                </a:solidFill>
                <a:latin typeface="Consolas"/>
                <a:ea typeface="Consolas"/>
                <a:cs typeface="Consolas"/>
              </a:defRPr>
            </a:lvl3pPr>
            <a:lvl4pPr algn="l">
              <a:buNone/>
              <a:defRPr sz="2325" b="1">
                <a:solidFill>
                  <a:srgbClr val="5751D3"/>
                </a:solidFill>
                <a:latin typeface="Consolas"/>
                <a:ea typeface="Consolas"/>
                <a:cs typeface="Consolas"/>
              </a:defRPr>
            </a:lvl4pPr>
            <a:lvl5pPr algn="l">
              <a:buNone/>
              <a:defRPr sz="2325" b="1">
                <a:solidFill>
                  <a:srgbClr val="5751D3"/>
                </a:solidFill>
                <a:latin typeface="Consolas"/>
                <a:ea typeface="Consolas"/>
                <a:cs typeface="Consolas"/>
              </a:defRPr>
            </a:lvl5pPr>
            <a:lvl6pPr algn="l">
              <a:buNone/>
              <a:defRPr sz="2325" b="1">
                <a:solidFill>
                  <a:srgbClr val="5751D3"/>
                </a:solidFill>
                <a:latin typeface="Consolas"/>
                <a:ea typeface="Consolas"/>
                <a:cs typeface="Consolas"/>
              </a:defRPr>
            </a:lvl6pPr>
            <a:lvl7pPr algn="l">
              <a:buNone/>
              <a:defRPr sz="2325" b="1">
                <a:solidFill>
                  <a:srgbClr val="5751D3"/>
                </a:solidFill>
                <a:latin typeface="Consolas"/>
                <a:ea typeface="Consolas"/>
                <a:cs typeface="Consolas"/>
              </a:defRPr>
            </a:lvl7pPr>
            <a:lvl8pPr algn="l">
              <a:buNone/>
              <a:defRPr sz="2325" b="1">
                <a:solidFill>
                  <a:srgbClr val="5751D3"/>
                </a:solidFill>
                <a:latin typeface="Consolas"/>
                <a:ea typeface="Consolas"/>
                <a:cs typeface="Consolas"/>
              </a:defRPr>
            </a:lvl8pPr>
            <a:lvl9pPr algn="l">
              <a:buNone/>
              <a:defRPr sz="2325" b="1">
                <a:solidFill>
                  <a:srgbClr val="5751D3"/>
                </a:solidFill>
                <a:latin typeface="Consolas"/>
                <a:ea typeface="Consolas"/>
                <a:cs typeface="Consolas"/>
              </a:defRPr>
            </a:lvl9pPr>
          </a:lstStyle>
          <a:p xmlns:a="http://schemas.openxmlformats.org/drawingml/2006/main">
            <a:pPr algn="l">
              <a:buNone/>
              <a:defRPr sz="2325" b="1">
                <a:solidFill>
                  <a:srgbClr val="5751D3"/>
                </a:solidFill>
                <a:latin typeface="Consolas"/>
                <a:ea typeface="Consolas"/>
                <a:cs typeface="Consolas"/>
              </a:defRPr>
            </a:pPr>
            <a:r>
              <a:rPr sz="2325" b="1">
                <a:solidFill>
                  <a:srgbClr val="5751D3"/>
                </a:solidFill>
                <a:latin typeface="Consolas"/>
                <a:ea typeface="Consolas"/>
                <a:cs typeface="Consolas"/>
              </a:rPr>
              <a:t>h_cat = W_in[cat, :]</a:t>
            </a:r>
          </a:p>
        </p:txBody>
      </p:sp>
      <p:sp>
        <p:nvSpPr>
          <p:cNvPr id="8" name="h_cat has 8 coordinates">
            <a:extLst xmlns:a="http://schemas.openxmlformats.org/drawingml/2006/main">
              <a:ext uri="{FF2B5EF4-FFF2-40B4-BE49-F238E27FC236}">
                <a16:creationId xmlns:a16="http://schemas.microsoft.com/office/drawing/2014/main" id="{5C268247-6710-4065-9FF7-0F11618C82D3}"/>
              </a:ext>
            </a:extLst>
          </p:cNvPr>
          <p:cNvSpPr>
            <a:spLocks xmlns:a="http://schemas.openxmlformats.org/drawingml/2006/main" noGrp="1"/>
          </p:cNvSpPr>
          <p:nvPr/>
        </p:nvSpPr>
        <p:spPr>
          <a:xfrm xmlns:a="http://schemas.openxmlformats.org/drawingml/2006/main">
            <a:off x="6981825" y="443865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0">
                <a:solidFill>
                  <a:srgbClr val="718064"/>
                </a:solidFill>
                <a:latin typeface="Microsoft YaHei"/>
                <a:ea typeface="Microsoft YaHei"/>
                <a:cs typeface="Microsoft YaHei"/>
              </a:defRPr>
            </a:defPPr>
            <a:lvl1pPr algn="l">
              <a:buNone/>
              <a:defRPr sz="1875" b="0">
                <a:solidFill>
                  <a:srgbClr val="718064"/>
                </a:solidFill>
                <a:latin typeface="Microsoft YaHei"/>
                <a:ea typeface="Microsoft YaHei"/>
                <a:cs typeface="Microsoft YaHei"/>
              </a:defRPr>
            </a:lvl1pPr>
            <a:lvl2pPr algn="l">
              <a:buNone/>
              <a:defRPr sz="1875" b="0">
                <a:solidFill>
                  <a:srgbClr val="718064"/>
                </a:solidFill>
                <a:latin typeface="Microsoft YaHei"/>
                <a:ea typeface="Microsoft YaHei"/>
                <a:cs typeface="Microsoft YaHei"/>
              </a:defRPr>
            </a:lvl2pPr>
            <a:lvl3pPr algn="l">
              <a:buNone/>
              <a:defRPr sz="1875" b="0">
                <a:solidFill>
                  <a:srgbClr val="718064"/>
                </a:solidFill>
                <a:latin typeface="Microsoft YaHei"/>
                <a:ea typeface="Microsoft YaHei"/>
                <a:cs typeface="Microsoft YaHei"/>
              </a:defRPr>
            </a:lvl3pPr>
            <a:lvl4pPr algn="l">
              <a:buNone/>
              <a:defRPr sz="1875" b="0">
                <a:solidFill>
                  <a:srgbClr val="718064"/>
                </a:solidFill>
                <a:latin typeface="Microsoft YaHei"/>
                <a:ea typeface="Microsoft YaHei"/>
                <a:cs typeface="Microsoft YaHei"/>
              </a:defRPr>
            </a:lvl4pPr>
            <a:lvl5pPr algn="l">
              <a:buNone/>
              <a:defRPr sz="1875" b="0">
                <a:solidFill>
                  <a:srgbClr val="718064"/>
                </a:solidFill>
                <a:latin typeface="Microsoft YaHei"/>
                <a:ea typeface="Microsoft YaHei"/>
                <a:cs typeface="Microsoft YaHei"/>
              </a:defRPr>
            </a:lvl5pPr>
            <a:lvl6pPr algn="l">
              <a:buNone/>
              <a:defRPr sz="1875" b="0">
                <a:solidFill>
                  <a:srgbClr val="718064"/>
                </a:solidFill>
                <a:latin typeface="Microsoft YaHei"/>
                <a:ea typeface="Microsoft YaHei"/>
                <a:cs typeface="Microsoft YaHei"/>
              </a:defRPr>
            </a:lvl6pPr>
            <a:lvl7pPr algn="l">
              <a:buNone/>
              <a:defRPr sz="1875" b="0">
                <a:solidFill>
                  <a:srgbClr val="718064"/>
                </a:solidFill>
                <a:latin typeface="Microsoft YaHei"/>
                <a:ea typeface="Microsoft YaHei"/>
                <a:cs typeface="Microsoft YaHei"/>
              </a:defRPr>
            </a:lvl7pPr>
            <a:lvl8pPr algn="l">
              <a:buNone/>
              <a:defRPr sz="1875" b="0">
                <a:solidFill>
                  <a:srgbClr val="718064"/>
                </a:solidFill>
                <a:latin typeface="Microsoft YaHei"/>
                <a:ea typeface="Microsoft YaHei"/>
                <a:cs typeface="Microsoft YaHei"/>
              </a:defRPr>
            </a:lvl8pPr>
            <a:lvl9pPr algn="l">
              <a:buNone/>
              <a:defRPr sz="1875" b="0">
                <a:solidFill>
                  <a:srgbClr val="718064"/>
                </a:solidFill>
                <a:latin typeface="Microsoft YaHei"/>
                <a:ea typeface="Microsoft YaHei"/>
                <a:cs typeface="Microsoft YaHei"/>
              </a:defRPr>
            </a:lvl9pPr>
          </a:lstStyle>
          <a:p xmlns:a="http://schemas.openxmlformats.org/drawingml/2006/main">
            <a:pPr algn="l">
              <a:buNone/>
              <a:defRPr sz="1875" b="0">
                <a:solidFill>
                  <a:srgbClr val="718064"/>
                </a:solidFill>
                <a:latin typeface="Microsoft YaHei"/>
                <a:ea typeface="Microsoft YaHei"/>
                <a:cs typeface="Microsoft YaHei"/>
              </a:defRPr>
            </a:pPr>
            <a:r>
              <a:rPr sz="1875" b="0">
                <a:solidFill>
                  <a:srgbClr val="718064"/>
                </a:solidFill>
                <a:latin typeface="Microsoft YaHei"/>
                <a:ea typeface="Microsoft YaHei"/>
                <a:cs typeface="Microsoft YaHei"/>
              </a:rPr>
              <a:t>h_cat has 8 coordinates</a:t>
            </a:r>
          </a:p>
        </p:txBody>
      </p:sp>
    </p:spTree>
    <p:extLst>
      <p:ext uri="{BB962C8B-B14F-4D97-AF65-F5344CB8AC3E}">
        <p14:creationId xmlns:p14="http://schemas.microsoft.com/office/powerpoint/2010/main" val="214138183"/>
      </p:ext>
    </p:extLst>
  </p:cSld>
</p:sld>
</file>

<file path=ppt/slides/slide4.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8" name="MATH · OUTPUT MATRIX">
            <a:extLst xmlns:a="http://schemas.openxmlformats.org/drawingml/2006/main">
              <a:ext uri="{FF2B5EF4-FFF2-40B4-BE49-F238E27FC236}">
                <a16:creationId xmlns:a16="http://schemas.microsoft.com/office/drawing/2014/main" id="{B554867E-2B9F-4467-9895-F8B8A4DFC741}"/>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MATH · OUTPUT MATRIX</a:t>
            </a:r>
          </a:p>
        </p:txBody>
      </p:sp>
      <p:sp>
        <p:nvSpPr>
          <p:cNvPr id="2" name="W_out scores every candi">
            <a:extLst xmlns:a="http://schemas.openxmlformats.org/drawingml/2006/main">
              <a:ext uri="{FF2B5EF4-FFF2-40B4-BE49-F238E27FC236}">
                <a16:creationId xmlns:a16="http://schemas.microsoft.com/office/drawing/2014/main" id="{028939C2-EF1F-45A9-BB9E-92469A4B5965}"/>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W_out scores every candidate context word</a:t>
            </a:r>
          </a:p>
        </p:txBody>
      </p:sp>
      <p:sp>
        <p:nvSpPr>
          <p:cNvPr id="3" name="04 / 10">
            <a:extLst xmlns:a="http://schemas.openxmlformats.org/drawingml/2006/main">
              <a:ext uri="{FF2B5EF4-FFF2-40B4-BE49-F238E27FC236}">
                <a16:creationId xmlns:a16="http://schemas.microsoft.com/office/drawing/2014/main" id="{3B8A6BCE-1565-4ACC-AA1F-6390BD2066F3}"/>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04 / 10</a:t>
            </a:r>
          </a:p>
        </p:txBody>
      </p:sp>
      <p:sp>
        <p:nvSpPr>
          <p:cNvPr id="4" name="W_out: 27 rows × 8 colum">
            <a:extLst xmlns:a="http://schemas.openxmlformats.org/drawingml/2006/main">
              <a:ext uri="{FF2B5EF4-FFF2-40B4-BE49-F238E27FC236}">
                <a16:creationId xmlns:a16="http://schemas.microsoft.com/office/drawing/2014/main" id="{B78DD15A-8C20-4F54-910C-360D328EE463}"/>
              </a:ext>
            </a:extLst>
          </p:cNvPr>
          <p:cNvSpPr>
            <a:spLocks xmlns:a="http://schemas.openxmlformats.org/drawingml/2006/main" noGrp="1"/>
          </p:cNvSpPr>
          <p:nvPr/>
        </p:nvSpPr>
        <p:spPr>
          <a:xfrm xmlns:a="http://schemas.openxmlformats.org/drawingml/2006/main">
            <a:off x="685800" y="157162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5751D3"/>
                </a:solidFill>
                <a:latin typeface="Microsoft YaHei"/>
                <a:ea typeface="Microsoft YaHei"/>
                <a:cs typeface="Microsoft YaHei"/>
              </a:defRPr>
            </a:defPPr>
            <a:lvl1pPr algn="l">
              <a:buNone/>
              <a:defRPr sz="2250" b="1">
                <a:solidFill>
                  <a:srgbClr val="5751D3"/>
                </a:solidFill>
                <a:latin typeface="Microsoft YaHei"/>
                <a:ea typeface="Microsoft YaHei"/>
                <a:cs typeface="Microsoft YaHei"/>
              </a:defRPr>
            </a:lvl1pPr>
            <a:lvl2pPr algn="l">
              <a:buNone/>
              <a:defRPr sz="2250" b="1">
                <a:solidFill>
                  <a:srgbClr val="5751D3"/>
                </a:solidFill>
                <a:latin typeface="Microsoft YaHei"/>
                <a:ea typeface="Microsoft YaHei"/>
                <a:cs typeface="Microsoft YaHei"/>
              </a:defRPr>
            </a:lvl2pPr>
            <a:lvl3pPr algn="l">
              <a:buNone/>
              <a:defRPr sz="2250" b="1">
                <a:solidFill>
                  <a:srgbClr val="5751D3"/>
                </a:solidFill>
                <a:latin typeface="Microsoft YaHei"/>
                <a:ea typeface="Microsoft YaHei"/>
                <a:cs typeface="Microsoft YaHei"/>
              </a:defRPr>
            </a:lvl3pPr>
            <a:lvl4pPr algn="l">
              <a:buNone/>
              <a:defRPr sz="2250" b="1">
                <a:solidFill>
                  <a:srgbClr val="5751D3"/>
                </a:solidFill>
                <a:latin typeface="Microsoft YaHei"/>
                <a:ea typeface="Microsoft YaHei"/>
                <a:cs typeface="Microsoft YaHei"/>
              </a:defRPr>
            </a:lvl4pPr>
            <a:lvl5pPr algn="l">
              <a:buNone/>
              <a:defRPr sz="2250" b="1">
                <a:solidFill>
                  <a:srgbClr val="5751D3"/>
                </a:solidFill>
                <a:latin typeface="Microsoft YaHei"/>
                <a:ea typeface="Microsoft YaHei"/>
                <a:cs typeface="Microsoft YaHei"/>
              </a:defRPr>
            </a:lvl5pPr>
            <a:lvl6pPr algn="l">
              <a:buNone/>
              <a:defRPr sz="2250" b="1">
                <a:solidFill>
                  <a:srgbClr val="5751D3"/>
                </a:solidFill>
                <a:latin typeface="Microsoft YaHei"/>
                <a:ea typeface="Microsoft YaHei"/>
                <a:cs typeface="Microsoft YaHei"/>
              </a:defRPr>
            </a:lvl6pPr>
            <a:lvl7pPr algn="l">
              <a:buNone/>
              <a:defRPr sz="2250" b="1">
                <a:solidFill>
                  <a:srgbClr val="5751D3"/>
                </a:solidFill>
                <a:latin typeface="Microsoft YaHei"/>
                <a:ea typeface="Microsoft YaHei"/>
                <a:cs typeface="Microsoft YaHei"/>
              </a:defRPr>
            </a:lvl7pPr>
            <a:lvl8pPr algn="l">
              <a:buNone/>
              <a:defRPr sz="2250" b="1">
                <a:solidFill>
                  <a:srgbClr val="5751D3"/>
                </a:solidFill>
                <a:latin typeface="Microsoft YaHei"/>
                <a:ea typeface="Microsoft YaHei"/>
                <a:cs typeface="Microsoft YaHei"/>
              </a:defRPr>
            </a:lvl8pPr>
            <a:lvl9pPr algn="l">
              <a:buNone/>
              <a:defRPr sz="2250" b="1">
                <a:solidFill>
                  <a:srgbClr val="5751D3"/>
                </a:solidFill>
                <a:latin typeface="Microsoft YaHei"/>
                <a:ea typeface="Microsoft YaHei"/>
                <a:cs typeface="Microsoft YaHei"/>
              </a:defRPr>
            </a:lvl9pPr>
          </a:lstStyle>
          <a:p xmlns:a="http://schemas.openxmlformats.org/drawingml/2006/main">
            <a:pPr algn="l">
              <a:buNone/>
              <a:defRPr sz="2250" b="1">
                <a:solidFill>
                  <a:srgbClr val="5751D3"/>
                </a:solidFill>
                <a:latin typeface="Microsoft YaHei"/>
                <a:ea typeface="Microsoft YaHei"/>
                <a:cs typeface="Microsoft YaHei"/>
              </a:defRPr>
            </a:pPr>
            <a:r>
              <a:rPr sz="2250" b="1">
                <a:solidFill>
                  <a:srgbClr val="5751D3"/>
                </a:solidFill>
                <a:latin typeface="Microsoft YaHei"/>
                <a:ea typeface="Microsoft YaHei"/>
                <a:cs typeface="Microsoft YaHei"/>
              </a:rPr>
              <a:t>W_out: 27 rows × 8 columns</a:t>
            </a:r>
          </a:p>
        </p:txBody>
      </p:sp>
      <p:graphicFrame>
        <p:nvGraphicFramePr>
          <p:cNvPr id="5" name="">
            <a:extLst xmlns:a="http://schemas.openxmlformats.org/drawingml/2006/main">
              <a:ext uri="{FF2B5EF4-FFF2-40B4-BE49-F238E27FC236}">
                <a16:creationId xmlns:a16="http://schemas.microsoft.com/office/drawing/2014/main" id="{8770B454-6130-484C-BFC4-1FA1054BF936}"/>
              </a:ext>
            </a:extLst>
          </p:cNvPr>
          <p:cNvGraphicFramePr/>
          <p:nvPr/>
        </p:nvGraphicFramePr>
        <p:xfrm>
          <a:off xmlns:a="http://schemas.openxmlformats.org/drawingml/2006/main" x="685800" y="2324100"/>
          <a:ext xmlns:a="http://schemas.openxmlformats.org/drawingml/2006/main" cx="5524500" cy="2933700"/>
        </p:xfrm>
        <a:graphic xmlns:a="http://schemas.openxmlformats.org/drawingml/2006/main">
          <a:graphicData uri="http://schemas.openxmlformats.org/drawingml/2006/table">
            <a:tbl>
              <a:tblPr firstRow="1"/>
              <a:tblGrid>
                <a:gridCol w="1104900"/>
                <a:gridCol w="1104900"/>
                <a:gridCol w="1104900"/>
                <a:gridCol w="1104900"/>
                <a:gridCol w="1104900"/>
              </a:tblGrid>
              <a:tr h="586740">
                <a:tc>
                  <a:txBody>
                    <a:bodyPr/>
                    <a:lstStyle/>
                    <a:p>
                      <a:r>
                        <a:rPr sz="1650" b="1">
                          <a:solidFill>
                            <a:srgbClr val="FFFFFF"/>
                          </a:solidFill>
                          <a:latin typeface="Microsoft YaHei"/>
                          <a:ea typeface="Microsoft YaHei"/>
                          <a:cs typeface="Microsoft YaHei"/>
                        </a:rPr>
                        <a:t>Word</a:t>
                      </a:r>
                    </a:p>
                  </a:txBody>
                  <a:tcPr marL="91440" marR="91440" marT="45720" marB="45720">
                    <a:lnL w="9525">
                      <a:solidFill>
                        <a:srgbClr val="DCE1D3"/>
                      </a:solidFill>
                      <a:prstDash val="solid"/>
                    </a:lnL>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1</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2</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8</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r>
              <a:tr h="586740">
                <a:tc>
                  <a:txBody>
                    <a:bodyPr/>
                    <a:lstStyle/>
                    <a:p>
                      <a:r>
                        <a:rPr sz="1650" b="1">
                          <a:solidFill>
                            <a:srgbClr val="5751D3"/>
                          </a:solidFill>
                          <a:latin typeface="Microsoft YaHei"/>
                          <a:ea typeface="Microsoft YaHei"/>
                          <a:cs typeface="Microsoft YaHei"/>
                        </a:rPr>
                        <a:t>likes</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F6F6EF"/>
                    </a:solidFill>
                  </a:tcPr>
                </a:tc>
                <a:tc>
                  <a:txBody>
                    <a:bodyPr/>
                    <a:lstStyle/>
                    <a:p>
                      <a:r>
                        <a:rPr sz="1650" b="1">
                          <a:solidFill>
                            <a:srgbClr val="5751D3"/>
                          </a:solidFill>
                          <a:latin typeface="Microsoft YaHei"/>
                          <a:ea typeface="Microsoft YaHei"/>
                          <a:cs typeface="Microsoft YaHei"/>
                        </a:rPr>
                        <a:t>ℓ₁</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1">
                          <a:solidFill>
                            <a:srgbClr val="5751D3"/>
                          </a:solidFill>
                          <a:latin typeface="Microsoft YaHei"/>
                          <a:ea typeface="Microsoft YaHei"/>
                          <a:cs typeface="Microsoft YaHei"/>
                        </a:rPr>
                        <a:t>ℓ₂</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1">
                          <a:solidFill>
                            <a:srgbClr val="5751D3"/>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1">
                          <a:solidFill>
                            <a:srgbClr val="5751D3"/>
                          </a:solidFill>
                          <a:latin typeface="Microsoft YaHei"/>
                          <a:ea typeface="Microsoft YaHei"/>
                          <a:cs typeface="Microsoft YaHei"/>
                        </a:rPr>
                        <a:t>ℓ₈</a:t>
                      </a:r>
                    </a:p>
                  </a:txBody>
                  <a:tcPr marL="91440" marR="91440" marT="45720" marB="45720">
                    <a:lnR w="9525">
                      <a:solidFill>
                        <a:srgbClr val="DCE1D3"/>
                      </a:solidFill>
                      <a:prstDash val="solid"/>
                    </a:lnR>
                    <a:lnB w="9525">
                      <a:solidFill>
                        <a:srgbClr val="DCE1D3"/>
                      </a:solidFill>
                      <a:prstDash val="solid"/>
                    </a:lnB>
                    <a:solidFill>
                      <a:srgbClr val="F6F6EF"/>
                    </a:solidFill>
                  </a:tcPr>
                </a:tc>
              </a:tr>
              <a:tr h="586740">
                <a:tc>
                  <a:txBody>
                    <a:bodyPr/>
                    <a:lstStyle/>
                    <a:p>
                      <a:r>
                        <a:rPr sz="1650" b="0">
                          <a:solidFill>
                            <a:srgbClr val="25302B"/>
                          </a:solidFill>
                          <a:latin typeface="Microsoft YaHei"/>
                          <a:ea typeface="Microsoft YaHei"/>
                          <a:cs typeface="Microsoft YaHei"/>
                        </a:rPr>
                        <a:t>milk</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m₁</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m₂</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m₈</a:t>
                      </a:r>
                    </a:p>
                  </a:txBody>
                  <a:tcPr marL="91440" marR="91440" marT="45720" marB="45720">
                    <a:lnR w="9525">
                      <a:solidFill>
                        <a:srgbClr val="DCE1D3"/>
                      </a:solidFill>
                      <a:prstDash val="solid"/>
                    </a:lnR>
                    <a:lnB w="9525">
                      <a:solidFill>
                        <a:srgbClr val="DCE1D3"/>
                      </a:solidFill>
                      <a:prstDash val="solid"/>
                    </a:lnB>
                    <a:solidFill>
                      <a:srgbClr val="EDEFE7"/>
                    </a:solidFill>
                  </a:tcPr>
                </a:tc>
              </a:tr>
              <a:tr h="586740">
                <a:tc>
                  <a:txBody>
                    <a:bodyPr/>
                    <a:lstStyle/>
                    <a:p>
                      <a:r>
                        <a:rPr sz="1650" b="0">
                          <a:solidFill>
                            <a:srgbClr val="25302B"/>
                          </a:solidFill>
                          <a:latin typeface="Microsoft YaHei"/>
                          <a:ea typeface="Microsoft YaHei"/>
                          <a:cs typeface="Microsoft YaHei"/>
                        </a:rPr>
                        <a:t>road</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r₁</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r₂</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r₈</a:t>
                      </a:r>
                    </a:p>
                  </a:txBody>
                  <a:tcPr marL="91440" marR="91440" marT="45720" marB="45720">
                    <a:lnR w="9525">
                      <a:solidFill>
                        <a:srgbClr val="DCE1D3"/>
                      </a:solidFill>
                      <a:prstDash val="solid"/>
                    </a:lnR>
                    <a:lnB w="9525">
                      <a:solidFill>
                        <a:srgbClr val="DCE1D3"/>
                      </a:solidFill>
                      <a:prstDash val="solid"/>
                    </a:lnB>
                    <a:solidFill>
                      <a:srgbClr val="F6F6EF"/>
                    </a:solidFill>
                  </a:tcPr>
                </a:tc>
              </a:tr>
              <a:tr h="586740">
                <a:tc>
                  <a:txBody>
                    <a:bodyPr/>
                    <a:lstStyle/>
                    <a:p>
                      <a:r>
                        <a:rPr sz="1650" b="0">
                          <a:solidFill>
                            <a:srgbClr val="25302B"/>
                          </a:solidFill>
                          <a:latin typeface="Microsoft YaHei"/>
                          <a:ea typeface="Microsoft YaHei"/>
                          <a:cs typeface="Microsoft YaHei"/>
                        </a:rPr>
                        <a:t>…</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0">
                          <a:solidFill>
                            <a:srgbClr val="25302B"/>
                          </a:solidFill>
                          <a:latin typeface="Microsoft YaHei"/>
                          <a:ea typeface="Microsoft YaHei"/>
                          <a:cs typeface="Microsoft YaHei"/>
                        </a:rPr>
                        <a:t>…</a:t>
                      </a:r>
                    </a:p>
                  </a:txBody>
                  <a:tcPr marL="91440" marR="91440" marT="45720" marB="45720">
                    <a:lnR w="9525">
                      <a:solidFill>
                        <a:srgbClr val="DCE1D3"/>
                      </a:solidFill>
                      <a:prstDash val="solid"/>
                    </a:lnR>
                    <a:lnB w="9525">
                      <a:solidFill>
                        <a:srgbClr val="DCE1D3"/>
                      </a:solidFill>
                      <a:prstDash val="solid"/>
                    </a:lnB>
                    <a:solidFill>
                      <a:srgbClr val="EDEFE7"/>
                    </a:solidFill>
                  </a:tcPr>
                </a:tc>
              </a:tr>
            </a:tbl>
          </a:graphicData>
        </a:graphic>
      </p:graphicFrame>
      <p:sp>
        <p:nvSpPr>
          <p:cNvPr id="6" name="score(cat, j) = W_out[j,">
            <a:extLst xmlns:a="http://schemas.openxmlformats.org/drawingml/2006/main">
              <a:ext uri="{FF2B5EF4-FFF2-40B4-BE49-F238E27FC236}">
                <a16:creationId xmlns:a16="http://schemas.microsoft.com/office/drawing/2014/main" id="{9EF56B8C-C358-410C-816B-9B1597B95E86}"/>
              </a:ext>
            </a:extLst>
          </p:cNvPr>
          <p:cNvSpPr>
            <a:spLocks xmlns:a="http://schemas.openxmlformats.org/drawingml/2006/main" noGrp="1"/>
          </p:cNvSpPr>
          <p:nvPr/>
        </p:nvSpPr>
        <p:spPr>
          <a:xfrm xmlns:a="http://schemas.openxmlformats.org/drawingml/2006/main">
            <a:off x="6829425" y="2495550"/>
            <a:ext cx="4533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25302B"/>
                </a:solidFill>
                <a:latin typeface="Microsoft YaHei"/>
                <a:ea typeface="Microsoft YaHei"/>
                <a:cs typeface="Microsoft YaHei"/>
              </a:defRPr>
            </a:defPPr>
            <a:lvl1pPr algn="l">
              <a:buNone/>
              <a:defRPr sz="2025" b="1">
                <a:solidFill>
                  <a:srgbClr val="25302B"/>
                </a:solidFill>
                <a:latin typeface="Microsoft YaHei"/>
                <a:ea typeface="Microsoft YaHei"/>
                <a:cs typeface="Microsoft YaHei"/>
              </a:defRPr>
            </a:lvl1pPr>
            <a:lvl2pPr algn="l">
              <a:buNone/>
              <a:defRPr sz="2025" b="1">
                <a:solidFill>
                  <a:srgbClr val="25302B"/>
                </a:solidFill>
                <a:latin typeface="Microsoft YaHei"/>
                <a:ea typeface="Microsoft YaHei"/>
                <a:cs typeface="Microsoft YaHei"/>
              </a:defRPr>
            </a:lvl2pPr>
            <a:lvl3pPr algn="l">
              <a:buNone/>
              <a:defRPr sz="2025" b="1">
                <a:solidFill>
                  <a:srgbClr val="25302B"/>
                </a:solidFill>
                <a:latin typeface="Microsoft YaHei"/>
                <a:ea typeface="Microsoft YaHei"/>
                <a:cs typeface="Microsoft YaHei"/>
              </a:defRPr>
            </a:lvl3pPr>
            <a:lvl4pPr algn="l">
              <a:buNone/>
              <a:defRPr sz="2025" b="1">
                <a:solidFill>
                  <a:srgbClr val="25302B"/>
                </a:solidFill>
                <a:latin typeface="Microsoft YaHei"/>
                <a:ea typeface="Microsoft YaHei"/>
                <a:cs typeface="Microsoft YaHei"/>
              </a:defRPr>
            </a:lvl4pPr>
            <a:lvl5pPr algn="l">
              <a:buNone/>
              <a:defRPr sz="2025" b="1">
                <a:solidFill>
                  <a:srgbClr val="25302B"/>
                </a:solidFill>
                <a:latin typeface="Microsoft YaHei"/>
                <a:ea typeface="Microsoft YaHei"/>
                <a:cs typeface="Microsoft YaHei"/>
              </a:defRPr>
            </a:lvl5pPr>
            <a:lvl6pPr algn="l">
              <a:buNone/>
              <a:defRPr sz="2025" b="1">
                <a:solidFill>
                  <a:srgbClr val="25302B"/>
                </a:solidFill>
                <a:latin typeface="Microsoft YaHei"/>
                <a:ea typeface="Microsoft YaHei"/>
                <a:cs typeface="Microsoft YaHei"/>
              </a:defRPr>
            </a:lvl6pPr>
            <a:lvl7pPr algn="l">
              <a:buNone/>
              <a:defRPr sz="2025" b="1">
                <a:solidFill>
                  <a:srgbClr val="25302B"/>
                </a:solidFill>
                <a:latin typeface="Microsoft YaHei"/>
                <a:ea typeface="Microsoft YaHei"/>
                <a:cs typeface="Microsoft YaHei"/>
              </a:defRPr>
            </a:lvl7pPr>
            <a:lvl8pPr algn="l">
              <a:buNone/>
              <a:defRPr sz="2025" b="1">
                <a:solidFill>
                  <a:srgbClr val="25302B"/>
                </a:solidFill>
                <a:latin typeface="Microsoft YaHei"/>
                <a:ea typeface="Microsoft YaHei"/>
                <a:cs typeface="Microsoft YaHei"/>
              </a:defRPr>
            </a:lvl8pPr>
            <a:lvl9pPr algn="l">
              <a:buNone/>
              <a:defRPr sz="2025" b="1">
                <a:solidFill>
                  <a:srgbClr val="25302B"/>
                </a:solidFill>
                <a:latin typeface="Microsoft YaHei"/>
                <a:ea typeface="Microsoft YaHei"/>
                <a:cs typeface="Microsoft YaHei"/>
              </a:defRPr>
            </a:lvl9pPr>
          </a:lstStyle>
          <a:p xmlns:a="http://schemas.openxmlformats.org/drawingml/2006/main">
            <a:pPr algn="l">
              <a:buNone/>
              <a:defRPr sz="2025" b="1">
                <a:solidFill>
                  <a:srgbClr val="25302B"/>
                </a:solidFill>
                <a:latin typeface="Microsoft YaHei"/>
                <a:ea typeface="Microsoft YaHei"/>
                <a:cs typeface="Microsoft YaHei"/>
              </a:defRPr>
            </a:pPr>
            <a:r>
              <a:rPr sz="2025" b="1">
                <a:solidFill>
                  <a:srgbClr val="25302B"/>
                </a:solidFill>
                <a:latin typeface="Microsoft YaHei"/>
                <a:ea typeface="Microsoft YaHei"/>
                <a:cs typeface="Microsoft YaHei"/>
              </a:rPr>
              <a:t>score(cat, j) = W_out[j, :] · h_cat</a:t>
            </a:r>
          </a:p>
        </p:txBody>
      </p:sp>
      <p:sp>
        <p:nvSpPr>
          <p:cNvPr id="7" name="One dot product for each">
            <a:extLst xmlns:a="http://schemas.openxmlformats.org/drawingml/2006/main">
              <a:ext uri="{FF2B5EF4-FFF2-40B4-BE49-F238E27FC236}">
                <a16:creationId xmlns:a16="http://schemas.microsoft.com/office/drawing/2014/main" id="{1167EB5C-A591-4EF1-A230-F4DF1109CA9C}"/>
              </a:ext>
            </a:extLst>
          </p:cNvPr>
          <p:cNvSpPr>
            <a:spLocks xmlns:a="http://schemas.openxmlformats.org/drawingml/2006/main" noGrp="1"/>
          </p:cNvSpPr>
          <p:nvPr/>
        </p:nvSpPr>
        <p:spPr>
          <a:xfrm xmlns:a="http://schemas.openxmlformats.org/drawingml/2006/main">
            <a:off x="6829425" y="3667125"/>
            <a:ext cx="4438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0">
                <a:solidFill>
                  <a:srgbClr val="718064"/>
                </a:solidFill>
                <a:latin typeface="Microsoft YaHei"/>
                <a:ea typeface="Microsoft YaHei"/>
                <a:cs typeface="Microsoft YaHei"/>
              </a:defRPr>
            </a:defPPr>
            <a:lvl1pPr algn="l">
              <a:buNone/>
              <a:defRPr sz="1875" b="0">
                <a:solidFill>
                  <a:srgbClr val="718064"/>
                </a:solidFill>
                <a:latin typeface="Microsoft YaHei"/>
                <a:ea typeface="Microsoft YaHei"/>
                <a:cs typeface="Microsoft YaHei"/>
              </a:defRPr>
            </a:lvl1pPr>
            <a:lvl2pPr algn="l">
              <a:buNone/>
              <a:defRPr sz="1875" b="0">
                <a:solidFill>
                  <a:srgbClr val="718064"/>
                </a:solidFill>
                <a:latin typeface="Microsoft YaHei"/>
                <a:ea typeface="Microsoft YaHei"/>
                <a:cs typeface="Microsoft YaHei"/>
              </a:defRPr>
            </a:lvl2pPr>
            <a:lvl3pPr algn="l">
              <a:buNone/>
              <a:defRPr sz="1875" b="0">
                <a:solidFill>
                  <a:srgbClr val="718064"/>
                </a:solidFill>
                <a:latin typeface="Microsoft YaHei"/>
                <a:ea typeface="Microsoft YaHei"/>
                <a:cs typeface="Microsoft YaHei"/>
              </a:defRPr>
            </a:lvl3pPr>
            <a:lvl4pPr algn="l">
              <a:buNone/>
              <a:defRPr sz="1875" b="0">
                <a:solidFill>
                  <a:srgbClr val="718064"/>
                </a:solidFill>
                <a:latin typeface="Microsoft YaHei"/>
                <a:ea typeface="Microsoft YaHei"/>
                <a:cs typeface="Microsoft YaHei"/>
              </a:defRPr>
            </a:lvl4pPr>
            <a:lvl5pPr algn="l">
              <a:buNone/>
              <a:defRPr sz="1875" b="0">
                <a:solidFill>
                  <a:srgbClr val="718064"/>
                </a:solidFill>
                <a:latin typeface="Microsoft YaHei"/>
                <a:ea typeface="Microsoft YaHei"/>
                <a:cs typeface="Microsoft YaHei"/>
              </a:defRPr>
            </a:lvl5pPr>
            <a:lvl6pPr algn="l">
              <a:buNone/>
              <a:defRPr sz="1875" b="0">
                <a:solidFill>
                  <a:srgbClr val="718064"/>
                </a:solidFill>
                <a:latin typeface="Microsoft YaHei"/>
                <a:ea typeface="Microsoft YaHei"/>
                <a:cs typeface="Microsoft YaHei"/>
              </a:defRPr>
            </a:lvl6pPr>
            <a:lvl7pPr algn="l">
              <a:buNone/>
              <a:defRPr sz="1875" b="0">
                <a:solidFill>
                  <a:srgbClr val="718064"/>
                </a:solidFill>
                <a:latin typeface="Microsoft YaHei"/>
                <a:ea typeface="Microsoft YaHei"/>
                <a:cs typeface="Microsoft YaHei"/>
              </a:defRPr>
            </a:lvl7pPr>
            <a:lvl8pPr algn="l">
              <a:buNone/>
              <a:defRPr sz="1875" b="0">
                <a:solidFill>
                  <a:srgbClr val="718064"/>
                </a:solidFill>
                <a:latin typeface="Microsoft YaHei"/>
                <a:ea typeface="Microsoft YaHei"/>
                <a:cs typeface="Microsoft YaHei"/>
              </a:defRPr>
            </a:lvl8pPr>
            <a:lvl9pPr algn="l">
              <a:buNone/>
              <a:defRPr sz="1875" b="0">
                <a:solidFill>
                  <a:srgbClr val="718064"/>
                </a:solidFill>
                <a:latin typeface="Microsoft YaHei"/>
                <a:ea typeface="Microsoft YaHei"/>
                <a:cs typeface="Microsoft YaHei"/>
              </a:defRPr>
            </a:lvl9pPr>
          </a:lstStyle>
          <a:p xmlns:a="http://schemas.openxmlformats.org/drawingml/2006/main">
            <a:pPr algn="l">
              <a:buNone/>
              <a:defRPr sz="1875" b="0">
                <a:solidFill>
                  <a:srgbClr val="718064"/>
                </a:solidFill>
                <a:latin typeface="Microsoft YaHei"/>
                <a:ea typeface="Microsoft YaHei"/>
                <a:cs typeface="Microsoft YaHei"/>
              </a:defRPr>
            </a:pPr>
            <a:r>
              <a:rPr sz="1875" b="0">
                <a:solidFill>
                  <a:srgbClr val="718064"/>
                </a:solidFill>
                <a:latin typeface="Microsoft YaHei"/>
                <a:ea typeface="Microsoft YaHei"/>
                <a:cs typeface="Microsoft YaHei"/>
              </a:rPr>
              <a:t>One dot product for each of 27 candidate words</a:t>
            </a:r>
          </a:p>
        </p:txBody>
      </p:sp>
    </p:spTree>
    <p:extLst>
      <p:ext uri="{BB962C8B-B14F-4D97-AF65-F5344CB8AC3E}">
        <p14:creationId xmlns:p14="http://schemas.microsoft.com/office/powerpoint/2010/main" val="1643718791"/>
      </p:ext>
    </p:extLst>
  </p:cSld>
</p:sld>
</file>

<file path=ppt/slides/slide5.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8" name="MATH · PREDICTION AND LO">
            <a:extLst xmlns:a="http://schemas.openxmlformats.org/drawingml/2006/main">
              <a:ext uri="{FF2B5EF4-FFF2-40B4-BE49-F238E27FC236}">
                <a16:creationId xmlns:a16="http://schemas.microsoft.com/office/drawing/2014/main" id="{9E335A70-73A4-4DBE-A812-07424B113CF5}"/>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MATH · PREDICTION AND LOSS</a:t>
            </a:r>
          </a:p>
        </p:txBody>
      </p:sp>
      <p:sp>
        <p:nvSpPr>
          <p:cNvPr id="2" name="Softmax turns scores int">
            <a:extLst xmlns:a="http://schemas.openxmlformats.org/drawingml/2006/main">
              <a:ext uri="{FF2B5EF4-FFF2-40B4-BE49-F238E27FC236}">
                <a16:creationId xmlns:a16="http://schemas.microsoft.com/office/drawing/2014/main" id="{C88E4727-5F19-44CF-B1E4-F055F6E0F506}"/>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Softmax turns scores into probabilities</a:t>
            </a:r>
          </a:p>
        </p:txBody>
      </p:sp>
      <p:sp>
        <p:nvSpPr>
          <p:cNvPr id="3" name="05 / 10">
            <a:extLst xmlns:a="http://schemas.openxmlformats.org/drawingml/2006/main">
              <a:ext uri="{FF2B5EF4-FFF2-40B4-BE49-F238E27FC236}">
                <a16:creationId xmlns:a16="http://schemas.microsoft.com/office/drawing/2014/main" id="{2F0E7C33-2FDE-45EB-9CDB-698EF897EEF6}"/>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05 / 10</a:t>
            </a:r>
          </a:p>
        </p:txBody>
      </p:sp>
      <p:sp>
        <p:nvSpPr>
          <p:cNvPr id="4" name="P(j | c) = exp(score(c, ">
            <a:extLst xmlns:a="http://schemas.openxmlformats.org/drawingml/2006/main">
              <a:ext uri="{FF2B5EF4-FFF2-40B4-BE49-F238E27FC236}">
                <a16:creationId xmlns:a16="http://schemas.microsoft.com/office/drawing/2014/main" id="{95461F3F-9CF3-49BD-B2DB-0B120750653F}"/>
              </a:ext>
            </a:extLst>
          </p:cNvPr>
          <p:cNvSpPr>
            <a:spLocks xmlns:a="http://schemas.openxmlformats.org/drawingml/2006/main" noGrp="1"/>
          </p:cNvSpPr>
          <p:nvPr/>
        </p:nvSpPr>
        <p:spPr>
          <a:xfrm xmlns:a="http://schemas.openxmlformats.org/drawingml/2006/main">
            <a:off x="685800" y="1666875"/>
            <a:ext cx="1076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700" b="1">
                <a:solidFill>
                  <a:srgbClr val="5751D3"/>
                </a:solidFill>
                <a:latin typeface="Consolas"/>
                <a:ea typeface="Consolas"/>
                <a:cs typeface="Consolas"/>
              </a:defRPr>
            </a:defPPr>
            <a:lvl1pPr algn="l">
              <a:buNone/>
              <a:defRPr sz="2700" b="1">
                <a:solidFill>
                  <a:srgbClr val="5751D3"/>
                </a:solidFill>
                <a:latin typeface="Consolas"/>
                <a:ea typeface="Consolas"/>
                <a:cs typeface="Consolas"/>
              </a:defRPr>
            </a:lvl1pPr>
            <a:lvl2pPr algn="l">
              <a:buNone/>
              <a:defRPr sz="2700" b="1">
                <a:solidFill>
                  <a:srgbClr val="5751D3"/>
                </a:solidFill>
                <a:latin typeface="Consolas"/>
                <a:ea typeface="Consolas"/>
                <a:cs typeface="Consolas"/>
              </a:defRPr>
            </a:lvl2pPr>
            <a:lvl3pPr algn="l">
              <a:buNone/>
              <a:defRPr sz="2700" b="1">
                <a:solidFill>
                  <a:srgbClr val="5751D3"/>
                </a:solidFill>
                <a:latin typeface="Consolas"/>
                <a:ea typeface="Consolas"/>
                <a:cs typeface="Consolas"/>
              </a:defRPr>
            </a:lvl3pPr>
            <a:lvl4pPr algn="l">
              <a:buNone/>
              <a:defRPr sz="2700" b="1">
                <a:solidFill>
                  <a:srgbClr val="5751D3"/>
                </a:solidFill>
                <a:latin typeface="Consolas"/>
                <a:ea typeface="Consolas"/>
                <a:cs typeface="Consolas"/>
              </a:defRPr>
            </a:lvl4pPr>
            <a:lvl5pPr algn="l">
              <a:buNone/>
              <a:defRPr sz="2700" b="1">
                <a:solidFill>
                  <a:srgbClr val="5751D3"/>
                </a:solidFill>
                <a:latin typeface="Consolas"/>
                <a:ea typeface="Consolas"/>
                <a:cs typeface="Consolas"/>
              </a:defRPr>
            </a:lvl5pPr>
            <a:lvl6pPr algn="l">
              <a:buNone/>
              <a:defRPr sz="2700" b="1">
                <a:solidFill>
                  <a:srgbClr val="5751D3"/>
                </a:solidFill>
                <a:latin typeface="Consolas"/>
                <a:ea typeface="Consolas"/>
                <a:cs typeface="Consolas"/>
              </a:defRPr>
            </a:lvl6pPr>
            <a:lvl7pPr algn="l">
              <a:buNone/>
              <a:defRPr sz="2700" b="1">
                <a:solidFill>
                  <a:srgbClr val="5751D3"/>
                </a:solidFill>
                <a:latin typeface="Consolas"/>
                <a:ea typeface="Consolas"/>
                <a:cs typeface="Consolas"/>
              </a:defRPr>
            </a:lvl7pPr>
            <a:lvl8pPr algn="l">
              <a:buNone/>
              <a:defRPr sz="2700" b="1">
                <a:solidFill>
                  <a:srgbClr val="5751D3"/>
                </a:solidFill>
                <a:latin typeface="Consolas"/>
                <a:ea typeface="Consolas"/>
                <a:cs typeface="Consolas"/>
              </a:defRPr>
            </a:lvl8pPr>
            <a:lvl9pPr algn="l">
              <a:buNone/>
              <a:defRPr sz="2700" b="1">
                <a:solidFill>
                  <a:srgbClr val="5751D3"/>
                </a:solidFill>
                <a:latin typeface="Consolas"/>
                <a:ea typeface="Consolas"/>
                <a:cs typeface="Consolas"/>
              </a:defRPr>
            </a:lvl9pPr>
          </a:lstStyle>
          <a:p xmlns:a="http://schemas.openxmlformats.org/drawingml/2006/main">
            <a:pPr algn="l">
              <a:buNone/>
              <a:defRPr sz="2700" b="1">
                <a:solidFill>
                  <a:srgbClr val="5751D3"/>
                </a:solidFill>
                <a:latin typeface="Consolas"/>
                <a:ea typeface="Consolas"/>
                <a:cs typeface="Consolas"/>
              </a:defRPr>
            </a:pPr>
            <a:r>
              <a:rPr sz="2700" b="1">
                <a:solidFill>
                  <a:srgbClr val="5751D3"/>
                </a:solidFill>
                <a:latin typeface="Consolas"/>
                <a:ea typeface="Consolas"/>
                <a:cs typeface="Consolas"/>
              </a:rPr>
              <a:t>P(j | c) = exp(score(c, j)) / Σₜ exp(score(c, t))</a:t>
            </a:r>
          </a:p>
        </p:txBody>
      </p:sp>
      <p:sp>
        <p:nvSpPr>
          <p:cNvPr id="5" name="For example: scores 2, 1">
            <a:extLst xmlns:a="http://schemas.openxmlformats.org/drawingml/2006/main">
              <a:ext uri="{FF2B5EF4-FFF2-40B4-BE49-F238E27FC236}">
                <a16:creationId xmlns:a16="http://schemas.microsoft.com/office/drawing/2014/main" id="{99A24233-2198-48BB-B3DF-E9FB2D48DE83}"/>
              </a:ext>
            </a:extLst>
          </p:cNvPr>
          <p:cNvSpPr>
            <a:spLocks xmlns:a="http://schemas.openxmlformats.org/drawingml/2006/main" noGrp="1"/>
          </p:cNvSpPr>
          <p:nvPr/>
        </p:nvSpPr>
        <p:spPr>
          <a:xfrm xmlns:a="http://schemas.openxmlformats.org/drawingml/2006/main">
            <a:off x="685800" y="29432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25302B"/>
                </a:solidFill>
                <a:latin typeface="Microsoft YaHei"/>
                <a:ea typeface="Microsoft YaHei"/>
                <a:cs typeface="Microsoft YaHei"/>
              </a:defRPr>
            </a:defPPr>
            <a:lvl1pPr algn="l">
              <a:buNone/>
              <a:defRPr sz="2025" b="0">
                <a:solidFill>
                  <a:srgbClr val="25302B"/>
                </a:solidFill>
                <a:latin typeface="Microsoft YaHei"/>
                <a:ea typeface="Microsoft YaHei"/>
                <a:cs typeface="Microsoft YaHei"/>
              </a:defRPr>
            </a:lvl1pPr>
            <a:lvl2pPr algn="l">
              <a:buNone/>
              <a:defRPr sz="2025" b="0">
                <a:solidFill>
                  <a:srgbClr val="25302B"/>
                </a:solidFill>
                <a:latin typeface="Microsoft YaHei"/>
                <a:ea typeface="Microsoft YaHei"/>
                <a:cs typeface="Microsoft YaHei"/>
              </a:defRPr>
            </a:lvl2pPr>
            <a:lvl3pPr algn="l">
              <a:buNone/>
              <a:defRPr sz="2025" b="0">
                <a:solidFill>
                  <a:srgbClr val="25302B"/>
                </a:solidFill>
                <a:latin typeface="Microsoft YaHei"/>
                <a:ea typeface="Microsoft YaHei"/>
                <a:cs typeface="Microsoft YaHei"/>
              </a:defRPr>
            </a:lvl3pPr>
            <a:lvl4pPr algn="l">
              <a:buNone/>
              <a:defRPr sz="2025" b="0">
                <a:solidFill>
                  <a:srgbClr val="25302B"/>
                </a:solidFill>
                <a:latin typeface="Microsoft YaHei"/>
                <a:ea typeface="Microsoft YaHei"/>
                <a:cs typeface="Microsoft YaHei"/>
              </a:defRPr>
            </a:lvl4pPr>
            <a:lvl5pPr algn="l">
              <a:buNone/>
              <a:defRPr sz="2025" b="0">
                <a:solidFill>
                  <a:srgbClr val="25302B"/>
                </a:solidFill>
                <a:latin typeface="Microsoft YaHei"/>
                <a:ea typeface="Microsoft YaHei"/>
                <a:cs typeface="Microsoft YaHei"/>
              </a:defRPr>
            </a:lvl5pPr>
            <a:lvl6pPr algn="l">
              <a:buNone/>
              <a:defRPr sz="2025" b="0">
                <a:solidFill>
                  <a:srgbClr val="25302B"/>
                </a:solidFill>
                <a:latin typeface="Microsoft YaHei"/>
                <a:ea typeface="Microsoft YaHei"/>
                <a:cs typeface="Microsoft YaHei"/>
              </a:defRPr>
            </a:lvl6pPr>
            <a:lvl7pPr algn="l">
              <a:buNone/>
              <a:defRPr sz="2025" b="0">
                <a:solidFill>
                  <a:srgbClr val="25302B"/>
                </a:solidFill>
                <a:latin typeface="Microsoft YaHei"/>
                <a:ea typeface="Microsoft YaHei"/>
                <a:cs typeface="Microsoft YaHei"/>
              </a:defRPr>
            </a:lvl7pPr>
            <a:lvl8pPr algn="l">
              <a:buNone/>
              <a:defRPr sz="2025" b="0">
                <a:solidFill>
                  <a:srgbClr val="25302B"/>
                </a:solidFill>
                <a:latin typeface="Microsoft YaHei"/>
                <a:ea typeface="Microsoft YaHei"/>
                <a:cs typeface="Microsoft YaHei"/>
              </a:defRPr>
            </a:lvl8pPr>
            <a:lvl9pPr algn="l">
              <a:buNone/>
              <a:defRPr sz="2025" b="0">
                <a:solidFill>
                  <a:srgbClr val="25302B"/>
                </a:solidFill>
                <a:latin typeface="Microsoft YaHei"/>
                <a:ea typeface="Microsoft YaHei"/>
                <a:cs typeface="Microsoft YaHei"/>
              </a:defRPr>
            </a:lvl9pPr>
          </a:lstStyle>
          <a:p xmlns:a="http://schemas.openxmlformats.org/drawingml/2006/main">
            <a:pPr algn="l">
              <a:buNone/>
              <a:defRPr sz="2025" b="0">
                <a:solidFill>
                  <a:srgbClr val="25302B"/>
                </a:solidFill>
                <a:latin typeface="Microsoft YaHei"/>
                <a:ea typeface="Microsoft YaHei"/>
                <a:cs typeface="Microsoft YaHei"/>
              </a:defRPr>
            </a:pPr>
            <a:r>
              <a:rPr sz="2025" b="0">
                <a:solidFill>
                  <a:srgbClr val="25302B"/>
                </a:solidFill>
                <a:latin typeface="Microsoft YaHei"/>
                <a:ea typeface="Microsoft YaHei"/>
                <a:cs typeface="Microsoft YaHei"/>
              </a:rPr>
              <a:t>For example: scores 2, 1, 0  →  probabilities 0.665, 0.245, 0.090</a:t>
            </a:r>
          </a:p>
        </p:txBody>
      </p:sp>
      <p:sp>
        <p:nvSpPr>
          <p:cNvPr id="6" name="Loss for observed word o">
            <a:extLst xmlns:a="http://schemas.openxmlformats.org/drawingml/2006/main">
              <a:ext uri="{FF2B5EF4-FFF2-40B4-BE49-F238E27FC236}">
                <a16:creationId xmlns:a16="http://schemas.microsoft.com/office/drawing/2014/main" id="{F5D33155-FCCB-4746-884B-9610C2299D36}"/>
              </a:ext>
            </a:extLst>
          </p:cNvPr>
          <p:cNvSpPr>
            <a:spLocks xmlns:a="http://schemas.openxmlformats.org/drawingml/2006/main" noGrp="1"/>
          </p:cNvSpPr>
          <p:nvPr/>
        </p:nvSpPr>
        <p:spPr>
          <a:xfrm xmlns:a="http://schemas.openxmlformats.org/drawingml/2006/main">
            <a:off x="685800" y="4257675"/>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718064"/>
                </a:solidFill>
                <a:latin typeface="Microsoft YaHei"/>
                <a:ea typeface="Microsoft YaHei"/>
                <a:cs typeface="Microsoft YaHei"/>
              </a:defRPr>
            </a:defPPr>
            <a:lvl1pPr algn="l">
              <a:buNone/>
              <a:defRPr sz="2025" b="0">
                <a:solidFill>
                  <a:srgbClr val="718064"/>
                </a:solidFill>
                <a:latin typeface="Microsoft YaHei"/>
                <a:ea typeface="Microsoft YaHei"/>
                <a:cs typeface="Microsoft YaHei"/>
              </a:defRPr>
            </a:lvl1pPr>
            <a:lvl2pPr algn="l">
              <a:buNone/>
              <a:defRPr sz="2025" b="0">
                <a:solidFill>
                  <a:srgbClr val="718064"/>
                </a:solidFill>
                <a:latin typeface="Microsoft YaHei"/>
                <a:ea typeface="Microsoft YaHei"/>
                <a:cs typeface="Microsoft YaHei"/>
              </a:defRPr>
            </a:lvl2pPr>
            <a:lvl3pPr algn="l">
              <a:buNone/>
              <a:defRPr sz="2025" b="0">
                <a:solidFill>
                  <a:srgbClr val="718064"/>
                </a:solidFill>
                <a:latin typeface="Microsoft YaHei"/>
                <a:ea typeface="Microsoft YaHei"/>
                <a:cs typeface="Microsoft YaHei"/>
              </a:defRPr>
            </a:lvl3pPr>
            <a:lvl4pPr algn="l">
              <a:buNone/>
              <a:defRPr sz="2025" b="0">
                <a:solidFill>
                  <a:srgbClr val="718064"/>
                </a:solidFill>
                <a:latin typeface="Microsoft YaHei"/>
                <a:ea typeface="Microsoft YaHei"/>
                <a:cs typeface="Microsoft YaHei"/>
              </a:defRPr>
            </a:lvl4pPr>
            <a:lvl5pPr algn="l">
              <a:buNone/>
              <a:defRPr sz="2025" b="0">
                <a:solidFill>
                  <a:srgbClr val="718064"/>
                </a:solidFill>
                <a:latin typeface="Microsoft YaHei"/>
                <a:ea typeface="Microsoft YaHei"/>
                <a:cs typeface="Microsoft YaHei"/>
              </a:defRPr>
            </a:lvl5pPr>
            <a:lvl6pPr algn="l">
              <a:buNone/>
              <a:defRPr sz="2025" b="0">
                <a:solidFill>
                  <a:srgbClr val="718064"/>
                </a:solidFill>
                <a:latin typeface="Microsoft YaHei"/>
                <a:ea typeface="Microsoft YaHei"/>
                <a:cs typeface="Microsoft YaHei"/>
              </a:defRPr>
            </a:lvl6pPr>
            <a:lvl7pPr algn="l">
              <a:buNone/>
              <a:defRPr sz="2025" b="0">
                <a:solidFill>
                  <a:srgbClr val="718064"/>
                </a:solidFill>
                <a:latin typeface="Microsoft YaHei"/>
                <a:ea typeface="Microsoft YaHei"/>
                <a:cs typeface="Microsoft YaHei"/>
              </a:defRPr>
            </a:lvl7pPr>
            <a:lvl8pPr algn="l">
              <a:buNone/>
              <a:defRPr sz="2025" b="0">
                <a:solidFill>
                  <a:srgbClr val="718064"/>
                </a:solidFill>
                <a:latin typeface="Microsoft YaHei"/>
                <a:ea typeface="Microsoft YaHei"/>
                <a:cs typeface="Microsoft YaHei"/>
              </a:defRPr>
            </a:lvl8pPr>
            <a:lvl9pPr algn="l">
              <a:buNone/>
              <a:defRPr sz="2025" b="0">
                <a:solidFill>
                  <a:srgbClr val="718064"/>
                </a:solidFill>
                <a:latin typeface="Microsoft YaHei"/>
                <a:ea typeface="Microsoft YaHei"/>
                <a:cs typeface="Microsoft YaHei"/>
              </a:defRPr>
            </a:lvl9pPr>
          </a:lstStyle>
          <a:p xmlns:a="http://schemas.openxmlformats.org/drawingml/2006/main">
            <a:pPr algn="l">
              <a:buNone/>
              <a:defRPr sz="2025" b="0">
                <a:solidFill>
                  <a:srgbClr val="718064"/>
                </a:solidFill>
                <a:latin typeface="Microsoft YaHei"/>
                <a:ea typeface="Microsoft YaHei"/>
                <a:cs typeface="Microsoft YaHei"/>
              </a:defRPr>
            </a:pPr>
            <a:r>
              <a:rPr sz="2025" b="0">
                <a:solidFill>
                  <a:srgbClr val="718064"/>
                </a:solidFill>
                <a:latin typeface="Microsoft YaHei"/>
                <a:ea typeface="Microsoft YaHei"/>
                <a:cs typeface="Microsoft YaHei"/>
              </a:rPr>
              <a:t>Loss for observed word o:</a:t>
            </a:r>
          </a:p>
        </p:txBody>
      </p:sp>
      <p:sp>
        <p:nvSpPr>
          <p:cNvPr id="7" name="L(c, o) = −log P(o | c)">
            <a:extLst xmlns:a="http://schemas.openxmlformats.org/drawingml/2006/main">
              <a:ext uri="{FF2B5EF4-FFF2-40B4-BE49-F238E27FC236}">
                <a16:creationId xmlns:a16="http://schemas.microsoft.com/office/drawing/2014/main" id="{C70A1DFC-47F1-4C71-84AB-C979FA1399BC}"/>
              </a:ext>
            </a:extLst>
          </p:cNvPr>
          <p:cNvSpPr>
            <a:spLocks xmlns:a="http://schemas.openxmlformats.org/drawingml/2006/main" noGrp="1"/>
          </p:cNvSpPr>
          <p:nvPr/>
        </p:nvSpPr>
        <p:spPr>
          <a:xfrm xmlns:a="http://schemas.openxmlformats.org/drawingml/2006/main">
            <a:off x="685800" y="4933950"/>
            <a:ext cx="895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775" b="1">
                <a:solidFill>
                  <a:srgbClr val="25302B"/>
                </a:solidFill>
                <a:latin typeface="Consolas"/>
                <a:ea typeface="Consolas"/>
                <a:cs typeface="Consolas"/>
              </a:defRPr>
            </a:defPPr>
            <a:lvl1pPr algn="l">
              <a:buNone/>
              <a:defRPr sz="2775" b="1">
                <a:solidFill>
                  <a:srgbClr val="25302B"/>
                </a:solidFill>
                <a:latin typeface="Consolas"/>
                <a:ea typeface="Consolas"/>
                <a:cs typeface="Consolas"/>
              </a:defRPr>
            </a:lvl1pPr>
            <a:lvl2pPr algn="l">
              <a:buNone/>
              <a:defRPr sz="2775" b="1">
                <a:solidFill>
                  <a:srgbClr val="25302B"/>
                </a:solidFill>
                <a:latin typeface="Consolas"/>
                <a:ea typeface="Consolas"/>
                <a:cs typeface="Consolas"/>
              </a:defRPr>
            </a:lvl2pPr>
            <a:lvl3pPr algn="l">
              <a:buNone/>
              <a:defRPr sz="2775" b="1">
                <a:solidFill>
                  <a:srgbClr val="25302B"/>
                </a:solidFill>
                <a:latin typeface="Consolas"/>
                <a:ea typeface="Consolas"/>
                <a:cs typeface="Consolas"/>
              </a:defRPr>
            </a:lvl3pPr>
            <a:lvl4pPr algn="l">
              <a:buNone/>
              <a:defRPr sz="2775" b="1">
                <a:solidFill>
                  <a:srgbClr val="25302B"/>
                </a:solidFill>
                <a:latin typeface="Consolas"/>
                <a:ea typeface="Consolas"/>
                <a:cs typeface="Consolas"/>
              </a:defRPr>
            </a:lvl4pPr>
            <a:lvl5pPr algn="l">
              <a:buNone/>
              <a:defRPr sz="2775" b="1">
                <a:solidFill>
                  <a:srgbClr val="25302B"/>
                </a:solidFill>
                <a:latin typeface="Consolas"/>
                <a:ea typeface="Consolas"/>
                <a:cs typeface="Consolas"/>
              </a:defRPr>
            </a:lvl5pPr>
            <a:lvl6pPr algn="l">
              <a:buNone/>
              <a:defRPr sz="2775" b="1">
                <a:solidFill>
                  <a:srgbClr val="25302B"/>
                </a:solidFill>
                <a:latin typeface="Consolas"/>
                <a:ea typeface="Consolas"/>
                <a:cs typeface="Consolas"/>
              </a:defRPr>
            </a:lvl6pPr>
            <a:lvl7pPr algn="l">
              <a:buNone/>
              <a:defRPr sz="2775" b="1">
                <a:solidFill>
                  <a:srgbClr val="25302B"/>
                </a:solidFill>
                <a:latin typeface="Consolas"/>
                <a:ea typeface="Consolas"/>
                <a:cs typeface="Consolas"/>
              </a:defRPr>
            </a:lvl7pPr>
            <a:lvl8pPr algn="l">
              <a:buNone/>
              <a:defRPr sz="2775" b="1">
                <a:solidFill>
                  <a:srgbClr val="25302B"/>
                </a:solidFill>
                <a:latin typeface="Consolas"/>
                <a:ea typeface="Consolas"/>
                <a:cs typeface="Consolas"/>
              </a:defRPr>
            </a:lvl8pPr>
            <a:lvl9pPr algn="l">
              <a:buNone/>
              <a:defRPr sz="2775" b="1">
                <a:solidFill>
                  <a:srgbClr val="25302B"/>
                </a:solidFill>
                <a:latin typeface="Consolas"/>
                <a:ea typeface="Consolas"/>
                <a:cs typeface="Consolas"/>
              </a:defRPr>
            </a:lvl9pPr>
          </a:lstStyle>
          <a:p xmlns:a="http://schemas.openxmlformats.org/drawingml/2006/main">
            <a:pPr algn="l">
              <a:buNone/>
              <a:defRPr sz="2775" b="1">
                <a:solidFill>
                  <a:srgbClr val="25302B"/>
                </a:solidFill>
                <a:latin typeface="Consolas"/>
                <a:ea typeface="Consolas"/>
                <a:cs typeface="Consolas"/>
              </a:defRPr>
            </a:pPr>
            <a:r>
              <a:rPr sz="2775" b="1">
                <a:solidFill>
                  <a:srgbClr val="25302B"/>
                </a:solidFill>
                <a:latin typeface="Consolas"/>
                <a:ea typeface="Consolas"/>
                <a:cs typeface="Consolas"/>
              </a:rPr>
              <a:t>L(c, o) = −log P(o | c)</a:t>
            </a:r>
          </a:p>
        </p:txBody>
      </p:sp>
    </p:spTree>
    <p:extLst>
      <p:ext uri="{BB962C8B-B14F-4D97-AF65-F5344CB8AC3E}">
        <p14:creationId xmlns:p14="http://schemas.microsoft.com/office/powerpoint/2010/main" val="83327187"/>
      </p:ext>
    </p:extLst>
  </p:cSld>
</p:sld>
</file>

<file path=ppt/slides/slide6.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8" name="MATH · CHAIN RULE">
            <a:extLst xmlns:a="http://schemas.openxmlformats.org/drawingml/2006/main">
              <a:ext uri="{FF2B5EF4-FFF2-40B4-BE49-F238E27FC236}">
                <a16:creationId xmlns:a16="http://schemas.microsoft.com/office/drawing/2014/main" id="{EAA8C44F-B1E3-493A-99C2-01FA3DBE1771}"/>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MATH · CHAIN RULE</a:t>
            </a:r>
          </a:p>
        </p:txBody>
      </p:sp>
      <p:sp>
        <p:nvSpPr>
          <p:cNvPr id="2" name="The gradients update bot">
            <a:extLst xmlns:a="http://schemas.openxmlformats.org/drawingml/2006/main">
              <a:ext uri="{FF2B5EF4-FFF2-40B4-BE49-F238E27FC236}">
                <a16:creationId xmlns:a16="http://schemas.microsoft.com/office/drawing/2014/main" id="{5BF2DAD1-B1D7-46D5-8AC9-19C24123E57A}"/>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The gradients update both matrices</a:t>
            </a:r>
          </a:p>
        </p:txBody>
      </p:sp>
      <p:sp>
        <p:nvSpPr>
          <p:cNvPr id="3" name="06 / 10">
            <a:extLst xmlns:a="http://schemas.openxmlformats.org/drawingml/2006/main">
              <a:ext uri="{FF2B5EF4-FFF2-40B4-BE49-F238E27FC236}">
                <a16:creationId xmlns:a16="http://schemas.microsoft.com/office/drawing/2014/main" id="{FB231362-69A8-4ADC-BDD4-683838D794CD}"/>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06 / 10</a:t>
            </a:r>
          </a:p>
        </p:txBody>
      </p:sp>
      <p:sp>
        <p:nvSpPr>
          <p:cNvPr id="4" name="g_j = P(j | c) − 1[j = o">
            <a:extLst xmlns:a="http://schemas.openxmlformats.org/drawingml/2006/main">
              <a:ext uri="{FF2B5EF4-FFF2-40B4-BE49-F238E27FC236}">
                <a16:creationId xmlns:a16="http://schemas.microsoft.com/office/drawing/2014/main" id="{FF9D0023-ACD5-4CA2-AF54-B7E43D62E505}"/>
              </a:ext>
            </a:extLst>
          </p:cNvPr>
          <p:cNvSpPr>
            <a:spLocks xmlns:a="http://schemas.openxmlformats.org/drawingml/2006/main" noGrp="1"/>
          </p:cNvSpPr>
          <p:nvPr/>
        </p:nvSpPr>
        <p:spPr>
          <a:xfrm xmlns:a="http://schemas.openxmlformats.org/drawingml/2006/main">
            <a:off x="685800" y="162877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625" b="1">
                <a:solidFill>
                  <a:srgbClr val="5751D3"/>
                </a:solidFill>
                <a:latin typeface="Consolas"/>
                <a:ea typeface="Consolas"/>
                <a:cs typeface="Consolas"/>
              </a:defRPr>
            </a:defPPr>
            <a:lvl1pPr algn="l">
              <a:buNone/>
              <a:defRPr sz="2625" b="1">
                <a:solidFill>
                  <a:srgbClr val="5751D3"/>
                </a:solidFill>
                <a:latin typeface="Consolas"/>
                <a:ea typeface="Consolas"/>
                <a:cs typeface="Consolas"/>
              </a:defRPr>
            </a:lvl1pPr>
            <a:lvl2pPr algn="l">
              <a:buNone/>
              <a:defRPr sz="2625" b="1">
                <a:solidFill>
                  <a:srgbClr val="5751D3"/>
                </a:solidFill>
                <a:latin typeface="Consolas"/>
                <a:ea typeface="Consolas"/>
                <a:cs typeface="Consolas"/>
              </a:defRPr>
            </a:lvl2pPr>
            <a:lvl3pPr algn="l">
              <a:buNone/>
              <a:defRPr sz="2625" b="1">
                <a:solidFill>
                  <a:srgbClr val="5751D3"/>
                </a:solidFill>
                <a:latin typeface="Consolas"/>
                <a:ea typeface="Consolas"/>
                <a:cs typeface="Consolas"/>
              </a:defRPr>
            </a:lvl3pPr>
            <a:lvl4pPr algn="l">
              <a:buNone/>
              <a:defRPr sz="2625" b="1">
                <a:solidFill>
                  <a:srgbClr val="5751D3"/>
                </a:solidFill>
                <a:latin typeface="Consolas"/>
                <a:ea typeface="Consolas"/>
                <a:cs typeface="Consolas"/>
              </a:defRPr>
            </a:lvl4pPr>
            <a:lvl5pPr algn="l">
              <a:buNone/>
              <a:defRPr sz="2625" b="1">
                <a:solidFill>
                  <a:srgbClr val="5751D3"/>
                </a:solidFill>
                <a:latin typeface="Consolas"/>
                <a:ea typeface="Consolas"/>
                <a:cs typeface="Consolas"/>
              </a:defRPr>
            </a:lvl5pPr>
            <a:lvl6pPr algn="l">
              <a:buNone/>
              <a:defRPr sz="2625" b="1">
                <a:solidFill>
                  <a:srgbClr val="5751D3"/>
                </a:solidFill>
                <a:latin typeface="Consolas"/>
                <a:ea typeface="Consolas"/>
                <a:cs typeface="Consolas"/>
              </a:defRPr>
            </a:lvl6pPr>
            <a:lvl7pPr algn="l">
              <a:buNone/>
              <a:defRPr sz="2625" b="1">
                <a:solidFill>
                  <a:srgbClr val="5751D3"/>
                </a:solidFill>
                <a:latin typeface="Consolas"/>
                <a:ea typeface="Consolas"/>
                <a:cs typeface="Consolas"/>
              </a:defRPr>
            </a:lvl7pPr>
            <a:lvl8pPr algn="l">
              <a:buNone/>
              <a:defRPr sz="2625" b="1">
                <a:solidFill>
                  <a:srgbClr val="5751D3"/>
                </a:solidFill>
                <a:latin typeface="Consolas"/>
                <a:ea typeface="Consolas"/>
                <a:cs typeface="Consolas"/>
              </a:defRPr>
            </a:lvl8pPr>
            <a:lvl9pPr algn="l">
              <a:buNone/>
              <a:defRPr sz="2625" b="1">
                <a:solidFill>
                  <a:srgbClr val="5751D3"/>
                </a:solidFill>
                <a:latin typeface="Consolas"/>
                <a:ea typeface="Consolas"/>
                <a:cs typeface="Consolas"/>
              </a:defRPr>
            </a:lvl9pPr>
          </a:lstStyle>
          <a:p xmlns:a="http://schemas.openxmlformats.org/drawingml/2006/main">
            <a:pPr algn="l">
              <a:buNone/>
              <a:defRPr sz="2625" b="1">
                <a:solidFill>
                  <a:srgbClr val="5751D3"/>
                </a:solidFill>
                <a:latin typeface="Consolas"/>
                <a:ea typeface="Consolas"/>
                <a:cs typeface="Consolas"/>
              </a:defRPr>
            </a:pPr>
            <a:r>
              <a:rPr sz="2625" b="1">
                <a:solidFill>
                  <a:srgbClr val="5751D3"/>
                </a:solidFill>
                <a:latin typeface="Consolas"/>
                <a:ea typeface="Consolas"/>
                <a:cs typeface="Consolas"/>
              </a:rPr>
              <a:t>g_j = P(j | c) − 1[j = o]</a:t>
            </a:r>
          </a:p>
        </p:txBody>
      </p:sp>
      <p:sp>
        <p:nvSpPr>
          <p:cNvPr id="5" name="∂L / ∂W_out[j,k] = g_j ·">
            <a:extLst xmlns:a="http://schemas.openxmlformats.org/drawingml/2006/main">
              <a:ext uri="{FF2B5EF4-FFF2-40B4-BE49-F238E27FC236}">
                <a16:creationId xmlns:a16="http://schemas.microsoft.com/office/drawing/2014/main" id="{469AE99F-9718-4535-8F11-A18D4451311C}"/>
              </a:ext>
            </a:extLst>
          </p:cNvPr>
          <p:cNvSpPr>
            <a:spLocks xmlns:a="http://schemas.openxmlformats.org/drawingml/2006/main" noGrp="1"/>
          </p:cNvSpPr>
          <p:nvPr/>
        </p:nvSpPr>
        <p:spPr>
          <a:xfrm xmlns:a="http://schemas.openxmlformats.org/drawingml/2006/main">
            <a:off x="685800" y="2714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1">
                <a:solidFill>
                  <a:srgbClr val="25302B"/>
                </a:solidFill>
                <a:latin typeface="Consolas"/>
                <a:ea typeface="Consolas"/>
                <a:cs typeface="Consolas"/>
              </a:defRPr>
            </a:defPPr>
            <a:lvl1pPr algn="l">
              <a:buNone/>
              <a:defRPr sz="2325" b="1">
                <a:solidFill>
                  <a:srgbClr val="25302B"/>
                </a:solidFill>
                <a:latin typeface="Consolas"/>
                <a:ea typeface="Consolas"/>
                <a:cs typeface="Consolas"/>
              </a:defRPr>
            </a:lvl1pPr>
            <a:lvl2pPr algn="l">
              <a:buNone/>
              <a:defRPr sz="2325" b="1">
                <a:solidFill>
                  <a:srgbClr val="25302B"/>
                </a:solidFill>
                <a:latin typeface="Consolas"/>
                <a:ea typeface="Consolas"/>
                <a:cs typeface="Consolas"/>
              </a:defRPr>
            </a:lvl2pPr>
            <a:lvl3pPr algn="l">
              <a:buNone/>
              <a:defRPr sz="2325" b="1">
                <a:solidFill>
                  <a:srgbClr val="25302B"/>
                </a:solidFill>
                <a:latin typeface="Consolas"/>
                <a:ea typeface="Consolas"/>
                <a:cs typeface="Consolas"/>
              </a:defRPr>
            </a:lvl3pPr>
            <a:lvl4pPr algn="l">
              <a:buNone/>
              <a:defRPr sz="2325" b="1">
                <a:solidFill>
                  <a:srgbClr val="25302B"/>
                </a:solidFill>
                <a:latin typeface="Consolas"/>
                <a:ea typeface="Consolas"/>
                <a:cs typeface="Consolas"/>
              </a:defRPr>
            </a:lvl4pPr>
            <a:lvl5pPr algn="l">
              <a:buNone/>
              <a:defRPr sz="2325" b="1">
                <a:solidFill>
                  <a:srgbClr val="25302B"/>
                </a:solidFill>
                <a:latin typeface="Consolas"/>
                <a:ea typeface="Consolas"/>
                <a:cs typeface="Consolas"/>
              </a:defRPr>
            </a:lvl5pPr>
            <a:lvl6pPr algn="l">
              <a:buNone/>
              <a:defRPr sz="2325" b="1">
                <a:solidFill>
                  <a:srgbClr val="25302B"/>
                </a:solidFill>
                <a:latin typeface="Consolas"/>
                <a:ea typeface="Consolas"/>
                <a:cs typeface="Consolas"/>
              </a:defRPr>
            </a:lvl6pPr>
            <a:lvl7pPr algn="l">
              <a:buNone/>
              <a:defRPr sz="2325" b="1">
                <a:solidFill>
                  <a:srgbClr val="25302B"/>
                </a:solidFill>
                <a:latin typeface="Consolas"/>
                <a:ea typeface="Consolas"/>
                <a:cs typeface="Consolas"/>
              </a:defRPr>
            </a:lvl7pPr>
            <a:lvl8pPr algn="l">
              <a:buNone/>
              <a:defRPr sz="2325" b="1">
                <a:solidFill>
                  <a:srgbClr val="25302B"/>
                </a:solidFill>
                <a:latin typeface="Consolas"/>
                <a:ea typeface="Consolas"/>
                <a:cs typeface="Consolas"/>
              </a:defRPr>
            </a:lvl8pPr>
            <a:lvl9pPr algn="l">
              <a:buNone/>
              <a:defRPr sz="2325" b="1">
                <a:solidFill>
                  <a:srgbClr val="25302B"/>
                </a:solidFill>
                <a:latin typeface="Consolas"/>
                <a:ea typeface="Consolas"/>
                <a:cs typeface="Consolas"/>
              </a:defRPr>
            </a:lvl9pPr>
          </a:lstStyle>
          <a:p xmlns:a="http://schemas.openxmlformats.org/drawingml/2006/main">
            <a:pPr algn="l">
              <a:buNone/>
              <a:defRPr sz="2325" b="1">
                <a:solidFill>
                  <a:srgbClr val="25302B"/>
                </a:solidFill>
                <a:latin typeface="Consolas"/>
                <a:ea typeface="Consolas"/>
                <a:cs typeface="Consolas"/>
              </a:defRPr>
            </a:pPr>
            <a:r>
              <a:rPr sz="2325" b="1">
                <a:solidFill>
                  <a:srgbClr val="25302B"/>
                </a:solidFill>
                <a:latin typeface="Consolas"/>
                <a:ea typeface="Consolas"/>
                <a:cs typeface="Consolas"/>
              </a:rPr>
              <a:t>∂L / ∂W_out[j,k] = g_j · h_c[k]</a:t>
            </a:r>
          </a:p>
        </p:txBody>
      </p:sp>
      <p:sp>
        <p:nvSpPr>
          <p:cNvPr id="6" name="∂L / ∂h_c[k] = Σ_j g_j ·">
            <a:extLst xmlns:a="http://schemas.openxmlformats.org/drawingml/2006/main">
              <a:ext uri="{FF2B5EF4-FFF2-40B4-BE49-F238E27FC236}">
                <a16:creationId xmlns:a16="http://schemas.microsoft.com/office/drawing/2014/main" id="{38685ED6-FA34-442A-8139-31A6BAC877FD}"/>
              </a:ext>
            </a:extLst>
          </p:cNvPr>
          <p:cNvSpPr>
            <a:spLocks xmlns:a="http://schemas.openxmlformats.org/drawingml/2006/main" noGrp="1"/>
          </p:cNvSpPr>
          <p:nvPr/>
        </p:nvSpPr>
        <p:spPr>
          <a:xfrm xmlns:a="http://schemas.openxmlformats.org/drawingml/2006/main">
            <a:off x="685800" y="37433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1">
                <a:solidFill>
                  <a:srgbClr val="25302B"/>
                </a:solidFill>
                <a:latin typeface="Consolas"/>
                <a:ea typeface="Consolas"/>
                <a:cs typeface="Consolas"/>
              </a:defRPr>
            </a:defPPr>
            <a:lvl1pPr algn="l">
              <a:buNone/>
              <a:defRPr sz="2325" b="1">
                <a:solidFill>
                  <a:srgbClr val="25302B"/>
                </a:solidFill>
                <a:latin typeface="Consolas"/>
                <a:ea typeface="Consolas"/>
                <a:cs typeface="Consolas"/>
              </a:defRPr>
            </a:lvl1pPr>
            <a:lvl2pPr algn="l">
              <a:buNone/>
              <a:defRPr sz="2325" b="1">
                <a:solidFill>
                  <a:srgbClr val="25302B"/>
                </a:solidFill>
                <a:latin typeface="Consolas"/>
                <a:ea typeface="Consolas"/>
                <a:cs typeface="Consolas"/>
              </a:defRPr>
            </a:lvl2pPr>
            <a:lvl3pPr algn="l">
              <a:buNone/>
              <a:defRPr sz="2325" b="1">
                <a:solidFill>
                  <a:srgbClr val="25302B"/>
                </a:solidFill>
                <a:latin typeface="Consolas"/>
                <a:ea typeface="Consolas"/>
                <a:cs typeface="Consolas"/>
              </a:defRPr>
            </a:lvl3pPr>
            <a:lvl4pPr algn="l">
              <a:buNone/>
              <a:defRPr sz="2325" b="1">
                <a:solidFill>
                  <a:srgbClr val="25302B"/>
                </a:solidFill>
                <a:latin typeface="Consolas"/>
                <a:ea typeface="Consolas"/>
                <a:cs typeface="Consolas"/>
              </a:defRPr>
            </a:lvl4pPr>
            <a:lvl5pPr algn="l">
              <a:buNone/>
              <a:defRPr sz="2325" b="1">
                <a:solidFill>
                  <a:srgbClr val="25302B"/>
                </a:solidFill>
                <a:latin typeface="Consolas"/>
                <a:ea typeface="Consolas"/>
                <a:cs typeface="Consolas"/>
              </a:defRPr>
            </a:lvl5pPr>
            <a:lvl6pPr algn="l">
              <a:buNone/>
              <a:defRPr sz="2325" b="1">
                <a:solidFill>
                  <a:srgbClr val="25302B"/>
                </a:solidFill>
                <a:latin typeface="Consolas"/>
                <a:ea typeface="Consolas"/>
                <a:cs typeface="Consolas"/>
              </a:defRPr>
            </a:lvl6pPr>
            <a:lvl7pPr algn="l">
              <a:buNone/>
              <a:defRPr sz="2325" b="1">
                <a:solidFill>
                  <a:srgbClr val="25302B"/>
                </a:solidFill>
                <a:latin typeface="Consolas"/>
                <a:ea typeface="Consolas"/>
                <a:cs typeface="Consolas"/>
              </a:defRPr>
            </a:lvl7pPr>
            <a:lvl8pPr algn="l">
              <a:buNone/>
              <a:defRPr sz="2325" b="1">
                <a:solidFill>
                  <a:srgbClr val="25302B"/>
                </a:solidFill>
                <a:latin typeface="Consolas"/>
                <a:ea typeface="Consolas"/>
                <a:cs typeface="Consolas"/>
              </a:defRPr>
            </a:lvl8pPr>
            <a:lvl9pPr algn="l">
              <a:buNone/>
              <a:defRPr sz="2325" b="1">
                <a:solidFill>
                  <a:srgbClr val="25302B"/>
                </a:solidFill>
                <a:latin typeface="Consolas"/>
                <a:ea typeface="Consolas"/>
                <a:cs typeface="Consolas"/>
              </a:defRPr>
            </a:lvl9pPr>
          </a:lstStyle>
          <a:p xmlns:a="http://schemas.openxmlformats.org/drawingml/2006/main">
            <a:pPr algn="l">
              <a:buNone/>
              <a:defRPr sz="2325" b="1">
                <a:solidFill>
                  <a:srgbClr val="25302B"/>
                </a:solidFill>
                <a:latin typeface="Consolas"/>
                <a:ea typeface="Consolas"/>
                <a:cs typeface="Consolas"/>
              </a:defRPr>
            </a:pPr>
            <a:r>
              <a:rPr sz="2325" b="1">
                <a:solidFill>
                  <a:srgbClr val="25302B"/>
                </a:solidFill>
                <a:latin typeface="Consolas"/>
                <a:ea typeface="Consolas"/>
                <a:cs typeface="Consolas"/>
              </a:rPr>
              <a:t>∂L / ∂h_c[k] = Σ_j g_j · W_out[j,k]</a:t>
            </a:r>
          </a:p>
        </p:txBody>
      </p:sp>
      <p:sp>
        <p:nvSpPr>
          <p:cNvPr id="7" name="weight ← weight − learni">
            <a:extLst xmlns:a="http://schemas.openxmlformats.org/drawingml/2006/main">
              <a:ext uri="{FF2B5EF4-FFF2-40B4-BE49-F238E27FC236}">
                <a16:creationId xmlns:a16="http://schemas.microsoft.com/office/drawing/2014/main" id="{A5A542EC-B9ED-480C-90E6-3E39C9F10A02}"/>
              </a:ext>
            </a:extLst>
          </p:cNvPr>
          <p:cNvSpPr>
            <a:spLocks xmlns:a="http://schemas.openxmlformats.org/drawingml/2006/main" noGrp="1"/>
          </p:cNvSpPr>
          <p:nvPr/>
        </p:nvSpPr>
        <p:spPr>
          <a:xfrm xmlns:a="http://schemas.openxmlformats.org/drawingml/2006/main">
            <a:off x="685800" y="50101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75" b="1">
                <a:solidFill>
                  <a:srgbClr val="728C59"/>
                </a:solidFill>
                <a:latin typeface="Consolas"/>
                <a:ea typeface="Consolas"/>
                <a:cs typeface="Consolas"/>
              </a:defRPr>
            </a:defPPr>
            <a:lvl1pPr algn="l">
              <a:buNone/>
              <a:defRPr sz="2175" b="1">
                <a:solidFill>
                  <a:srgbClr val="728C59"/>
                </a:solidFill>
                <a:latin typeface="Consolas"/>
                <a:ea typeface="Consolas"/>
                <a:cs typeface="Consolas"/>
              </a:defRPr>
            </a:lvl1pPr>
            <a:lvl2pPr algn="l">
              <a:buNone/>
              <a:defRPr sz="2175" b="1">
                <a:solidFill>
                  <a:srgbClr val="728C59"/>
                </a:solidFill>
                <a:latin typeface="Consolas"/>
                <a:ea typeface="Consolas"/>
                <a:cs typeface="Consolas"/>
              </a:defRPr>
            </a:lvl2pPr>
            <a:lvl3pPr algn="l">
              <a:buNone/>
              <a:defRPr sz="2175" b="1">
                <a:solidFill>
                  <a:srgbClr val="728C59"/>
                </a:solidFill>
                <a:latin typeface="Consolas"/>
                <a:ea typeface="Consolas"/>
                <a:cs typeface="Consolas"/>
              </a:defRPr>
            </a:lvl3pPr>
            <a:lvl4pPr algn="l">
              <a:buNone/>
              <a:defRPr sz="2175" b="1">
                <a:solidFill>
                  <a:srgbClr val="728C59"/>
                </a:solidFill>
                <a:latin typeface="Consolas"/>
                <a:ea typeface="Consolas"/>
                <a:cs typeface="Consolas"/>
              </a:defRPr>
            </a:lvl4pPr>
            <a:lvl5pPr algn="l">
              <a:buNone/>
              <a:defRPr sz="2175" b="1">
                <a:solidFill>
                  <a:srgbClr val="728C59"/>
                </a:solidFill>
                <a:latin typeface="Consolas"/>
                <a:ea typeface="Consolas"/>
                <a:cs typeface="Consolas"/>
              </a:defRPr>
            </a:lvl5pPr>
            <a:lvl6pPr algn="l">
              <a:buNone/>
              <a:defRPr sz="2175" b="1">
                <a:solidFill>
                  <a:srgbClr val="728C59"/>
                </a:solidFill>
                <a:latin typeface="Consolas"/>
                <a:ea typeface="Consolas"/>
                <a:cs typeface="Consolas"/>
              </a:defRPr>
            </a:lvl6pPr>
            <a:lvl7pPr algn="l">
              <a:buNone/>
              <a:defRPr sz="2175" b="1">
                <a:solidFill>
                  <a:srgbClr val="728C59"/>
                </a:solidFill>
                <a:latin typeface="Consolas"/>
                <a:ea typeface="Consolas"/>
                <a:cs typeface="Consolas"/>
              </a:defRPr>
            </a:lvl7pPr>
            <a:lvl8pPr algn="l">
              <a:buNone/>
              <a:defRPr sz="2175" b="1">
                <a:solidFill>
                  <a:srgbClr val="728C59"/>
                </a:solidFill>
                <a:latin typeface="Consolas"/>
                <a:ea typeface="Consolas"/>
                <a:cs typeface="Consolas"/>
              </a:defRPr>
            </a:lvl8pPr>
            <a:lvl9pPr algn="l">
              <a:buNone/>
              <a:defRPr sz="2175" b="1">
                <a:solidFill>
                  <a:srgbClr val="728C59"/>
                </a:solidFill>
                <a:latin typeface="Consolas"/>
                <a:ea typeface="Consolas"/>
                <a:cs typeface="Consolas"/>
              </a:defRPr>
            </a:lvl9pPr>
          </a:lstStyle>
          <a:p xmlns:a="http://schemas.openxmlformats.org/drawingml/2006/main">
            <a:pPr algn="l">
              <a:buNone/>
              <a:defRPr sz="2175" b="1">
                <a:solidFill>
                  <a:srgbClr val="728C59"/>
                </a:solidFill>
                <a:latin typeface="Consolas"/>
                <a:ea typeface="Consolas"/>
                <a:cs typeface="Consolas"/>
              </a:defRPr>
            </a:pPr>
            <a:r>
              <a:rPr sz="2175" b="1">
                <a:solidFill>
                  <a:srgbClr val="728C59"/>
                </a:solidFill>
                <a:latin typeface="Consolas"/>
                <a:ea typeface="Consolas"/>
                <a:cs typeface="Consolas"/>
              </a:rPr>
              <a:t>weight ← weight − learning_rate × gradient</a:t>
            </a:r>
          </a:p>
        </p:txBody>
      </p:sp>
    </p:spTree>
    <p:extLst>
      <p:ext uri="{BB962C8B-B14F-4D97-AF65-F5344CB8AC3E}">
        <p14:creationId xmlns:p14="http://schemas.microsoft.com/office/powerpoint/2010/main" val="920229031"/>
      </p:ext>
    </p:extLst>
  </p:cSld>
</p:sld>
</file>

<file path=ppt/slides/slide7.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7" name="DEMO · PYTHON LOOPS">
            <a:extLst xmlns:a="http://schemas.openxmlformats.org/drawingml/2006/main">
              <a:ext uri="{FF2B5EF4-FFF2-40B4-BE49-F238E27FC236}">
                <a16:creationId xmlns:a16="http://schemas.microsoft.com/office/drawing/2014/main" id="{5941557D-6123-4BCC-B11D-27DFC2FE2C5C}"/>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DEMO · PYTHON LOOPS</a:t>
            </a:r>
          </a:p>
        </p:txBody>
      </p:sp>
      <p:sp>
        <p:nvSpPr>
          <p:cNvPr id="2" name="Training repeats the sam">
            <a:extLst xmlns:a="http://schemas.openxmlformats.org/drawingml/2006/main">
              <a:ext uri="{FF2B5EF4-FFF2-40B4-BE49-F238E27FC236}">
                <a16:creationId xmlns:a16="http://schemas.microsoft.com/office/drawing/2014/main" id="{C3AAEC55-B108-44FE-9A59-C8ED4F354055}"/>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Training repeats the same five steps</a:t>
            </a:r>
          </a:p>
        </p:txBody>
      </p:sp>
      <p:sp>
        <p:nvSpPr>
          <p:cNvPr id="3" name="07 / 10">
            <a:extLst xmlns:a="http://schemas.openxmlformats.org/drawingml/2006/main">
              <a:ext uri="{FF2B5EF4-FFF2-40B4-BE49-F238E27FC236}">
                <a16:creationId xmlns:a16="http://schemas.microsoft.com/office/drawing/2014/main" id="{0BB58672-9085-48D9-8056-A4C421E5D9E1}"/>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07 / 10</a:t>
            </a:r>
          </a:p>
        </p:txBody>
      </p:sp>
      <p:sp>
        <p:nvSpPr>
          <p:cNvPr id="4" name="for each epoch:">
            <a:extLst xmlns:a="http://schemas.openxmlformats.org/drawingml/2006/main">
              <a:ext uri="{FF2B5EF4-FFF2-40B4-BE49-F238E27FC236}">
                <a16:creationId xmlns:a16="http://schemas.microsoft.com/office/drawing/2014/main" id="{D8E519D4-A4EA-4D92-B2B8-8CE697AA22E3}"/>
              </a:ext>
            </a:extLst>
          </p:cNvPr>
          <p:cNvSpPr>
            <a:spLocks xmlns:a="http://schemas.openxmlformats.org/drawingml/2006/main" noGrp="1"/>
          </p:cNvSpPr>
          <p:nvPr/>
        </p:nvSpPr>
        <p:spPr>
          <a:xfrm xmlns:a="http://schemas.openxmlformats.org/drawingml/2006/main">
            <a:off x="685800" y="165735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5751D3"/>
                </a:solidFill>
                <a:latin typeface="Consolas"/>
                <a:ea typeface="Consolas"/>
                <a:cs typeface="Consolas"/>
              </a:defRPr>
            </a:defPPr>
            <a:lvl1pPr algn="l">
              <a:buNone/>
              <a:defRPr sz="2250" b="1">
                <a:solidFill>
                  <a:srgbClr val="5751D3"/>
                </a:solidFill>
                <a:latin typeface="Consolas"/>
                <a:ea typeface="Consolas"/>
                <a:cs typeface="Consolas"/>
              </a:defRPr>
            </a:lvl1pPr>
            <a:lvl2pPr algn="l">
              <a:buNone/>
              <a:defRPr sz="2250" b="1">
                <a:solidFill>
                  <a:srgbClr val="5751D3"/>
                </a:solidFill>
                <a:latin typeface="Consolas"/>
                <a:ea typeface="Consolas"/>
                <a:cs typeface="Consolas"/>
              </a:defRPr>
            </a:lvl2pPr>
            <a:lvl3pPr algn="l">
              <a:buNone/>
              <a:defRPr sz="2250" b="1">
                <a:solidFill>
                  <a:srgbClr val="5751D3"/>
                </a:solidFill>
                <a:latin typeface="Consolas"/>
                <a:ea typeface="Consolas"/>
                <a:cs typeface="Consolas"/>
              </a:defRPr>
            </a:lvl3pPr>
            <a:lvl4pPr algn="l">
              <a:buNone/>
              <a:defRPr sz="2250" b="1">
                <a:solidFill>
                  <a:srgbClr val="5751D3"/>
                </a:solidFill>
                <a:latin typeface="Consolas"/>
                <a:ea typeface="Consolas"/>
                <a:cs typeface="Consolas"/>
              </a:defRPr>
            </a:lvl4pPr>
            <a:lvl5pPr algn="l">
              <a:buNone/>
              <a:defRPr sz="2250" b="1">
                <a:solidFill>
                  <a:srgbClr val="5751D3"/>
                </a:solidFill>
                <a:latin typeface="Consolas"/>
                <a:ea typeface="Consolas"/>
                <a:cs typeface="Consolas"/>
              </a:defRPr>
            </a:lvl5pPr>
            <a:lvl6pPr algn="l">
              <a:buNone/>
              <a:defRPr sz="2250" b="1">
                <a:solidFill>
                  <a:srgbClr val="5751D3"/>
                </a:solidFill>
                <a:latin typeface="Consolas"/>
                <a:ea typeface="Consolas"/>
                <a:cs typeface="Consolas"/>
              </a:defRPr>
            </a:lvl6pPr>
            <a:lvl7pPr algn="l">
              <a:buNone/>
              <a:defRPr sz="2250" b="1">
                <a:solidFill>
                  <a:srgbClr val="5751D3"/>
                </a:solidFill>
                <a:latin typeface="Consolas"/>
                <a:ea typeface="Consolas"/>
                <a:cs typeface="Consolas"/>
              </a:defRPr>
            </a:lvl7pPr>
            <a:lvl8pPr algn="l">
              <a:buNone/>
              <a:defRPr sz="2250" b="1">
                <a:solidFill>
                  <a:srgbClr val="5751D3"/>
                </a:solidFill>
                <a:latin typeface="Consolas"/>
                <a:ea typeface="Consolas"/>
                <a:cs typeface="Consolas"/>
              </a:defRPr>
            </a:lvl8pPr>
            <a:lvl9pPr algn="l">
              <a:buNone/>
              <a:defRPr sz="2250" b="1">
                <a:solidFill>
                  <a:srgbClr val="5751D3"/>
                </a:solidFill>
                <a:latin typeface="Consolas"/>
                <a:ea typeface="Consolas"/>
                <a:cs typeface="Consolas"/>
              </a:defRPr>
            </a:lvl9pPr>
          </a:lstStyle>
          <a:p xmlns:a="http://schemas.openxmlformats.org/drawingml/2006/main">
            <a:pPr algn="l">
              <a:buNone/>
              <a:defRPr sz="2250" b="1">
                <a:solidFill>
                  <a:srgbClr val="5751D3"/>
                </a:solidFill>
                <a:latin typeface="Consolas"/>
                <a:ea typeface="Consolas"/>
                <a:cs typeface="Consolas"/>
              </a:defRPr>
            </a:pPr>
            <a:r>
              <a:rPr sz="2250" b="1">
                <a:solidFill>
                  <a:srgbClr val="5751D3"/>
                </a:solidFill>
                <a:latin typeface="Consolas"/>
                <a:ea typeface="Consolas"/>
                <a:cs typeface="Consolas"/>
              </a:rPr>
              <a:t>for each epoch:</a:t>
            </a:r>
          </a:p>
        </p:txBody>
      </p:sp>
      <p:sp>
        <p:nvSpPr>
          <p:cNvPr id="5" name="    shuffle center–conte">
            <a:extLst xmlns:a="http://schemas.openxmlformats.org/drawingml/2006/main">
              <a:ext uri="{FF2B5EF4-FFF2-40B4-BE49-F238E27FC236}">
                <a16:creationId xmlns:a16="http://schemas.microsoft.com/office/drawing/2014/main" id="{66DDB250-2B5A-42D3-8B1F-B2D26580E74D}"/>
              </a:ext>
            </a:extLst>
          </p:cNvPr>
          <p:cNvSpPr>
            <a:spLocks xmlns:a="http://schemas.openxmlformats.org/drawingml/2006/main" noGrp="1"/>
          </p:cNvSpPr>
          <p:nvPr/>
        </p:nvSpPr>
        <p:spPr>
          <a:xfrm xmlns:a="http://schemas.openxmlformats.org/drawingml/2006/main">
            <a:off x="685800" y="2266950"/>
            <a:ext cx="10572750" cy="281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00" b="0">
                <a:solidFill>
                  <a:srgbClr val="25302B"/>
                </a:solidFill>
                <a:latin typeface="Consolas"/>
                <a:ea typeface="Consolas"/>
                <a:cs typeface="Consolas"/>
              </a:defRPr>
            </a:defPPr>
            <a:lvl1pPr algn="l">
              <a:buNone/>
              <a:defRPr sz="2100" b="0">
                <a:solidFill>
                  <a:srgbClr val="25302B"/>
                </a:solidFill>
                <a:latin typeface="Consolas"/>
                <a:ea typeface="Consolas"/>
                <a:cs typeface="Consolas"/>
              </a:defRPr>
            </a:lvl1pPr>
            <a:lvl2pPr algn="l">
              <a:buNone/>
              <a:defRPr sz="2100" b="0">
                <a:solidFill>
                  <a:srgbClr val="25302B"/>
                </a:solidFill>
                <a:latin typeface="Consolas"/>
                <a:ea typeface="Consolas"/>
                <a:cs typeface="Consolas"/>
              </a:defRPr>
            </a:lvl2pPr>
            <a:lvl3pPr algn="l">
              <a:buNone/>
              <a:defRPr sz="2100" b="0">
                <a:solidFill>
                  <a:srgbClr val="25302B"/>
                </a:solidFill>
                <a:latin typeface="Consolas"/>
                <a:ea typeface="Consolas"/>
                <a:cs typeface="Consolas"/>
              </a:defRPr>
            </a:lvl3pPr>
            <a:lvl4pPr algn="l">
              <a:buNone/>
              <a:defRPr sz="2100" b="0">
                <a:solidFill>
                  <a:srgbClr val="25302B"/>
                </a:solidFill>
                <a:latin typeface="Consolas"/>
                <a:ea typeface="Consolas"/>
                <a:cs typeface="Consolas"/>
              </a:defRPr>
            </a:lvl4pPr>
            <a:lvl5pPr algn="l">
              <a:buNone/>
              <a:defRPr sz="2100" b="0">
                <a:solidFill>
                  <a:srgbClr val="25302B"/>
                </a:solidFill>
                <a:latin typeface="Consolas"/>
                <a:ea typeface="Consolas"/>
                <a:cs typeface="Consolas"/>
              </a:defRPr>
            </a:lvl5pPr>
            <a:lvl6pPr algn="l">
              <a:buNone/>
              <a:defRPr sz="2100" b="0">
                <a:solidFill>
                  <a:srgbClr val="25302B"/>
                </a:solidFill>
                <a:latin typeface="Consolas"/>
                <a:ea typeface="Consolas"/>
                <a:cs typeface="Consolas"/>
              </a:defRPr>
            </a:lvl6pPr>
            <a:lvl7pPr algn="l">
              <a:buNone/>
              <a:defRPr sz="2100" b="0">
                <a:solidFill>
                  <a:srgbClr val="25302B"/>
                </a:solidFill>
                <a:latin typeface="Consolas"/>
                <a:ea typeface="Consolas"/>
                <a:cs typeface="Consolas"/>
              </a:defRPr>
            </a:lvl7pPr>
            <a:lvl8pPr algn="l">
              <a:buNone/>
              <a:defRPr sz="2100" b="0">
                <a:solidFill>
                  <a:srgbClr val="25302B"/>
                </a:solidFill>
                <a:latin typeface="Consolas"/>
                <a:ea typeface="Consolas"/>
                <a:cs typeface="Consolas"/>
              </a:defRPr>
            </a:lvl8pPr>
            <a:lvl9pPr algn="l">
              <a:buNone/>
              <a:defRPr sz="2100" b="0">
                <a:solidFill>
                  <a:srgbClr val="25302B"/>
                </a:solidFill>
                <a:latin typeface="Consolas"/>
                <a:ea typeface="Consolas"/>
                <a:cs typeface="Consolas"/>
              </a:defRPr>
            </a:lvl9pPr>
          </a:lstStyle>
          <a:p xmlns:a="http://schemas.openxmlformats.org/drawingml/2006/main">
            <a:pPr algn="l">
              <a:buNone/>
              <a:defRPr sz="2100" b="0">
                <a:solidFill>
                  <a:srgbClr val="25302B"/>
                </a:solidFill>
                <a:latin typeface="Consolas"/>
                <a:ea typeface="Consolas"/>
                <a:cs typeface="Consolas"/>
              </a:defRPr>
            </a:pPr>
            <a:r>
              <a:rPr sz="2100" b="0">
                <a:solidFill>
                  <a:srgbClr val="25302B"/>
                </a:solidFill>
                <a:latin typeface="Consolas"/>
                <a:ea typeface="Consolas"/>
                <a:cs typeface="Consolas"/>
              </a:rPr>
              <a:t>    shuffle center–context pairs</a:t>
            </a:r>
          </a:p>
          <a:p xmlns:a="http://schemas.openxmlformats.org/drawingml/2006/main">
            <a:pPr algn="l">
              <a:buNone/>
              <a:defRPr sz="2100" b="0">
                <a:solidFill>
                  <a:srgbClr val="25302B"/>
                </a:solidFill>
                <a:latin typeface="Consolas"/>
                <a:ea typeface="Consolas"/>
                <a:cs typeface="Consolas"/>
              </a:defRPr>
            </a:pPr>
            <a:r>
              <a:rPr sz="2100" b="0">
                <a:solidFill>
                  <a:srgbClr val="25302B"/>
                </a:solidFill>
                <a:latin typeface="Consolas"/>
                <a:ea typeface="Consolas"/>
                <a:cs typeface="Consolas"/>
              </a:rPr>
              <a:t>    compute 27 dot-product scores</a:t>
            </a:r>
          </a:p>
          <a:p xmlns:a="http://schemas.openxmlformats.org/drawingml/2006/main">
            <a:pPr algn="l">
              <a:buNone/>
              <a:defRPr sz="2100" b="0">
                <a:solidFill>
                  <a:srgbClr val="25302B"/>
                </a:solidFill>
                <a:latin typeface="Consolas"/>
                <a:ea typeface="Consolas"/>
                <a:cs typeface="Consolas"/>
              </a:defRPr>
            </a:pPr>
            <a:r>
              <a:rPr sz="2100" b="0">
                <a:solidFill>
                  <a:srgbClr val="25302B"/>
                </a:solidFill>
                <a:latin typeface="Consolas"/>
                <a:ea typeface="Consolas"/>
                <a:cs typeface="Consolas"/>
              </a:rPr>
              <a:t>    apply full softmax and loss</a:t>
            </a:r>
          </a:p>
          <a:p xmlns:a="http://schemas.openxmlformats.org/drawingml/2006/main">
            <a:pPr algn="l">
              <a:buNone/>
              <a:defRPr sz="2100" b="0">
                <a:solidFill>
                  <a:srgbClr val="25302B"/>
                </a:solidFill>
                <a:latin typeface="Consolas"/>
                <a:ea typeface="Consolas"/>
                <a:cs typeface="Consolas"/>
              </a:defRPr>
            </a:pPr>
            <a:r>
              <a:rPr sz="2100" b="0">
                <a:solidFill>
                  <a:srgbClr val="25302B"/>
                </a:solidFill>
                <a:latin typeface="Consolas"/>
                <a:ea typeface="Consolas"/>
                <a:cs typeface="Consolas"/>
              </a:rPr>
              <a:t>    compute gradients with loops</a:t>
            </a:r>
          </a:p>
          <a:p xmlns:a="http://schemas.openxmlformats.org/drawingml/2006/main">
            <a:pPr algn="l">
              <a:buNone/>
              <a:defRPr sz="2100" b="0">
                <a:solidFill>
                  <a:srgbClr val="25302B"/>
                </a:solidFill>
                <a:latin typeface="Consolas"/>
                <a:ea typeface="Consolas"/>
                <a:cs typeface="Consolas"/>
              </a:defRPr>
            </a:pPr>
            <a:r>
              <a:rPr sz="2100" b="0">
                <a:solidFill>
                  <a:srgbClr val="25302B"/>
                </a:solidFill>
                <a:latin typeface="Consolas"/>
                <a:ea typeface="Consolas"/>
                <a:cs typeface="Consolas"/>
              </a:rPr>
              <a:t>    update W_in and W_out</a:t>
            </a:r>
          </a:p>
        </p:txBody>
      </p:sp>
      <p:sp>
        <p:nvSpPr>
          <p:cNvPr id="6" name="60 epochs · 112 pairs · ">
            <a:extLst xmlns:a="http://schemas.openxmlformats.org/drawingml/2006/main">
              <a:ext uri="{FF2B5EF4-FFF2-40B4-BE49-F238E27FC236}">
                <a16:creationId xmlns:a16="http://schemas.microsoft.com/office/drawing/2014/main" id="{AA3CB727-7CD0-4B13-86D7-90E70BEB8591}"/>
              </a:ext>
            </a:extLst>
          </p:cNvPr>
          <p:cNvSpPr>
            <a:spLocks xmlns:a="http://schemas.openxmlformats.org/drawingml/2006/main" noGrp="1"/>
          </p:cNvSpPr>
          <p:nvPr/>
        </p:nvSpPr>
        <p:spPr>
          <a:xfrm xmlns:a="http://schemas.openxmlformats.org/drawingml/2006/main">
            <a:off x="685800" y="5505450"/>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0">
                <a:solidFill>
                  <a:srgbClr val="718064"/>
                </a:solidFill>
                <a:latin typeface="Microsoft YaHei"/>
                <a:ea typeface="Microsoft YaHei"/>
                <a:cs typeface="Microsoft YaHei"/>
              </a:defRPr>
            </a:defPPr>
            <a:lvl1pPr algn="l">
              <a:buNone/>
              <a:defRPr sz="1800" b="0">
                <a:solidFill>
                  <a:srgbClr val="718064"/>
                </a:solidFill>
                <a:latin typeface="Microsoft YaHei"/>
                <a:ea typeface="Microsoft YaHei"/>
                <a:cs typeface="Microsoft YaHei"/>
              </a:defRPr>
            </a:lvl1pPr>
            <a:lvl2pPr algn="l">
              <a:buNone/>
              <a:defRPr sz="1800" b="0">
                <a:solidFill>
                  <a:srgbClr val="718064"/>
                </a:solidFill>
                <a:latin typeface="Microsoft YaHei"/>
                <a:ea typeface="Microsoft YaHei"/>
                <a:cs typeface="Microsoft YaHei"/>
              </a:defRPr>
            </a:lvl2pPr>
            <a:lvl3pPr algn="l">
              <a:buNone/>
              <a:defRPr sz="1800" b="0">
                <a:solidFill>
                  <a:srgbClr val="718064"/>
                </a:solidFill>
                <a:latin typeface="Microsoft YaHei"/>
                <a:ea typeface="Microsoft YaHei"/>
                <a:cs typeface="Microsoft YaHei"/>
              </a:defRPr>
            </a:lvl3pPr>
            <a:lvl4pPr algn="l">
              <a:buNone/>
              <a:defRPr sz="1800" b="0">
                <a:solidFill>
                  <a:srgbClr val="718064"/>
                </a:solidFill>
                <a:latin typeface="Microsoft YaHei"/>
                <a:ea typeface="Microsoft YaHei"/>
                <a:cs typeface="Microsoft YaHei"/>
              </a:defRPr>
            </a:lvl4pPr>
            <a:lvl5pPr algn="l">
              <a:buNone/>
              <a:defRPr sz="1800" b="0">
                <a:solidFill>
                  <a:srgbClr val="718064"/>
                </a:solidFill>
                <a:latin typeface="Microsoft YaHei"/>
                <a:ea typeface="Microsoft YaHei"/>
                <a:cs typeface="Microsoft YaHei"/>
              </a:defRPr>
            </a:lvl5pPr>
            <a:lvl6pPr algn="l">
              <a:buNone/>
              <a:defRPr sz="1800" b="0">
                <a:solidFill>
                  <a:srgbClr val="718064"/>
                </a:solidFill>
                <a:latin typeface="Microsoft YaHei"/>
                <a:ea typeface="Microsoft YaHei"/>
                <a:cs typeface="Microsoft YaHei"/>
              </a:defRPr>
            </a:lvl6pPr>
            <a:lvl7pPr algn="l">
              <a:buNone/>
              <a:defRPr sz="1800" b="0">
                <a:solidFill>
                  <a:srgbClr val="718064"/>
                </a:solidFill>
                <a:latin typeface="Microsoft YaHei"/>
                <a:ea typeface="Microsoft YaHei"/>
                <a:cs typeface="Microsoft YaHei"/>
              </a:defRPr>
            </a:lvl7pPr>
            <a:lvl8pPr algn="l">
              <a:buNone/>
              <a:defRPr sz="1800" b="0">
                <a:solidFill>
                  <a:srgbClr val="718064"/>
                </a:solidFill>
                <a:latin typeface="Microsoft YaHei"/>
                <a:ea typeface="Microsoft YaHei"/>
                <a:cs typeface="Microsoft YaHei"/>
              </a:defRPr>
            </a:lvl8pPr>
            <a:lvl9pPr algn="l">
              <a:buNone/>
              <a:defRPr sz="1800" b="0">
                <a:solidFill>
                  <a:srgbClr val="718064"/>
                </a:solidFill>
                <a:latin typeface="Microsoft YaHei"/>
                <a:ea typeface="Microsoft YaHei"/>
                <a:cs typeface="Microsoft YaHei"/>
              </a:defRPr>
            </a:lvl9pPr>
          </a:lstStyle>
          <a:p xmlns:a="http://schemas.openxmlformats.org/drawingml/2006/main">
            <a:pPr algn="l">
              <a:buNone/>
              <a:defRPr sz="1800" b="0">
                <a:solidFill>
                  <a:srgbClr val="718064"/>
                </a:solidFill>
                <a:latin typeface="Microsoft YaHei"/>
                <a:ea typeface="Microsoft YaHei"/>
                <a:cs typeface="Microsoft YaHei"/>
              </a:defRPr>
            </a:pPr>
            <a:r>
              <a:rPr sz="1800" b="0">
                <a:solidFill>
                  <a:srgbClr val="718064"/>
                </a:solidFill>
                <a:latin typeface="Microsoft YaHei"/>
                <a:ea typeface="Microsoft YaHei"/>
                <a:cs typeface="Microsoft YaHei"/>
              </a:rPr>
              <a:t>60 epochs · 112 pairs · 27-word vocabulary · d = 8</a:t>
            </a:r>
          </a:p>
        </p:txBody>
      </p:sp>
    </p:spTree>
    <p:extLst>
      <p:ext uri="{BB962C8B-B14F-4D97-AF65-F5344CB8AC3E}">
        <p14:creationId xmlns:p14="http://schemas.microsoft.com/office/powerpoint/2010/main" val="1639584166"/>
      </p:ext>
    </p:extLst>
  </p:cSld>
</p:sld>
</file>

<file path=ppt/slides/slide8.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6" name="EXPERIMENT · LEARNING CU">
            <a:extLst xmlns:a="http://schemas.openxmlformats.org/drawingml/2006/main">
              <a:ext uri="{FF2B5EF4-FFF2-40B4-BE49-F238E27FC236}">
                <a16:creationId xmlns:a16="http://schemas.microsoft.com/office/drawing/2014/main" id="{1FB21D93-B470-4BC5-BFC9-B97FA546B4FF}"/>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EXPERIMENT · LEARNING CURVE</a:t>
            </a:r>
          </a:p>
        </p:txBody>
      </p:sp>
      <p:sp>
        <p:nvSpPr>
          <p:cNvPr id="2" name="Training loss falls acro">
            <a:extLst xmlns:a="http://schemas.openxmlformats.org/drawingml/2006/main">
              <a:ext uri="{FF2B5EF4-FFF2-40B4-BE49-F238E27FC236}">
                <a16:creationId xmlns:a16="http://schemas.microsoft.com/office/drawing/2014/main" id="{8659C4B4-D24C-40F4-B7B6-896D9FC2D00C}"/>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Training loss falls across 60 epochs</a:t>
            </a:r>
          </a:p>
        </p:txBody>
      </p:sp>
      <p:sp>
        <p:nvSpPr>
          <p:cNvPr id="3" name="08 / 10">
            <a:extLst xmlns:a="http://schemas.openxmlformats.org/drawingml/2006/main">
              <a:ext uri="{FF2B5EF4-FFF2-40B4-BE49-F238E27FC236}">
                <a16:creationId xmlns:a16="http://schemas.microsoft.com/office/drawing/2014/main" id="{9DB02C6C-EA3A-4C94-A4E0-AF6F636DFCA6}"/>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08 / 10</a:t>
            </a:r>
          </a:p>
        </p:txBody>
      </p:sp>
      <p:graphicFrame>
        <p:nvGraphicFramePr>
          <p:cNvPr id="4" name="Chart">
            <a:extLst xmlns:a="http://schemas.openxmlformats.org/drawingml/2006/main">
              <a:ext uri="{FF2B5EF4-FFF2-40B4-BE49-F238E27FC236}">
                <a16:creationId xmlns:a16="http://schemas.microsoft.com/office/drawing/2014/main" id="{05730DF0-9BE9-4D1B-ADBA-4B3D6E2B3885}"/>
              </a:ext>
            </a:extLst>
          </p:cNvPr>
          <p:cNvGraphicFramePr/>
          <p:nvPr/>
        </p:nvGraphicFramePr>
        <p:xfrm>
          <a:off xmlns:a="http://schemas.openxmlformats.org/drawingml/2006/main" x="1000125" y="1743075"/>
          <a:ext xmlns:a="http://schemas.openxmlformats.org/drawingml/2006/main" cx="9906000" cy="3486150"/>
        </p:xfrm>
        <a:graphic xmlns:a="http://schemas.openxmlformats.org/drawingml/2006/main">
          <a:graphicData uri="http://schemas.openxmlformats.org/drawingml/2006/chart">
            <c:chart xmlns:r="http://schemas.openxmlformats.org/officeDocument/2006/relationships" xmlns:c="http://schemas.openxmlformats.org/drawingml/2006/chart" r:id="Rd81608318aea4eee"/>
          </a:graphicData>
        </a:graphic>
      </p:graphicFrame>
      <p:sp>
        <p:nvSpPr>
          <p:cNvPr id="5" name="3.296 → 1.029 mean loss ">
            <a:extLst xmlns:a="http://schemas.openxmlformats.org/drawingml/2006/main">
              <a:ext uri="{FF2B5EF4-FFF2-40B4-BE49-F238E27FC236}">
                <a16:creationId xmlns:a16="http://schemas.microsoft.com/office/drawing/2014/main" id="{3AEF1E57-C81A-4ACD-BB5D-353FA48F40EA}"/>
              </a:ext>
            </a:extLst>
          </p:cNvPr>
          <p:cNvSpPr>
            <a:spLocks xmlns:a="http://schemas.openxmlformats.org/drawingml/2006/main" noGrp="1"/>
          </p:cNvSpPr>
          <p:nvPr/>
        </p:nvSpPr>
        <p:spPr>
          <a:xfrm xmlns:a="http://schemas.openxmlformats.org/drawingml/2006/main">
            <a:off x="685800" y="55054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25302B"/>
                </a:solidFill>
                <a:latin typeface="Microsoft YaHei"/>
                <a:ea typeface="Microsoft YaHei"/>
                <a:cs typeface="Microsoft YaHei"/>
              </a:defRPr>
            </a:defPPr>
            <a:lvl1pPr algn="l">
              <a:buNone/>
              <a:defRPr sz="2025" b="1">
                <a:solidFill>
                  <a:srgbClr val="25302B"/>
                </a:solidFill>
                <a:latin typeface="Microsoft YaHei"/>
                <a:ea typeface="Microsoft YaHei"/>
                <a:cs typeface="Microsoft YaHei"/>
              </a:defRPr>
            </a:lvl1pPr>
            <a:lvl2pPr algn="l">
              <a:buNone/>
              <a:defRPr sz="2025" b="1">
                <a:solidFill>
                  <a:srgbClr val="25302B"/>
                </a:solidFill>
                <a:latin typeface="Microsoft YaHei"/>
                <a:ea typeface="Microsoft YaHei"/>
                <a:cs typeface="Microsoft YaHei"/>
              </a:defRPr>
            </a:lvl2pPr>
            <a:lvl3pPr algn="l">
              <a:buNone/>
              <a:defRPr sz="2025" b="1">
                <a:solidFill>
                  <a:srgbClr val="25302B"/>
                </a:solidFill>
                <a:latin typeface="Microsoft YaHei"/>
                <a:ea typeface="Microsoft YaHei"/>
                <a:cs typeface="Microsoft YaHei"/>
              </a:defRPr>
            </a:lvl3pPr>
            <a:lvl4pPr algn="l">
              <a:buNone/>
              <a:defRPr sz="2025" b="1">
                <a:solidFill>
                  <a:srgbClr val="25302B"/>
                </a:solidFill>
                <a:latin typeface="Microsoft YaHei"/>
                <a:ea typeface="Microsoft YaHei"/>
                <a:cs typeface="Microsoft YaHei"/>
              </a:defRPr>
            </a:lvl4pPr>
            <a:lvl5pPr algn="l">
              <a:buNone/>
              <a:defRPr sz="2025" b="1">
                <a:solidFill>
                  <a:srgbClr val="25302B"/>
                </a:solidFill>
                <a:latin typeface="Microsoft YaHei"/>
                <a:ea typeface="Microsoft YaHei"/>
                <a:cs typeface="Microsoft YaHei"/>
              </a:defRPr>
            </a:lvl5pPr>
            <a:lvl6pPr algn="l">
              <a:buNone/>
              <a:defRPr sz="2025" b="1">
                <a:solidFill>
                  <a:srgbClr val="25302B"/>
                </a:solidFill>
                <a:latin typeface="Microsoft YaHei"/>
                <a:ea typeface="Microsoft YaHei"/>
                <a:cs typeface="Microsoft YaHei"/>
              </a:defRPr>
            </a:lvl6pPr>
            <a:lvl7pPr algn="l">
              <a:buNone/>
              <a:defRPr sz="2025" b="1">
                <a:solidFill>
                  <a:srgbClr val="25302B"/>
                </a:solidFill>
                <a:latin typeface="Microsoft YaHei"/>
                <a:ea typeface="Microsoft YaHei"/>
                <a:cs typeface="Microsoft YaHei"/>
              </a:defRPr>
            </a:lvl7pPr>
            <a:lvl8pPr algn="l">
              <a:buNone/>
              <a:defRPr sz="2025" b="1">
                <a:solidFill>
                  <a:srgbClr val="25302B"/>
                </a:solidFill>
                <a:latin typeface="Microsoft YaHei"/>
                <a:ea typeface="Microsoft YaHei"/>
                <a:cs typeface="Microsoft YaHei"/>
              </a:defRPr>
            </a:lvl8pPr>
            <a:lvl9pPr algn="l">
              <a:buNone/>
              <a:defRPr sz="2025" b="1">
                <a:solidFill>
                  <a:srgbClr val="25302B"/>
                </a:solidFill>
                <a:latin typeface="Microsoft YaHei"/>
                <a:ea typeface="Microsoft YaHei"/>
                <a:cs typeface="Microsoft YaHei"/>
              </a:defRPr>
            </a:lvl9pPr>
          </a:lstStyle>
          <a:p xmlns:a="http://schemas.openxmlformats.org/drawingml/2006/main">
            <a:pPr algn="l">
              <a:buNone/>
              <a:defRPr sz="2025" b="1">
                <a:solidFill>
                  <a:srgbClr val="25302B"/>
                </a:solidFill>
                <a:latin typeface="Microsoft YaHei"/>
                <a:ea typeface="Microsoft YaHei"/>
                <a:cs typeface="Microsoft YaHei"/>
              </a:defRPr>
            </a:pPr>
            <a:r>
              <a:rPr sz="2025" b="1">
                <a:solidFill>
                  <a:srgbClr val="25302B"/>
                </a:solidFill>
                <a:latin typeface="Microsoft YaHei"/>
                <a:ea typeface="Microsoft YaHei"/>
                <a:cs typeface="Microsoft YaHei"/>
              </a:rPr>
              <a:t>3.296 → 1.029 mean loss on the training pairs</a:t>
            </a:r>
          </a:p>
        </p:txBody>
      </p:sp>
    </p:spTree>
    <p:extLst>
      <p:ext uri="{BB962C8B-B14F-4D97-AF65-F5344CB8AC3E}">
        <p14:creationId xmlns:p14="http://schemas.microsoft.com/office/powerpoint/2010/main" val="1617556589"/>
      </p:ext>
    </p:extLst>
  </p:cSld>
</p:sld>
</file>

<file path=ppt/slides/slide9.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7" name="EXPERIMENT · VARY d">
            <a:extLst xmlns:a="http://schemas.openxmlformats.org/drawingml/2006/main">
              <a:ext uri="{FF2B5EF4-FFF2-40B4-BE49-F238E27FC236}">
                <a16:creationId xmlns:a16="http://schemas.microsoft.com/office/drawing/2014/main" id="{5180EA3B-6D28-411D-AEC2-EE3E13988B3E}"/>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EXPERIMENT · VARY d</a:t>
            </a:r>
          </a:p>
        </p:txBody>
      </p:sp>
      <p:sp>
        <p:nvSpPr>
          <p:cNvPr id="2" name="Embedding size changes m">
            <a:extLst xmlns:a="http://schemas.openxmlformats.org/drawingml/2006/main">
              <a:ext uri="{FF2B5EF4-FFF2-40B4-BE49-F238E27FC236}">
                <a16:creationId xmlns:a16="http://schemas.microsoft.com/office/drawing/2014/main" id="{06A52BEF-C40E-4772-AB86-8A98A8A34C7C}"/>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Embedding size changes model capacity</a:t>
            </a:r>
          </a:p>
        </p:txBody>
      </p:sp>
      <p:sp>
        <p:nvSpPr>
          <p:cNvPr id="3" name="09 / 10">
            <a:extLst xmlns:a="http://schemas.openxmlformats.org/drawingml/2006/main">
              <a:ext uri="{FF2B5EF4-FFF2-40B4-BE49-F238E27FC236}">
                <a16:creationId xmlns:a16="http://schemas.microsoft.com/office/drawing/2014/main" id="{E8772602-D2E8-49DC-AD45-F0A6B7699806}"/>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09 / 10</a:t>
            </a:r>
          </a:p>
        </p:txBody>
      </p:sp>
      <p:graphicFrame>
        <p:nvGraphicFramePr>
          <p:cNvPr id="4" name="">
            <a:extLst xmlns:a="http://schemas.openxmlformats.org/drawingml/2006/main">
              <a:ext uri="{FF2B5EF4-FFF2-40B4-BE49-F238E27FC236}">
                <a16:creationId xmlns:a16="http://schemas.microsoft.com/office/drawing/2014/main" id="{65D5B6DF-25FB-4E7B-AAE6-09DC03C94B23}"/>
              </a:ext>
            </a:extLst>
          </p:cNvPr>
          <p:cNvGraphicFramePr/>
          <p:nvPr/>
        </p:nvGraphicFramePr>
        <p:xfrm>
          <a:off xmlns:a="http://schemas.openxmlformats.org/drawingml/2006/main" x="685800" y="2057400"/>
          <a:ext xmlns:a="http://schemas.openxmlformats.org/drawingml/2006/main" cx="10763250" cy="2209800"/>
        </p:xfrm>
        <a:graphic xmlns:a="http://schemas.openxmlformats.org/drawingml/2006/main">
          <a:graphicData uri="http://schemas.openxmlformats.org/drawingml/2006/table">
            <a:tbl>
              <a:tblPr firstRow="1"/>
              <a:tblGrid>
                <a:gridCol w="2690813"/>
                <a:gridCol w="2690813"/>
                <a:gridCol w="2690813"/>
                <a:gridCol w="2690813"/>
              </a:tblGrid>
              <a:tr h="736600">
                <a:tc>
                  <a:txBody>
                    <a:bodyPr/>
                    <a:lstStyle/>
                    <a:p>
                      <a:r>
                        <a:rPr sz="1650" b="1">
                          <a:solidFill>
                            <a:srgbClr val="FFFFFF"/>
                          </a:solidFill>
                          <a:latin typeface="Microsoft YaHei"/>
                          <a:ea typeface="Microsoft YaHei"/>
                          <a:cs typeface="Microsoft YaHei"/>
                        </a:rPr>
                        <a:t>Embedding size d</a:t>
                      </a:r>
                    </a:p>
                  </a:txBody>
                  <a:tcPr marL="91440" marR="91440" marT="45720" marB="45720">
                    <a:lnL w="9525">
                      <a:solidFill>
                        <a:srgbClr val="DCE1D3"/>
                      </a:solidFill>
                      <a:prstDash val="solid"/>
                    </a:lnL>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Parameters 2Vd</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Initial loss</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c>
                  <a:txBody>
                    <a:bodyPr/>
                    <a:lstStyle/>
                    <a:p>
                      <a:r>
                        <a:rPr sz="1650" b="1">
                          <a:solidFill>
                            <a:srgbClr val="FFFFFF"/>
                          </a:solidFill>
                          <a:latin typeface="Microsoft YaHei"/>
                          <a:ea typeface="Microsoft YaHei"/>
                          <a:cs typeface="Microsoft YaHei"/>
                        </a:rPr>
                        <a:t>Final loss</a:t>
                      </a:r>
                    </a:p>
                  </a:txBody>
                  <a:tcPr marL="91440" marR="91440" marT="45720" marB="45720">
                    <a:lnR w="9525">
                      <a:solidFill>
                        <a:srgbClr val="DCE1D3"/>
                      </a:solidFill>
                      <a:prstDash val="solid"/>
                    </a:lnR>
                    <a:lnT w="9525">
                      <a:solidFill>
                        <a:srgbClr val="DCE1D3"/>
                      </a:solidFill>
                      <a:prstDash val="solid"/>
                    </a:lnT>
                    <a:lnB w="9525">
                      <a:solidFill>
                        <a:srgbClr val="DCE1D3"/>
                      </a:solidFill>
                      <a:prstDash val="solid"/>
                    </a:lnB>
                    <a:solidFill>
                      <a:srgbClr val="25362D"/>
                    </a:solidFill>
                  </a:tcPr>
                </a:tc>
              </a:tr>
              <a:tr h="736600">
                <a:tc>
                  <a:txBody>
                    <a:bodyPr/>
                    <a:lstStyle/>
                    <a:p>
                      <a:r>
                        <a:rPr sz="1650" b="0">
                          <a:solidFill>
                            <a:srgbClr val="25302B"/>
                          </a:solidFill>
                          <a:latin typeface="Microsoft YaHei"/>
                          <a:ea typeface="Microsoft YaHei"/>
                          <a:cs typeface="Microsoft YaHei"/>
                        </a:rPr>
                        <a:t>2</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108</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3.3020</a:t>
                      </a:r>
                    </a:p>
                  </a:txBody>
                  <a:tcPr marL="91440" marR="91440" marT="45720" marB="45720">
                    <a:lnR w="9525">
                      <a:solidFill>
                        <a:srgbClr val="DCE1D3"/>
                      </a:solidFill>
                      <a:prstDash val="solid"/>
                    </a:lnR>
                    <a:lnB w="9525">
                      <a:solidFill>
                        <a:srgbClr val="DCE1D3"/>
                      </a:solidFill>
                      <a:prstDash val="solid"/>
                    </a:lnB>
                    <a:solidFill>
                      <a:srgbClr val="F6F6EF"/>
                    </a:solidFill>
                  </a:tcPr>
                </a:tc>
                <a:tc>
                  <a:txBody>
                    <a:bodyPr/>
                    <a:lstStyle/>
                    <a:p>
                      <a:r>
                        <a:rPr sz="1650" b="0">
                          <a:solidFill>
                            <a:srgbClr val="25302B"/>
                          </a:solidFill>
                          <a:latin typeface="Microsoft YaHei"/>
                          <a:ea typeface="Microsoft YaHei"/>
                          <a:cs typeface="Microsoft YaHei"/>
                        </a:rPr>
                        <a:t>1.3035</a:t>
                      </a:r>
                    </a:p>
                  </a:txBody>
                  <a:tcPr marL="91440" marR="91440" marT="45720" marB="45720">
                    <a:lnR w="9525">
                      <a:solidFill>
                        <a:srgbClr val="DCE1D3"/>
                      </a:solidFill>
                      <a:prstDash val="solid"/>
                    </a:lnR>
                    <a:lnB w="9525">
                      <a:solidFill>
                        <a:srgbClr val="DCE1D3"/>
                      </a:solidFill>
                      <a:prstDash val="solid"/>
                    </a:lnB>
                    <a:solidFill>
                      <a:srgbClr val="F6F6EF"/>
                    </a:solidFill>
                  </a:tcPr>
                </a:tc>
              </a:tr>
              <a:tr h="736600">
                <a:tc>
                  <a:txBody>
                    <a:bodyPr/>
                    <a:lstStyle/>
                    <a:p>
                      <a:r>
                        <a:rPr sz="1650" b="1">
                          <a:solidFill>
                            <a:srgbClr val="5751D3"/>
                          </a:solidFill>
                          <a:latin typeface="Microsoft YaHei"/>
                          <a:ea typeface="Microsoft YaHei"/>
                          <a:cs typeface="Microsoft YaHei"/>
                        </a:rPr>
                        <a:t>8</a:t>
                      </a:r>
                    </a:p>
                  </a:txBody>
                  <a:tcPr marL="91440" marR="91440" marT="45720" marB="45720">
                    <a:lnL w="9525">
                      <a:solidFill>
                        <a:srgbClr val="DCE1D3"/>
                      </a:solidFill>
                      <a:prstDash val="solid"/>
                    </a:lnL>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432</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3.2964</a:t>
                      </a:r>
                    </a:p>
                  </a:txBody>
                  <a:tcPr marL="91440" marR="91440" marT="45720" marB="45720">
                    <a:lnR w="9525">
                      <a:solidFill>
                        <a:srgbClr val="DCE1D3"/>
                      </a:solidFill>
                      <a:prstDash val="solid"/>
                    </a:lnR>
                    <a:lnB w="9525">
                      <a:solidFill>
                        <a:srgbClr val="DCE1D3"/>
                      </a:solidFill>
                      <a:prstDash val="solid"/>
                    </a:lnB>
                    <a:solidFill>
                      <a:srgbClr val="EDEFE7"/>
                    </a:solidFill>
                  </a:tcPr>
                </a:tc>
                <a:tc>
                  <a:txBody>
                    <a:bodyPr/>
                    <a:lstStyle/>
                    <a:p>
                      <a:r>
                        <a:rPr sz="1650" b="1">
                          <a:solidFill>
                            <a:srgbClr val="5751D3"/>
                          </a:solidFill>
                          <a:latin typeface="Microsoft YaHei"/>
                          <a:ea typeface="Microsoft YaHei"/>
                          <a:cs typeface="Microsoft YaHei"/>
                        </a:rPr>
                        <a:t>1.0287</a:t>
                      </a:r>
                    </a:p>
                  </a:txBody>
                  <a:tcPr marL="91440" marR="91440" marT="45720" marB="45720">
                    <a:lnR w="9525">
                      <a:solidFill>
                        <a:srgbClr val="DCE1D3"/>
                      </a:solidFill>
                      <a:prstDash val="solid"/>
                    </a:lnR>
                    <a:lnB w="9525">
                      <a:solidFill>
                        <a:srgbClr val="DCE1D3"/>
                      </a:solidFill>
                      <a:prstDash val="solid"/>
                    </a:lnB>
                    <a:solidFill>
                      <a:srgbClr val="EDEFE7"/>
                    </a:solidFill>
                  </a:tcPr>
                </a:tc>
              </a:tr>
            </a:tbl>
          </a:graphicData>
        </a:graphic>
      </p:graphicFrame>
      <p:sp>
        <p:nvSpPr>
          <p:cNvPr id="5" name="Same pairs, learning rat">
            <a:extLst xmlns:a="http://schemas.openxmlformats.org/drawingml/2006/main">
              <a:ext uri="{FF2B5EF4-FFF2-40B4-BE49-F238E27FC236}">
                <a16:creationId xmlns:a16="http://schemas.microsoft.com/office/drawing/2014/main" id="{82A755F8-36B7-42AE-B191-045E0CDC6A54}"/>
              </a:ext>
            </a:extLst>
          </p:cNvPr>
          <p:cNvSpPr>
            <a:spLocks xmlns:a="http://schemas.openxmlformats.org/drawingml/2006/main" noGrp="1"/>
          </p:cNvSpPr>
          <p:nvPr/>
        </p:nvSpPr>
        <p:spPr>
          <a:xfrm xmlns:a="http://schemas.openxmlformats.org/drawingml/2006/main">
            <a:off x="685800" y="465772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718064"/>
                </a:solidFill>
                <a:latin typeface="Microsoft YaHei"/>
                <a:ea typeface="Microsoft YaHei"/>
                <a:cs typeface="Microsoft YaHei"/>
              </a:defRPr>
            </a:defPPr>
            <a:lvl1pPr algn="l">
              <a:buNone/>
              <a:defRPr sz="1950" b="0">
                <a:solidFill>
                  <a:srgbClr val="718064"/>
                </a:solidFill>
                <a:latin typeface="Microsoft YaHei"/>
                <a:ea typeface="Microsoft YaHei"/>
                <a:cs typeface="Microsoft YaHei"/>
              </a:defRPr>
            </a:lvl1pPr>
            <a:lvl2pPr algn="l">
              <a:buNone/>
              <a:defRPr sz="1950" b="0">
                <a:solidFill>
                  <a:srgbClr val="718064"/>
                </a:solidFill>
                <a:latin typeface="Microsoft YaHei"/>
                <a:ea typeface="Microsoft YaHei"/>
                <a:cs typeface="Microsoft YaHei"/>
              </a:defRPr>
            </a:lvl2pPr>
            <a:lvl3pPr algn="l">
              <a:buNone/>
              <a:defRPr sz="1950" b="0">
                <a:solidFill>
                  <a:srgbClr val="718064"/>
                </a:solidFill>
                <a:latin typeface="Microsoft YaHei"/>
                <a:ea typeface="Microsoft YaHei"/>
                <a:cs typeface="Microsoft YaHei"/>
              </a:defRPr>
            </a:lvl3pPr>
            <a:lvl4pPr algn="l">
              <a:buNone/>
              <a:defRPr sz="1950" b="0">
                <a:solidFill>
                  <a:srgbClr val="718064"/>
                </a:solidFill>
                <a:latin typeface="Microsoft YaHei"/>
                <a:ea typeface="Microsoft YaHei"/>
                <a:cs typeface="Microsoft YaHei"/>
              </a:defRPr>
            </a:lvl4pPr>
            <a:lvl5pPr algn="l">
              <a:buNone/>
              <a:defRPr sz="1950" b="0">
                <a:solidFill>
                  <a:srgbClr val="718064"/>
                </a:solidFill>
                <a:latin typeface="Microsoft YaHei"/>
                <a:ea typeface="Microsoft YaHei"/>
                <a:cs typeface="Microsoft YaHei"/>
              </a:defRPr>
            </a:lvl5pPr>
            <a:lvl6pPr algn="l">
              <a:buNone/>
              <a:defRPr sz="1950" b="0">
                <a:solidFill>
                  <a:srgbClr val="718064"/>
                </a:solidFill>
                <a:latin typeface="Microsoft YaHei"/>
                <a:ea typeface="Microsoft YaHei"/>
                <a:cs typeface="Microsoft YaHei"/>
              </a:defRPr>
            </a:lvl6pPr>
            <a:lvl7pPr algn="l">
              <a:buNone/>
              <a:defRPr sz="1950" b="0">
                <a:solidFill>
                  <a:srgbClr val="718064"/>
                </a:solidFill>
                <a:latin typeface="Microsoft YaHei"/>
                <a:ea typeface="Microsoft YaHei"/>
                <a:cs typeface="Microsoft YaHei"/>
              </a:defRPr>
            </a:lvl7pPr>
            <a:lvl8pPr algn="l">
              <a:buNone/>
              <a:defRPr sz="1950" b="0">
                <a:solidFill>
                  <a:srgbClr val="718064"/>
                </a:solidFill>
                <a:latin typeface="Microsoft YaHei"/>
                <a:ea typeface="Microsoft YaHei"/>
                <a:cs typeface="Microsoft YaHei"/>
              </a:defRPr>
            </a:lvl8pPr>
            <a:lvl9pPr algn="l">
              <a:buNone/>
              <a:defRPr sz="1950" b="0">
                <a:solidFill>
                  <a:srgbClr val="718064"/>
                </a:solidFill>
                <a:latin typeface="Microsoft YaHei"/>
                <a:ea typeface="Microsoft YaHei"/>
                <a:cs typeface="Microsoft YaHei"/>
              </a:defRPr>
            </a:lvl9pPr>
          </a:lstStyle>
          <a:p xmlns:a="http://schemas.openxmlformats.org/drawingml/2006/main">
            <a:pPr algn="l">
              <a:buNone/>
              <a:defRPr sz="1950" b="0">
                <a:solidFill>
                  <a:srgbClr val="718064"/>
                </a:solidFill>
                <a:latin typeface="Microsoft YaHei"/>
                <a:ea typeface="Microsoft YaHei"/>
                <a:cs typeface="Microsoft YaHei"/>
              </a:defRPr>
            </a:pPr>
            <a:r>
              <a:rPr sz="1950" b="0">
                <a:solidFill>
                  <a:srgbClr val="718064"/>
                </a:solidFill>
                <a:latin typeface="Microsoft YaHei"/>
                <a:ea typeface="Microsoft YaHei"/>
                <a:cs typeface="Microsoft YaHei"/>
              </a:rPr>
              <a:t>Same pairs, learning rate, epochs, and seed</a:t>
            </a:r>
          </a:p>
        </p:txBody>
      </p:sp>
      <p:sp>
        <p:nvSpPr>
          <p:cNvPr id="6" name="Larger d fits this small">
            <a:extLst xmlns:a="http://schemas.openxmlformats.org/drawingml/2006/main">
              <a:ext uri="{FF2B5EF4-FFF2-40B4-BE49-F238E27FC236}">
                <a16:creationId xmlns:a16="http://schemas.microsoft.com/office/drawing/2014/main" id="{825BB580-EA81-4663-B48F-16B557396B95}"/>
              </a:ext>
            </a:extLst>
          </p:cNvPr>
          <p:cNvSpPr>
            <a:spLocks xmlns:a="http://schemas.openxmlformats.org/drawingml/2006/main" noGrp="1"/>
          </p:cNvSpPr>
          <p:nvPr/>
        </p:nvSpPr>
        <p:spPr>
          <a:xfrm xmlns:a="http://schemas.openxmlformats.org/drawingml/2006/main">
            <a:off x="685800" y="5305425"/>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1">
                <a:solidFill>
                  <a:srgbClr val="25302B"/>
                </a:solidFill>
                <a:latin typeface="Microsoft YaHei"/>
                <a:ea typeface="Microsoft YaHei"/>
                <a:cs typeface="Microsoft YaHei"/>
              </a:defRPr>
            </a:defPPr>
            <a:lvl1pPr algn="l">
              <a:buNone/>
              <a:defRPr sz="1950" b="1">
                <a:solidFill>
                  <a:srgbClr val="25302B"/>
                </a:solidFill>
                <a:latin typeface="Microsoft YaHei"/>
                <a:ea typeface="Microsoft YaHei"/>
                <a:cs typeface="Microsoft YaHei"/>
              </a:defRPr>
            </a:lvl1pPr>
            <a:lvl2pPr algn="l">
              <a:buNone/>
              <a:defRPr sz="1950" b="1">
                <a:solidFill>
                  <a:srgbClr val="25302B"/>
                </a:solidFill>
                <a:latin typeface="Microsoft YaHei"/>
                <a:ea typeface="Microsoft YaHei"/>
                <a:cs typeface="Microsoft YaHei"/>
              </a:defRPr>
            </a:lvl2pPr>
            <a:lvl3pPr algn="l">
              <a:buNone/>
              <a:defRPr sz="1950" b="1">
                <a:solidFill>
                  <a:srgbClr val="25302B"/>
                </a:solidFill>
                <a:latin typeface="Microsoft YaHei"/>
                <a:ea typeface="Microsoft YaHei"/>
                <a:cs typeface="Microsoft YaHei"/>
              </a:defRPr>
            </a:lvl3pPr>
            <a:lvl4pPr algn="l">
              <a:buNone/>
              <a:defRPr sz="1950" b="1">
                <a:solidFill>
                  <a:srgbClr val="25302B"/>
                </a:solidFill>
                <a:latin typeface="Microsoft YaHei"/>
                <a:ea typeface="Microsoft YaHei"/>
                <a:cs typeface="Microsoft YaHei"/>
              </a:defRPr>
            </a:lvl4pPr>
            <a:lvl5pPr algn="l">
              <a:buNone/>
              <a:defRPr sz="1950" b="1">
                <a:solidFill>
                  <a:srgbClr val="25302B"/>
                </a:solidFill>
                <a:latin typeface="Microsoft YaHei"/>
                <a:ea typeface="Microsoft YaHei"/>
                <a:cs typeface="Microsoft YaHei"/>
              </a:defRPr>
            </a:lvl5pPr>
            <a:lvl6pPr algn="l">
              <a:buNone/>
              <a:defRPr sz="1950" b="1">
                <a:solidFill>
                  <a:srgbClr val="25302B"/>
                </a:solidFill>
                <a:latin typeface="Microsoft YaHei"/>
                <a:ea typeface="Microsoft YaHei"/>
                <a:cs typeface="Microsoft YaHei"/>
              </a:defRPr>
            </a:lvl6pPr>
            <a:lvl7pPr algn="l">
              <a:buNone/>
              <a:defRPr sz="1950" b="1">
                <a:solidFill>
                  <a:srgbClr val="25302B"/>
                </a:solidFill>
                <a:latin typeface="Microsoft YaHei"/>
                <a:ea typeface="Microsoft YaHei"/>
                <a:cs typeface="Microsoft YaHei"/>
              </a:defRPr>
            </a:lvl7pPr>
            <a:lvl8pPr algn="l">
              <a:buNone/>
              <a:defRPr sz="1950" b="1">
                <a:solidFill>
                  <a:srgbClr val="25302B"/>
                </a:solidFill>
                <a:latin typeface="Microsoft YaHei"/>
                <a:ea typeface="Microsoft YaHei"/>
                <a:cs typeface="Microsoft YaHei"/>
              </a:defRPr>
            </a:lvl8pPr>
            <a:lvl9pPr algn="l">
              <a:buNone/>
              <a:defRPr sz="1950" b="1">
                <a:solidFill>
                  <a:srgbClr val="25302B"/>
                </a:solidFill>
                <a:latin typeface="Microsoft YaHei"/>
                <a:ea typeface="Microsoft YaHei"/>
                <a:cs typeface="Microsoft YaHei"/>
              </a:defRPr>
            </a:lvl9pPr>
          </a:lstStyle>
          <a:p xmlns:a="http://schemas.openxmlformats.org/drawingml/2006/main">
            <a:pPr algn="l">
              <a:buNone/>
              <a:defRPr sz="1950" b="1">
                <a:solidFill>
                  <a:srgbClr val="25302B"/>
                </a:solidFill>
                <a:latin typeface="Microsoft YaHei"/>
                <a:ea typeface="Microsoft YaHei"/>
                <a:cs typeface="Microsoft YaHei"/>
              </a:defRPr>
            </a:pPr>
            <a:r>
              <a:rPr sz="1950" b="1">
                <a:solidFill>
                  <a:srgbClr val="25302B"/>
                </a:solidFill>
                <a:latin typeface="Microsoft YaHei"/>
                <a:ea typeface="Microsoft YaHei"/>
                <a:cs typeface="Microsoft YaHei"/>
              </a:rPr>
              <a:t>Larger d fits this small training corpus more closely; it may overfit.</a:t>
            </a:r>
          </a:p>
        </p:txBody>
      </p:sp>
    </p:spTree>
    <p:extLst>
      <p:ext uri="{BB962C8B-B14F-4D97-AF65-F5344CB8AC3E}">
        <p14:creationId xmlns:p14="http://schemas.microsoft.com/office/powerpoint/2010/main" val="1184238477"/>
      </p:ext>
    </p:extLst>
  </p:cSld>
</p:sld>
</file>

<file path=ppt/slides/slide10.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8" name="RESULT · WHAT TO TRUST">
            <a:extLst xmlns:a="http://schemas.openxmlformats.org/drawingml/2006/main">
              <a:ext uri="{FF2B5EF4-FFF2-40B4-BE49-F238E27FC236}">
                <a16:creationId xmlns:a16="http://schemas.microsoft.com/office/drawing/2014/main" id="{44450D4A-23F4-47F3-B0DF-0E0968D3DFD9}"/>
              </a:ext>
            </a:extLst>
          </p:cNvPr>
          <p:cNvSpPr>
            <a:spLocks xmlns:a="http://schemas.openxmlformats.org/drawingml/2006/main" noGrp="1"/>
          </p:cNvSpPr>
          <p:nvPr/>
        </p:nvSpPr>
        <p:spPr>
          <a:xfrm xmlns:a="http://schemas.openxmlformats.org/drawingml/2006/main">
            <a:off x="685800" y="285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050" b="1">
                <a:solidFill>
                  <a:srgbClr val="728C59"/>
                </a:solidFill>
                <a:latin typeface="Microsoft YaHei"/>
                <a:ea typeface="Microsoft YaHei"/>
                <a:cs typeface="Microsoft YaHei"/>
              </a:defRPr>
            </a:defPPr>
            <a:lvl1pPr algn="l">
              <a:buNone/>
              <a:defRPr sz="1050" b="1">
                <a:solidFill>
                  <a:srgbClr val="728C59"/>
                </a:solidFill>
                <a:latin typeface="Microsoft YaHei"/>
                <a:ea typeface="Microsoft YaHei"/>
                <a:cs typeface="Microsoft YaHei"/>
              </a:defRPr>
            </a:lvl1pPr>
            <a:lvl2pPr algn="l">
              <a:buNone/>
              <a:defRPr sz="1050" b="1">
                <a:solidFill>
                  <a:srgbClr val="728C59"/>
                </a:solidFill>
                <a:latin typeface="Microsoft YaHei"/>
                <a:ea typeface="Microsoft YaHei"/>
                <a:cs typeface="Microsoft YaHei"/>
              </a:defRPr>
            </a:lvl2pPr>
            <a:lvl3pPr algn="l">
              <a:buNone/>
              <a:defRPr sz="1050" b="1">
                <a:solidFill>
                  <a:srgbClr val="728C59"/>
                </a:solidFill>
                <a:latin typeface="Microsoft YaHei"/>
                <a:ea typeface="Microsoft YaHei"/>
                <a:cs typeface="Microsoft YaHei"/>
              </a:defRPr>
            </a:lvl3pPr>
            <a:lvl4pPr algn="l">
              <a:buNone/>
              <a:defRPr sz="1050" b="1">
                <a:solidFill>
                  <a:srgbClr val="728C59"/>
                </a:solidFill>
                <a:latin typeface="Microsoft YaHei"/>
                <a:ea typeface="Microsoft YaHei"/>
                <a:cs typeface="Microsoft YaHei"/>
              </a:defRPr>
            </a:lvl4pPr>
            <a:lvl5pPr algn="l">
              <a:buNone/>
              <a:defRPr sz="1050" b="1">
                <a:solidFill>
                  <a:srgbClr val="728C59"/>
                </a:solidFill>
                <a:latin typeface="Microsoft YaHei"/>
                <a:ea typeface="Microsoft YaHei"/>
                <a:cs typeface="Microsoft YaHei"/>
              </a:defRPr>
            </a:lvl5pPr>
            <a:lvl6pPr algn="l">
              <a:buNone/>
              <a:defRPr sz="1050" b="1">
                <a:solidFill>
                  <a:srgbClr val="728C59"/>
                </a:solidFill>
                <a:latin typeface="Microsoft YaHei"/>
                <a:ea typeface="Microsoft YaHei"/>
                <a:cs typeface="Microsoft YaHei"/>
              </a:defRPr>
            </a:lvl6pPr>
            <a:lvl7pPr algn="l">
              <a:buNone/>
              <a:defRPr sz="1050" b="1">
                <a:solidFill>
                  <a:srgbClr val="728C59"/>
                </a:solidFill>
                <a:latin typeface="Microsoft YaHei"/>
                <a:ea typeface="Microsoft YaHei"/>
                <a:cs typeface="Microsoft YaHei"/>
              </a:defRPr>
            </a:lvl7pPr>
            <a:lvl8pPr algn="l">
              <a:buNone/>
              <a:defRPr sz="1050" b="1">
                <a:solidFill>
                  <a:srgbClr val="728C59"/>
                </a:solidFill>
                <a:latin typeface="Microsoft YaHei"/>
                <a:ea typeface="Microsoft YaHei"/>
                <a:cs typeface="Microsoft YaHei"/>
              </a:defRPr>
            </a:lvl8pPr>
            <a:lvl9pPr algn="l">
              <a:buNone/>
              <a:defRPr sz="1050" b="1">
                <a:solidFill>
                  <a:srgbClr val="728C59"/>
                </a:solidFill>
                <a:latin typeface="Microsoft YaHei"/>
                <a:ea typeface="Microsoft YaHei"/>
                <a:cs typeface="Microsoft YaHei"/>
              </a:defRPr>
            </a:lvl9pPr>
          </a:lstStyle>
          <a:p xmlns:a="http://schemas.openxmlformats.org/drawingml/2006/main">
            <a:pPr algn="l">
              <a:buNone/>
              <a:defRPr sz="1050" b="1">
                <a:solidFill>
                  <a:srgbClr val="728C59"/>
                </a:solidFill>
                <a:latin typeface="Microsoft YaHei"/>
                <a:ea typeface="Microsoft YaHei"/>
                <a:cs typeface="Microsoft YaHei"/>
              </a:defRPr>
            </a:pPr>
            <a:r>
              <a:rPr sz="1050" b="1">
                <a:solidFill>
                  <a:srgbClr val="728C59"/>
                </a:solidFill>
                <a:latin typeface="Microsoft YaHei"/>
                <a:ea typeface="Microsoft YaHei"/>
                <a:cs typeface="Microsoft YaHei"/>
              </a:rPr>
              <a:t>RESULT · WHAT TO TRUST</a:t>
            </a:r>
          </a:p>
        </p:txBody>
      </p:sp>
      <p:sp>
        <p:nvSpPr>
          <p:cNvPr id="2" name="Check and limitations">
            <a:extLst xmlns:a="http://schemas.openxmlformats.org/drawingml/2006/main">
              <a:ext uri="{FF2B5EF4-FFF2-40B4-BE49-F238E27FC236}">
                <a16:creationId xmlns:a16="http://schemas.microsoft.com/office/drawing/2014/main" id="{B1C6D4B6-A298-4555-BF1F-6F40CC0C01A3}"/>
              </a:ext>
            </a:extLst>
          </p:cNvPr>
          <p:cNvSpPr>
            <a:spLocks xmlns:a="http://schemas.openxmlformats.org/drawingml/2006/main" noGrp="1"/>
          </p:cNvSpPr>
          <p:nvPr/>
        </p:nvSpPr>
        <p:spPr>
          <a:xfrm xmlns:a="http://schemas.openxmlformats.org/drawingml/2006/main">
            <a:off x="685800" y="704850"/>
            <a:ext cx="1081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075" b="1">
                <a:solidFill>
                  <a:srgbClr val="25302B"/>
                </a:solidFill>
                <a:latin typeface="Microsoft YaHei"/>
                <a:ea typeface="Microsoft YaHei"/>
                <a:cs typeface="Microsoft YaHei"/>
              </a:defRPr>
            </a:defPPr>
            <a:lvl1pPr algn="l">
              <a:buNone/>
              <a:defRPr sz="3075" b="1">
                <a:solidFill>
                  <a:srgbClr val="25302B"/>
                </a:solidFill>
                <a:latin typeface="Microsoft YaHei"/>
                <a:ea typeface="Microsoft YaHei"/>
                <a:cs typeface="Microsoft YaHei"/>
              </a:defRPr>
            </a:lvl1pPr>
            <a:lvl2pPr algn="l">
              <a:buNone/>
              <a:defRPr sz="3075" b="1">
                <a:solidFill>
                  <a:srgbClr val="25302B"/>
                </a:solidFill>
                <a:latin typeface="Microsoft YaHei"/>
                <a:ea typeface="Microsoft YaHei"/>
                <a:cs typeface="Microsoft YaHei"/>
              </a:defRPr>
            </a:lvl2pPr>
            <a:lvl3pPr algn="l">
              <a:buNone/>
              <a:defRPr sz="3075" b="1">
                <a:solidFill>
                  <a:srgbClr val="25302B"/>
                </a:solidFill>
                <a:latin typeface="Microsoft YaHei"/>
                <a:ea typeface="Microsoft YaHei"/>
                <a:cs typeface="Microsoft YaHei"/>
              </a:defRPr>
            </a:lvl3pPr>
            <a:lvl4pPr algn="l">
              <a:buNone/>
              <a:defRPr sz="3075" b="1">
                <a:solidFill>
                  <a:srgbClr val="25302B"/>
                </a:solidFill>
                <a:latin typeface="Microsoft YaHei"/>
                <a:ea typeface="Microsoft YaHei"/>
                <a:cs typeface="Microsoft YaHei"/>
              </a:defRPr>
            </a:lvl4pPr>
            <a:lvl5pPr algn="l">
              <a:buNone/>
              <a:defRPr sz="3075" b="1">
                <a:solidFill>
                  <a:srgbClr val="25302B"/>
                </a:solidFill>
                <a:latin typeface="Microsoft YaHei"/>
                <a:ea typeface="Microsoft YaHei"/>
                <a:cs typeface="Microsoft YaHei"/>
              </a:defRPr>
            </a:lvl5pPr>
            <a:lvl6pPr algn="l">
              <a:buNone/>
              <a:defRPr sz="3075" b="1">
                <a:solidFill>
                  <a:srgbClr val="25302B"/>
                </a:solidFill>
                <a:latin typeface="Microsoft YaHei"/>
                <a:ea typeface="Microsoft YaHei"/>
                <a:cs typeface="Microsoft YaHei"/>
              </a:defRPr>
            </a:lvl6pPr>
            <a:lvl7pPr algn="l">
              <a:buNone/>
              <a:defRPr sz="3075" b="1">
                <a:solidFill>
                  <a:srgbClr val="25302B"/>
                </a:solidFill>
                <a:latin typeface="Microsoft YaHei"/>
                <a:ea typeface="Microsoft YaHei"/>
                <a:cs typeface="Microsoft YaHei"/>
              </a:defRPr>
            </a:lvl7pPr>
            <a:lvl8pPr algn="l">
              <a:buNone/>
              <a:defRPr sz="3075" b="1">
                <a:solidFill>
                  <a:srgbClr val="25302B"/>
                </a:solidFill>
                <a:latin typeface="Microsoft YaHei"/>
                <a:ea typeface="Microsoft YaHei"/>
                <a:cs typeface="Microsoft YaHei"/>
              </a:defRPr>
            </a:lvl8pPr>
            <a:lvl9pPr algn="l">
              <a:buNone/>
              <a:defRPr sz="3075" b="1">
                <a:solidFill>
                  <a:srgbClr val="25302B"/>
                </a:solidFill>
                <a:latin typeface="Microsoft YaHei"/>
                <a:ea typeface="Microsoft YaHei"/>
                <a:cs typeface="Microsoft YaHei"/>
              </a:defRPr>
            </a:lvl9pPr>
          </a:lstStyle>
          <a:p xmlns:a="http://schemas.openxmlformats.org/drawingml/2006/main">
            <a:pPr algn="l">
              <a:buNone/>
              <a:defRPr sz="3075" b="1">
                <a:solidFill>
                  <a:srgbClr val="25302B"/>
                </a:solidFill>
                <a:latin typeface="Microsoft YaHei"/>
                <a:ea typeface="Microsoft YaHei"/>
                <a:cs typeface="Microsoft YaHei"/>
              </a:defRPr>
            </a:pPr>
            <a:r>
              <a:rPr sz="3075" b="1">
                <a:solidFill>
                  <a:srgbClr val="25302B"/>
                </a:solidFill>
                <a:latin typeface="Microsoft YaHei"/>
                <a:ea typeface="Microsoft YaHei"/>
                <a:cs typeface="Microsoft YaHei"/>
              </a:rPr>
              <a:t>Check and limitations</a:t>
            </a:r>
          </a:p>
        </p:txBody>
      </p:sp>
      <p:sp>
        <p:nvSpPr>
          <p:cNvPr id="3" name="10 / 10">
            <a:extLst xmlns:a="http://schemas.openxmlformats.org/drawingml/2006/main">
              <a:ext uri="{FF2B5EF4-FFF2-40B4-BE49-F238E27FC236}">
                <a16:creationId xmlns:a16="http://schemas.microsoft.com/office/drawing/2014/main" id="{31A823F4-53A7-4290-B61D-B03598DE5432}"/>
              </a:ext>
            </a:extLst>
          </p:cNvPr>
          <p:cNvSpPr>
            <a:spLocks xmlns:a="http://schemas.openxmlformats.org/drawingml/2006/main" noGrp="1"/>
          </p:cNvSpPr>
          <p:nvPr/>
        </p:nvSpPr>
        <p:spPr>
          <a:xfrm xmlns:a="http://schemas.openxmlformats.org/drawingml/2006/main">
            <a:off x="10572750" y="64484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975" b="0">
                <a:solidFill>
                  <a:srgbClr val="718064"/>
                </a:solidFill>
                <a:latin typeface="Consolas"/>
                <a:ea typeface="Consolas"/>
                <a:cs typeface="Consolas"/>
              </a:defRPr>
            </a:defPPr>
            <a:lvl1pPr algn="r">
              <a:buNone/>
              <a:defRPr sz="975" b="0">
                <a:solidFill>
                  <a:srgbClr val="718064"/>
                </a:solidFill>
                <a:latin typeface="Consolas"/>
                <a:ea typeface="Consolas"/>
                <a:cs typeface="Consolas"/>
              </a:defRPr>
            </a:lvl1pPr>
            <a:lvl2pPr algn="r">
              <a:buNone/>
              <a:defRPr sz="975" b="0">
                <a:solidFill>
                  <a:srgbClr val="718064"/>
                </a:solidFill>
                <a:latin typeface="Consolas"/>
                <a:ea typeface="Consolas"/>
                <a:cs typeface="Consolas"/>
              </a:defRPr>
            </a:lvl2pPr>
            <a:lvl3pPr algn="r">
              <a:buNone/>
              <a:defRPr sz="975" b="0">
                <a:solidFill>
                  <a:srgbClr val="718064"/>
                </a:solidFill>
                <a:latin typeface="Consolas"/>
                <a:ea typeface="Consolas"/>
                <a:cs typeface="Consolas"/>
              </a:defRPr>
            </a:lvl3pPr>
            <a:lvl4pPr algn="r">
              <a:buNone/>
              <a:defRPr sz="975" b="0">
                <a:solidFill>
                  <a:srgbClr val="718064"/>
                </a:solidFill>
                <a:latin typeface="Consolas"/>
                <a:ea typeface="Consolas"/>
                <a:cs typeface="Consolas"/>
              </a:defRPr>
            </a:lvl4pPr>
            <a:lvl5pPr algn="r">
              <a:buNone/>
              <a:defRPr sz="975" b="0">
                <a:solidFill>
                  <a:srgbClr val="718064"/>
                </a:solidFill>
                <a:latin typeface="Consolas"/>
                <a:ea typeface="Consolas"/>
                <a:cs typeface="Consolas"/>
              </a:defRPr>
            </a:lvl5pPr>
            <a:lvl6pPr algn="r">
              <a:buNone/>
              <a:defRPr sz="975" b="0">
                <a:solidFill>
                  <a:srgbClr val="718064"/>
                </a:solidFill>
                <a:latin typeface="Consolas"/>
                <a:ea typeface="Consolas"/>
                <a:cs typeface="Consolas"/>
              </a:defRPr>
            </a:lvl6pPr>
            <a:lvl7pPr algn="r">
              <a:buNone/>
              <a:defRPr sz="975" b="0">
                <a:solidFill>
                  <a:srgbClr val="718064"/>
                </a:solidFill>
                <a:latin typeface="Consolas"/>
                <a:ea typeface="Consolas"/>
                <a:cs typeface="Consolas"/>
              </a:defRPr>
            </a:lvl7pPr>
            <a:lvl8pPr algn="r">
              <a:buNone/>
              <a:defRPr sz="975" b="0">
                <a:solidFill>
                  <a:srgbClr val="718064"/>
                </a:solidFill>
                <a:latin typeface="Consolas"/>
                <a:ea typeface="Consolas"/>
                <a:cs typeface="Consolas"/>
              </a:defRPr>
            </a:lvl8pPr>
            <a:lvl9pPr algn="r">
              <a:buNone/>
              <a:defRPr sz="975" b="0">
                <a:solidFill>
                  <a:srgbClr val="718064"/>
                </a:solidFill>
                <a:latin typeface="Consolas"/>
                <a:ea typeface="Consolas"/>
                <a:cs typeface="Consolas"/>
              </a:defRPr>
            </a:lvl9pPr>
          </a:lstStyle>
          <a:p xmlns:a="http://schemas.openxmlformats.org/drawingml/2006/main">
            <a:pPr algn="r">
              <a:buNone/>
              <a:defRPr sz="975" b="0">
                <a:solidFill>
                  <a:srgbClr val="718064"/>
                </a:solidFill>
                <a:latin typeface="Consolas"/>
                <a:ea typeface="Consolas"/>
                <a:cs typeface="Consolas"/>
              </a:defRPr>
            </a:pPr>
            <a:r>
              <a:rPr sz="975" b="0">
                <a:solidFill>
                  <a:srgbClr val="718064"/>
                </a:solidFill>
                <a:latin typeface="Consolas"/>
                <a:ea typeface="Consolas"/>
                <a:cs typeface="Consolas"/>
              </a:rPr>
              <a:t>10 / 10</a:t>
            </a:r>
          </a:p>
        </p:txBody>
      </p:sp>
      <p:sp>
        <p:nvSpPr>
          <p:cNvPr id="4" name="Hand-written loss and gr">
            <a:extLst xmlns:a="http://schemas.openxmlformats.org/drawingml/2006/main">
              <a:ext uri="{FF2B5EF4-FFF2-40B4-BE49-F238E27FC236}">
                <a16:creationId xmlns:a16="http://schemas.microsoft.com/office/drawing/2014/main" id="{EE8E8278-744A-42B4-B154-A1711959DD8F}"/>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1">
                <a:solidFill>
                  <a:srgbClr val="5751D3"/>
                </a:solidFill>
                <a:latin typeface="Microsoft YaHei"/>
                <a:ea typeface="Microsoft YaHei"/>
                <a:cs typeface="Microsoft YaHei"/>
              </a:defRPr>
            </a:defPPr>
            <a:lvl1pPr algn="l">
              <a:buNone/>
              <a:defRPr sz="2325" b="1">
                <a:solidFill>
                  <a:srgbClr val="5751D3"/>
                </a:solidFill>
                <a:latin typeface="Microsoft YaHei"/>
                <a:ea typeface="Microsoft YaHei"/>
                <a:cs typeface="Microsoft YaHei"/>
              </a:defRPr>
            </a:lvl1pPr>
            <a:lvl2pPr algn="l">
              <a:buNone/>
              <a:defRPr sz="2325" b="1">
                <a:solidFill>
                  <a:srgbClr val="5751D3"/>
                </a:solidFill>
                <a:latin typeface="Microsoft YaHei"/>
                <a:ea typeface="Microsoft YaHei"/>
                <a:cs typeface="Microsoft YaHei"/>
              </a:defRPr>
            </a:lvl2pPr>
            <a:lvl3pPr algn="l">
              <a:buNone/>
              <a:defRPr sz="2325" b="1">
                <a:solidFill>
                  <a:srgbClr val="5751D3"/>
                </a:solidFill>
                <a:latin typeface="Microsoft YaHei"/>
                <a:ea typeface="Microsoft YaHei"/>
                <a:cs typeface="Microsoft YaHei"/>
              </a:defRPr>
            </a:lvl3pPr>
            <a:lvl4pPr algn="l">
              <a:buNone/>
              <a:defRPr sz="2325" b="1">
                <a:solidFill>
                  <a:srgbClr val="5751D3"/>
                </a:solidFill>
                <a:latin typeface="Microsoft YaHei"/>
                <a:ea typeface="Microsoft YaHei"/>
                <a:cs typeface="Microsoft YaHei"/>
              </a:defRPr>
            </a:lvl4pPr>
            <a:lvl5pPr algn="l">
              <a:buNone/>
              <a:defRPr sz="2325" b="1">
                <a:solidFill>
                  <a:srgbClr val="5751D3"/>
                </a:solidFill>
                <a:latin typeface="Microsoft YaHei"/>
                <a:ea typeface="Microsoft YaHei"/>
                <a:cs typeface="Microsoft YaHei"/>
              </a:defRPr>
            </a:lvl5pPr>
            <a:lvl6pPr algn="l">
              <a:buNone/>
              <a:defRPr sz="2325" b="1">
                <a:solidFill>
                  <a:srgbClr val="5751D3"/>
                </a:solidFill>
                <a:latin typeface="Microsoft YaHei"/>
                <a:ea typeface="Microsoft YaHei"/>
                <a:cs typeface="Microsoft YaHei"/>
              </a:defRPr>
            </a:lvl6pPr>
            <a:lvl7pPr algn="l">
              <a:buNone/>
              <a:defRPr sz="2325" b="1">
                <a:solidFill>
                  <a:srgbClr val="5751D3"/>
                </a:solidFill>
                <a:latin typeface="Microsoft YaHei"/>
                <a:ea typeface="Microsoft YaHei"/>
                <a:cs typeface="Microsoft YaHei"/>
              </a:defRPr>
            </a:lvl7pPr>
            <a:lvl8pPr algn="l">
              <a:buNone/>
              <a:defRPr sz="2325" b="1">
                <a:solidFill>
                  <a:srgbClr val="5751D3"/>
                </a:solidFill>
                <a:latin typeface="Microsoft YaHei"/>
                <a:ea typeface="Microsoft YaHei"/>
                <a:cs typeface="Microsoft YaHei"/>
              </a:defRPr>
            </a:lvl8pPr>
            <a:lvl9pPr algn="l">
              <a:buNone/>
              <a:defRPr sz="2325" b="1">
                <a:solidFill>
                  <a:srgbClr val="5751D3"/>
                </a:solidFill>
                <a:latin typeface="Microsoft YaHei"/>
                <a:ea typeface="Microsoft YaHei"/>
                <a:cs typeface="Microsoft YaHei"/>
              </a:defRPr>
            </a:lvl9pPr>
          </a:lstStyle>
          <a:p xmlns:a="http://schemas.openxmlformats.org/drawingml/2006/main">
            <a:pPr algn="l">
              <a:buNone/>
              <a:defRPr sz="2325" b="1">
                <a:solidFill>
                  <a:srgbClr val="5751D3"/>
                </a:solidFill>
                <a:latin typeface="Microsoft YaHei"/>
                <a:ea typeface="Microsoft YaHei"/>
                <a:cs typeface="Microsoft YaHei"/>
              </a:defRPr>
            </a:pPr>
            <a:r>
              <a:rPr sz="2325" b="1">
                <a:solidFill>
                  <a:srgbClr val="5751D3"/>
                </a:solidFill>
                <a:latin typeface="Microsoft YaHei"/>
                <a:ea typeface="Microsoft YaHei"/>
                <a:cs typeface="Microsoft YaHei"/>
              </a:rPr>
              <a:t>Hand-written loss and gradients match NumPy</a:t>
            </a:r>
          </a:p>
        </p:txBody>
      </p:sp>
      <p:sp>
        <p:nvSpPr>
          <p:cNvPr id="5" name="The tiny corpus gives us">
            <a:extLst xmlns:a="http://schemas.openxmlformats.org/drawingml/2006/main">
              <a:ext uri="{FF2B5EF4-FFF2-40B4-BE49-F238E27FC236}">
                <a16:creationId xmlns:a16="http://schemas.microsoft.com/office/drawing/2014/main" id="{8EE146C8-5152-4D78-94E4-F23E831E9D14}"/>
              </a:ext>
            </a:extLst>
          </p:cNvPr>
          <p:cNvSpPr>
            <a:spLocks xmlns:a="http://schemas.openxmlformats.org/drawingml/2006/main" noGrp="1"/>
          </p:cNvSpPr>
          <p:nvPr/>
        </p:nvSpPr>
        <p:spPr>
          <a:xfrm xmlns:a="http://schemas.openxmlformats.org/drawingml/2006/main">
            <a:off x="685800" y="2838450"/>
            <a:ext cx="1066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25302B"/>
                </a:solidFill>
                <a:latin typeface="Microsoft YaHei"/>
                <a:ea typeface="Microsoft YaHei"/>
                <a:cs typeface="Microsoft YaHei"/>
              </a:defRPr>
            </a:defPPr>
            <a:lvl1pPr algn="l">
              <a:buNone/>
              <a:defRPr sz="1950" b="0">
                <a:solidFill>
                  <a:srgbClr val="25302B"/>
                </a:solidFill>
                <a:latin typeface="Microsoft YaHei"/>
                <a:ea typeface="Microsoft YaHei"/>
                <a:cs typeface="Microsoft YaHei"/>
              </a:defRPr>
            </a:lvl1pPr>
            <a:lvl2pPr algn="l">
              <a:buNone/>
              <a:defRPr sz="1950" b="0">
                <a:solidFill>
                  <a:srgbClr val="25302B"/>
                </a:solidFill>
                <a:latin typeface="Microsoft YaHei"/>
                <a:ea typeface="Microsoft YaHei"/>
                <a:cs typeface="Microsoft YaHei"/>
              </a:defRPr>
            </a:lvl2pPr>
            <a:lvl3pPr algn="l">
              <a:buNone/>
              <a:defRPr sz="1950" b="0">
                <a:solidFill>
                  <a:srgbClr val="25302B"/>
                </a:solidFill>
                <a:latin typeface="Microsoft YaHei"/>
                <a:ea typeface="Microsoft YaHei"/>
                <a:cs typeface="Microsoft YaHei"/>
              </a:defRPr>
            </a:lvl3pPr>
            <a:lvl4pPr algn="l">
              <a:buNone/>
              <a:defRPr sz="1950" b="0">
                <a:solidFill>
                  <a:srgbClr val="25302B"/>
                </a:solidFill>
                <a:latin typeface="Microsoft YaHei"/>
                <a:ea typeface="Microsoft YaHei"/>
                <a:cs typeface="Microsoft YaHei"/>
              </a:defRPr>
            </a:lvl4pPr>
            <a:lvl5pPr algn="l">
              <a:buNone/>
              <a:defRPr sz="1950" b="0">
                <a:solidFill>
                  <a:srgbClr val="25302B"/>
                </a:solidFill>
                <a:latin typeface="Microsoft YaHei"/>
                <a:ea typeface="Microsoft YaHei"/>
                <a:cs typeface="Microsoft YaHei"/>
              </a:defRPr>
            </a:lvl5pPr>
            <a:lvl6pPr algn="l">
              <a:buNone/>
              <a:defRPr sz="1950" b="0">
                <a:solidFill>
                  <a:srgbClr val="25302B"/>
                </a:solidFill>
                <a:latin typeface="Microsoft YaHei"/>
                <a:ea typeface="Microsoft YaHei"/>
                <a:cs typeface="Microsoft YaHei"/>
              </a:defRPr>
            </a:lvl6pPr>
            <a:lvl7pPr algn="l">
              <a:buNone/>
              <a:defRPr sz="1950" b="0">
                <a:solidFill>
                  <a:srgbClr val="25302B"/>
                </a:solidFill>
                <a:latin typeface="Microsoft YaHei"/>
                <a:ea typeface="Microsoft YaHei"/>
                <a:cs typeface="Microsoft YaHei"/>
              </a:defRPr>
            </a:lvl7pPr>
            <a:lvl8pPr algn="l">
              <a:buNone/>
              <a:defRPr sz="1950" b="0">
                <a:solidFill>
                  <a:srgbClr val="25302B"/>
                </a:solidFill>
                <a:latin typeface="Microsoft YaHei"/>
                <a:ea typeface="Microsoft YaHei"/>
                <a:cs typeface="Microsoft YaHei"/>
              </a:defRPr>
            </a:lvl8pPr>
            <a:lvl9pPr algn="l">
              <a:buNone/>
              <a:defRPr sz="1950" b="0">
                <a:solidFill>
                  <a:srgbClr val="25302B"/>
                </a:solidFill>
                <a:latin typeface="Microsoft YaHei"/>
                <a:ea typeface="Microsoft YaHei"/>
                <a:cs typeface="Microsoft YaHei"/>
              </a:defRPr>
            </a:lvl9pPr>
          </a:lstStyle>
          <a:p xmlns:a="http://schemas.openxmlformats.org/drawingml/2006/main">
            <a:pPr algn="l">
              <a:buNone/>
              <a:defRPr sz="1950" b="0">
                <a:solidFill>
                  <a:srgbClr val="25302B"/>
                </a:solidFill>
                <a:latin typeface="Microsoft YaHei"/>
                <a:ea typeface="Microsoft YaHei"/>
                <a:cs typeface="Microsoft YaHei"/>
              </a:defRPr>
            </a:pPr>
            <a:r>
              <a:rPr sz="1950" b="0">
                <a:solidFill>
                  <a:srgbClr val="25302B"/>
                </a:solidFill>
                <a:latin typeface="Microsoft YaHei"/>
                <a:ea typeface="Microsoft YaHei"/>
                <a:cs typeface="Microsoft YaHei"/>
              </a:rPr>
              <a:t>The tiny corpus gives useful examples, not general language understanding.</a:t>
            </a:r>
          </a:p>
        </p:txBody>
      </p:sp>
      <p:sp>
        <p:nvSpPr>
          <p:cNvPr id="6" name="One fixed vector cannot ">
            <a:extLst xmlns:a="http://schemas.openxmlformats.org/drawingml/2006/main">
              <a:ext uri="{FF2B5EF4-FFF2-40B4-BE49-F238E27FC236}">
                <a16:creationId xmlns:a16="http://schemas.microsoft.com/office/drawing/2014/main" id="{8B742818-C804-4F90-9EE9-2A8C408AEBA4}"/>
              </a:ext>
            </a:extLst>
          </p:cNvPr>
          <p:cNvSpPr>
            <a:spLocks xmlns:a="http://schemas.openxmlformats.org/drawingml/2006/main" noGrp="1"/>
          </p:cNvSpPr>
          <p:nvPr/>
        </p:nvSpPr>
        <p:spPr>
          <a:xfrm xmlns:a="http://schemas.openxmlformats.org/drawingml/2006/main">
            <a:off x="685800" y="3771900"/>
            <a:ext cx="1066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25302B"/>
                </a:solidFill>
                <a:latin typeface="Microsoft YaHei"/>
                <a:ea typeface="Microsoft YaHei"/>
                <a:cs typeface="Microsoft YaHei"/>
              </a:defRPr>
            </a:defPPr>
            <a:lvl1pPr algn="l">
              <a:buNone/>
              <a:defRPr sz="1950" b="0">
                <a:solidFill>
                  <a:srgbClr val="25302B"/>
                </a:solidFill>
                <a:latin typeface="Microsoft YaHei"/>
                <a:ea typeface="Microsoft YaHei"/>
                <a:cs typeface="Microsoft YaHei"/>
              </a:defRPr>
            </a:lvl1pPr>
            <a:lvl2pPr algn="l">
              <a:buNone/>
              <a:defRPr sz="1950" b="0">
                <a:solidFill>
                  <a:srgbClr val="25302B"/>
                </a:solidFill>
                <a:latin typeface="Microsoft YaHei"/>
                <a:ea typeface="Microsoft YaHei"/>
                <a:cs typeface="Microsoft YaHei"/>
              </a:defRPr>
            </a:lvl2pPr>
            <a:lvl3pPr algn="l">
              <a:buNone/>
              <a:defRPr sz="1950" b="0">
                <a:solidFill>
                  <a:srgbClr val="25302B"/>
                </a:solidFill>
                <a:latin typeface="Microsoft YaHei"/>
                <a:ea typeface="Microsoft YaHei"/>
                <a:cs typeface="Microsoft YaHei"/>
              </a:defRPr>
            </a:lvl3pPr>
            <a:lvl4pPr algn="l">
              <a:buNone/>
              <a:defRPr sz="1950" b="0">
                <a:solidFill>
                  <a:srgbClr val="25302B"/>
                </a:solidFill>
                <a:latin typeface="Microsoft YaHei"/>
                <a:ea typeface="Microsoft YaHei"/>
                <a:cs typeface="Microsoft YaHei"/>
              </a:defRPr>
            </a:lvl4pPr>
            <a:lvl5pPr algn="l">
              <a:buNone/>
              <a:defRPr sz="1950" b="0">
                <a:solidFill>
                  <a:srgbClr val="25302B"/>
                </a:solidFill>
                <a:latin typeface="Microsoft YaHei"/>
                <a:ea typeface="Microsoft YaHei"/>
                <a:cs typeface="Microsoft YaHei"/>
              </a:defRPr>
            </a:lvl5pPr>
            <a:lvl6pPr algn="l">
              <a:buNone/>
              <a:defRPr sz="1950" b="0">
                <a:solidFill>
                  <a:srgbClr val="25302B"/>
                </a:solidFill>
                <a:latin typeface="Microsoft YaHei"/>
                <a:ea typeface="Microsoft YaHei"/>
                <a:cs typeface="Microsoft YaHei"/>
              </a:defRPr>
            </a:lvl6pPr>
            <a:lvl7pPr algn="l">
              <a:buNone/>
              <a:defRPr sz="1950" b="0">
                <a:solidFill>
                  <a:srgbClr val="25302B"/>
                </a:solidFill>
                <a:latin typeface="Microsoft YaHei"/>
                <a:ea typeface="Microsoft YaHei"/>
                <a:cs typeface="Microsoft YaHei"/>
              </a:defRPr>
            </a:lvl7pPr>
            <a:lvl8pPr algn="l">
              <a:buNone/>
              <a:defRPr sz="1950" b="0">
                <a:solidFill>
                  <a:srgbClr val="25302B"/>
                </a:solidFill>
                <a:latin typeface="Microsoft YaHei"/>
                <a:ea typeface="Microsoft YaHei"/>
                <a:cs typeface="Microsoft YaHei"/>
              </a:defRPr>
            </a:lvl8pPr>
            <a:lvl9pPr algn="l">
              <a:buNone/>
              <a:defRPr sz="1950" b="0">
                <a:solidFill>
                  <a:srgbClr val="25302B"/>
                </a:solidFill>
                <a:latin typeface="Microsoft YaHei"/>
                <a:ea typeface="Microsoft YaHei"/>
                <a:cs typeface="Microsoft YaHei"/>
              </a:defRPr>
            </a:lvl9pPr>
          </a:lstStyle>
          <a:p xmlns:a="http://schemas.openxmlformats.org/drawingml/2006/main">
            <a:pPr algn="l">
              <a:buNone/>
              <a:defRPr sz="1950" b="0">
                <a:solidFill>
                  <a:srgbClr val="25302B"/>
                </a:solidFill>
                <a:latin typeface="Microsoft YaHei"/>
                <a:ea typeface="Microsoft YaHei"/>
                <a:cs typeface="Microsoft YaHei"/>
              </a:defRPr>
            </a:pPr>
            <a:r>
              <a:rPr sz="1950" b="0">
                <a:solidFill>
                  <a:srgbClr val="25302B"/>
                </a:solidFill>
                <a:latin typeface="Microsoft YaHei"/>
                <a:ea typeface="Microsoft YaHei"/>
                <a:cs typeface="Microsoft YaHei"/>
              </a:rPr>
              <a:t>One fixed vector cannot separate different meanings of the same word.</a:t>
            </a:r>
          </a:p>
        </p:txBody>
      </p:sp>
      <p:sp>
        <p:nvSpPr>
          <p:cNvPr id="7" name="Full softmax touches all">
            <a:extLst xmlns:a="http://schemas.openxmlformats.org/drawingml/2006/main">
              <a:ext uri="{FF2B5EF4-FFF2-40B4-BE49-F238E27FC236}">
                <a16:creationId xmlns:a16="http://schemas.microsoft.com/office/drawing/2014/main" id="{B69EF43A-4720-4C6B-B3A2-207F4C36838C}"/>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1">
                <a:solidFill>
                  <a:srgbClr val="728C59"/>
                </a:solidFill>
                <a:latin typeface="Microsoft YaHei"/>
                <a:ea typeface="Microsoft YaHei"/>
                <a:cs typeface="Microsoft YaHei"/>
              </a:defRPr>
            </a:defPPr>
            <a:lvl1pPr algn="l">
              <a:buNone/>
              <a:defRPr sz="1950" b="1">
                <a:solidFill>
                  <a:srgbClr val="728C59"/>
                </a:solidFill>
                <a:latin typeface="Microsoft YaHei"/>
                <a:ea typeface="Microsoft YaHei"/>
                <a:cs typeface="Microsoft YaHei"/>
              </a:defRPr>
            </a:lvl1pPr>
            <a:lvl2pPr algn="l">
              <a:buNone/>
              <a:defRPr sz="1950" b="1">
                <a:solidFill>
                  <a:srgbClr val="728C59"/>
                </a:solidFill>
                <a:latin typeface="Microsoft YaHei"/>
                <a:ea typeface="Microsoft YaHei"/>
                <a:cs typeface="Microsoft YaHei"/>
              </a:defRPr>
            </a:lvl2pPr>
            <a:lvl3pPr algn="l">
              <a:buNone/>
              <a:defRPr sz="1950" b="1">
                <a:solidFill>
                  <a:srgbClr val="728C59"/>
                </a:solidFill>
                <a:latin typeface="Microsoft YaHei"/>
                <a:ea typeface="Microsoft YaHei"/>
                <a:cs typeface="Microsoft YaHei"/>
              </a:defRPr>
            </a:lvl3pPr>
            <a:lvl4pPr algn="l">
              <a:buNone/>
              <a:defRPr sz="1950" b="1">
                <a:solidFill>
                  <a:srgbClr val="728C59"/>
                </a:solidFill>
                <a:latin typeface="Microsoft YaHei"/>
                <a:ea typeface="Microsoft YaHei"/>
                <a:cs typeface="Microsoft YaHei"/>
              </a:defRPr>
            </a:lvl4pPr>
            <a:lvl5pPr algn="l">
              <a:buNone/>
              <a:defRPr sz="1950" b="1">
                <a:solidFill>
                  <a:srgbClr val="728C59"/>
                </a:solidFill>
                <a:latin typeface="Microsoft YaHei"/>
                <a:ea typeface="Microsoft YaHei"/>
                <a:cs typeface="Microsoft YaHei"/>
              </a:defRPr>
            </a:lvl5pPr>
            <a:lvl6pPr algn="l">
              <a:buNone/>
              <a:defRPr sz="1950" b="1">
                <a:solidFill>
                  <a:srgbClr val="728C59"/>
                </a:solidFill>
                <a:latin typeface="Microsoft YaHei"/>
                <a:ea typeface="Microsoft YaHei"/>
                <a:cs typeface="Microsoft YaHei"/>
              </a:defRPr>
            </a:lvl6pPr>
            <a:lvl7pPr algn="l">
              <a:buNone/>
              <a:defRPr sz="1950" b="1">
                <a:solidFill>
                  <a:srgbClr val="728C59"/>
                </a:solidFill>
                <a:latin typeface="Microsoft YaHei"/>
                <a:ea typeface="Microsoft YaHei"/>
                <a:cs typeface="Microsoft YaHei"/>
              </a:defRPr>
            </a:lvl7pPr>
            <a:lvl8pPr algn="l">
              <a:buNone/>
              <a:defRPr sz="1950" b="1">
                <a:solidFill>
                  <a:srgbClr val="728C59"/>
                </a:solidFill>
                <a:latin typeface="Microsoft YaHei"/>
                <a:ea typeface="Microsoft YaHei"/>
                <a:cs typeface="Microsoft YaHei"/>
              </a:defRPr>
            </a:lvl8pPr>
            <a:lvl9pPr algn="l">
              <a:buNone/>
              <a:defRPr sz="1950" b="1">
                <a:solidFill>
                  <a:srgbClr val="728C59"/>
                </a:solidFill>
                <a:latin typeface="Microsoft YaHei"/>
                <a:ea typeface="Microsoft YaHei"/>
                <a:cs typeface="Microsoft YaHei"/>
              </a:defRPr>
            </a:lvl9pPr>
          </a:lstStyle>
          <a:p xmlns:a="http://schemas.openxmlformats.org/drawingml/2006/main">
            <a:pPr algn="l">
              <a:buNone/>
              <a:defRPr sz="1950" b="1">
                <a:solidFill>
                  <a:srgbClr val="728C59"/>
                </a:solidFill>
                <a:latin typeface="Microsoft YaHei"/>
                <a:ea typeface="Microsoft YaHei"/>
                <a:cs typeface="Microsoft YaHei"/>
              </a:defRPr>
            </a:pPr>
            <a:r>
              <a:rPr sz="1950" b="1">
                <a:solidFill>
                  <a:srgbClr val="728C59"/>
                </a:solidFill>
                <a:latin typeface="Microsoft YaHei"/>
                <a:ea typeface="Microsoft YaHei"/>
                <a:cs typeface="Microsoft YaHei"/>
              </a:rPr>
              <a:t>Full softmax touches all V words per pair: roughly O(Vd) work.</a:t>
            </a:r>
          </a:p>
        </p:txBody>
      </p:sp>
    </p:spTree>
    <p:extLst>
      <p:ext uri="{BB962C8B-B14F-4D97-AF65-F5344CB8AC3E}">
        <p14:creationId xmlns:p14="http://schemas.microsoft.com/office/powerpoint/2010/main" val="945699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2026-10-29T05:00:59.5610000Z</dcterms:created>
  <dcterms:modified xsi:type="dcterms:W3CDTF">2026-10-29T05:00:59.5610000Z</dcterms:modified>
</coreProperties>
</file>