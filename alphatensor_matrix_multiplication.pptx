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8abe84fec34acf" /><Relationship Type="http://schemas.openxmlformats.org/officeDocument/2006/relationships/extended-properties" Target="/docProps/app.xml" Id="R0ec55ea6dfcd4ec0" /><Relationship Type="http://schemas.openxmlformats.org/officeDocument/2006/relationships/officeDocument" Target="/ppt/presentation.xml" Id="R3adeb21f809549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3b72111d5b4580"/>
  </p:sldMasterIdLst>
  <p:notesMasterIdLst>
    <p:notesMasterId xmlns:r="http://schemas.openxmlformats.org/officeDocument/2006/relationships" r:id="R3e779f0e097a4a28"/>
  </p:notesMasterIdLst>
  <p:sldIdLst>
    <p:sldId xmlns:r="http://schemas.openxmlformats.org/officeDocument/2006/relationships" id="256" r:id="R4992fe8f0db946c4"/>
    <p:sldId xmlns:r="http://schemas.openxmlformats.org/officeDocument/2006/relationships" id="257" r:id="R16f75e1810fd46c0"/>
    <p:sldId xmlns:r="http://schemas.openxmlformats.org/officeDocument/2006/relationships" id="258" r:id="R47f782aa1b6d4823"/>
    <p:sldId xmlns:r="http://schemas.openxmlformats.org/officeDocument/2006/relationships" id="259" r:id="Rd2bb26aca4e94e3f"/>
    <p:sldId xmlns:r="http://schemas.openxmlformats.org/officeDocument/2006/relationships" id="260" r:id="R8ca64d7975c04dc1"/>
    <p:sldId xmlns:r="http://schemas.openxmlformats.org/officeDocument/2006/relationships" id="261" r:id="Rf370d1dd86f14c1c"/>
    <p:sldId xmlns:r="http://schemas.openxmlformats.org/officeDocument/2006/relationships" id="262" r:id="Red77eec4ecc7491d"/>
    <p:sldId xmlns:r="http://schemas.openxmlformats.org/officeDocument/2006/relationships" id="263" r:id="R3399e26ff18c4581"/>
    <p:sldId xmlns:r="http://schemas.openxmlformats.org/officeDocument/2006/relationships" id="264" r:id="R84314cffa39d487e"/>
    <p:sldId xmlns:r="http://schemas.openxmlformats.org/officeDocument/2006/relationships" id="265" r:id="Re6e49f9875cd4377"/>
    <p:sldId xmlns:r="http://schemas.openxmlformats.org/officeDocument/2006/relationships" id="266" r:id="R26ee08f3f32544cb"/>
    <p:sldId xmlns:r="http://schemas.openxmlformats.org/officeDocument/2006/relationships" id="267" r:id="R13e6aa4f60c14e67"/>
    <p:sldId xmlns:r="http://schemas.openxmlformats.org/officeDocument/2006/relationships" id="268" r:id="Re69e5fbaddac4c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3f9d8fe4db4e42" /><Relationship Type="http://schemas.openxmlformats.org/officeDocument/2006/relationships/slideMaster" Target="/ppt/slideMasters/slideMaster1.xml" Id="R633b72111d5b4580" /><Relationship Type="http://schemas.openxmlformats.org/officeDocument/2006/relationships/notesMaster" Target="/ppt/notesMasters/notesMaster1.xml" Id="R3e779f0e097a4a28" /><Relationship Type="http://schemas.openxmlformats.org/officeDocument/2006/relationships/presProps" Target="/ppt/presProps.xml" Id="Rabec4ecdba284391" /><Relationship Type="http://schemas.openxmlformats.org/officeDocument/2006/relationships/tableStyles" Target="/ppt/tableStyles.xml" Id="R7ab825ef6ca547ec" /><Relationship Type="http://schemas.openxmlformats.org/officeDocument/2006/relationships/slide" Target="/ppt/slides/slide1.xml" Id="R4992fe8f0db946c4" /><Relationship Type="http://schemas.openxmlformats.org/officeDocument/2006/relationships/slide" Target="/ppt/slides/slide2.xml" Id="R16f75e1810fd46c0" /><Relationship Type="http://schemas.openxmlformats.org/officeDocument/2006/relationships/slide" Target="/ppt/slides/slide3.xml" Id="R47f782aa1b6d4823" /><Relationship Type="http://schemas.openxmlformats.org/officeDocument/2006/relationships/slide" Target="/ppt/slides/slide4.xml" Id="Rd2bb26aca4e94e3f" /><Relationship Type="http://schemas.openxmlformats.org/officeDocument/2006/relationships/slide" Target="/ppt/slides/slide5.xml" Id="R8ca64d7975c04dc1" /><Relationship Type="http://schemas.openxmlformats.org/officeDocument/2006/relationships/slide" Target="/ppt/slides/slide6.xml" Id="Rf370d1dd86f14c1c" /><Relationship Type="http://schemas.openxmlformats.org/officeDocument/2006/relationships/slide" Target="/ppt/slides/slide7.xml" Id="Red77eec4ecc7491d" /><Relationship Type="http://schemas.openxmlformats.org/officeDocument/2006/relationships/slide" Target="/ppt/slides/slide8.xml" Id="R3399e26ff18c4581" /><Relationship Type="http://schemas.openxmlformats.org/officeDocument/2006/relationships/slide" Target="/ppt/slides/slide9.xml" Id="R84314cffa39d487e" /><Relationship Type="http://schemas.openxmlformats.org/officeDocument/2006/relationships/slide" Target="/ppt/slides/slide10.xml" Id="Re6e49f9875cd4377" /><Relationship Type="http://schemas.openxmlformats.org/officeDocument/2006/relationships/slide" Target="/ppt/slides/slide11.xml" Id="R26ee08f3f32544cb" /><Relationship Type="http://schemas.openxmlformats.org/officeDocument/2006/relationships/slide" Target="/ppt/slides/slide12.xml" Id="R13e6aa4f60c14e67" /><Relationship Type="http://schemas.openxmlformats.org/officeDocument/2006/relationships/slide" Target="/ppt/slides/slide13.xml" Id="Re69e5fbaddac4c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acd14b645b45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2aaca905014982" /><Relationship Type="http://schemas.openxmlformats.org/officeDocument/2006/relationships/notesMaster" Target="/ppt/notesMasters/notesMaster1.xml" Id="Ree3f4f84dfa94a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a1fa0397a1417c" /><Relationship Type="http://schemas.openxmlformats.org/officeDocument/2006/relationships/notesMaster" Target="/ppt/notesMasters/notesMaster1.xml" Id="R880b03e80ffb4d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e85581b6c0442f" /><Relationship Type="http://schemas.openxmlformats.org/officeDocument/2006/relationships/notesMaster" Target="/ppt/notesMasters/notesMaster1.xml" Id="Rbd51b4b8cb2f40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9672558a9746cd" /><Relationship Type="http://schemas.openxmlformats.org/officeDocument/2006/relationships/notesMaster" Target="/ppt/notesMasters/notesMaster1.xml" Id="R698e96abd49148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89b8ca23a6496f" /><Relationship Type="http://schemas.openxmlformats.org/officeDocument/2006/relationships/notesMaster" Target="/ppt/notesMasters/notesMaster1.xml" Id="Rca4afe4757a94d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1c17dba8b54def" /><Relationship Type="http://schemas.openxmlformats.org/officeDocument/2006/relationships/notesMaster" Target="/ppt/notesMasters/notesMaster1.xml" Id="Rbc236718356e41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eb34374c064f37" /><Relationship Type="http://schemas.openxmlformats.org/officeDocument/2006/relationships/notesMaster" Target="/ppt/notesMasters/notesMaster1.xml" Id="R34d961937d854d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4666e191af4655" /><Relationship Type="http://schemas.openxmlformats.org/officeDocument/2006/relationships/notesMaster" Target="/ppt/notesMasters/notesMaster1.xml" Id="R66f5ce38f51946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44f7379119496f" /><Relationship Type="http://schemas.openxmlformats.org/officeDocument/2006/relationships/notesMaster" Target="/ppt/notesMasters/notesMaster1.xml" Id="R1667fb01fd044d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e50bc028d04da4" /><Relationship Type="http://schemas.openxmlformats.org/officeDocument/2006/relationships/notesMaster" Target="/ppt/notesMasters/notesMaster1.xml" Id="R7beabaa5b1094a0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d6351ef13141f2" /><Relationship Type="http://schemas.openxmlformats.org/officeDocument/2006/relationships/notesMaster" Target="/ppt/notesMasters/notesMaster1.xml" Id="R30569df1517247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edb47c46664587" /><Relationship Type="http://schemas.openxmlformats.org/officeDocument/2006/relationships/notesMaster" Target="/ppt/notesMasters/notesMaster1.xml" Id="R7f5faee5a4884d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e967f0711a449a5" /><Relationship Type="http://schemas.openxmlformats.org/officeDocument/2006/relationships/notesMaster" Target="/ppt/notesMasters/notesMaster1.xml" Id="Rd51da947407648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20 seconds.</a:t>
            </a:r>
          </a:p>
          <a:p xmlns:a="http://schemas.openxmlformats.org/drawingml/2006/main">
            <a:r>
              <a:t>Introduce the question: can the same 4×4 matrix product be computed with fewer scalar multiplications? The numbers refer to a modulo 2 task. The 47 result is from Fawzi et al., Nature 2022, DOI 10.1038/s41586-022-05172-4. Design adapted from the supplied HTML presentation.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35 seconds.</a:t>
            </a:r>
          </a:p>
          <a:p xmlns:a="http://schemas.openxmlformats.org/drawingml/2006/main">
            <a:r>
              <a:t>Problem: matrix multiplication appears in AI and scientific computing. We focus on 4×4 matrices. One cell is a row–column dot product. The notebook calculates each dot product with + and * and reduces its output modulo 2. The ordinary direct algorithm needs 4 scalar products for each of 16 cells, or 64 total. Source: supplied matrix notebook and Fawzi et al., Nature 2022.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45 seconds.</a:t>
            </a:r>
          </a:p>
          <a:p xmlns:a="http://schemas.openxmlformats.org/drawingml/2006/main">
            <a:r>
              <a:t>Direct 4×4 multiplication uses c[i,j] = sum over k of a[i,k]b[k,j], reduced modulo 2. Sixteen outputs each need four scalar products, giving 64 products and 48 output additions. Strassen first divides each 4×4 input into 2×2 blocks. For 2×2 matrices A=[[a,b],[c,d]] and B=[[e,f],[g,h]], seven products replace the eight products in the direct rule. Over F2: M1=(a+d)(e+h), M2=(c+d)e, M3=a(f+h), M4=d(g+e), M5=(a+b)h, M6=(c+a)(e+f), M7=(b+d)(g+h). The outputs are C11=M1+M4+M5+M7, C12=M3+M5, C21=M2+M4, and C22=M1+M2+M3+M6, all modulo 2. Apply the same seven-product rule inside each block multiplication: 7×7=49 scalar products for 4×4. The notebook expands these factors and checks the full identity. Source: accompanying notebook; Fawzi et al., Nature 2022.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seconds.</a:t>
            </a:r>
          </a:p>
          <a:p xmlns:a="http://schemas.openxmlformats.org/drawingml/2006/main">
            <a:r>
              <a:t>Continue from the previous slide, which defines A=[[a,b],[c,d]] and B=[[e,f],[g,h]]. Explain that each M is one multiplication of sums. The seven products replace the eight scalar products in direct 2×2 multiplication. All formulas here are modulo 2, so the subtractions in the usual Strassen version are written as additions. Point to C11 and expand: M1=(a+d)(e+h)=ae+ah+de+dh; M4=d(g+e)=dg+de; M5=(a+b)h=ah+bh; M7=(b+d)(g+h)=bg+bh+dg+dh. The duplicate ah, de, dg, dh, and bh terms each occur twice and disappear after modulo 2, leaving C11=ae+bg. The other three output formulas similarly give af+bh, ce+dg, and cf+dh. For 4×4 matrices, apply the seven-product pattern to 2×2 blocks and again inside each block product, giving 7×7=49 scalar multiplications. Source: standard Strassen identities over F2; accompanying notebook comparison factors.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45 seconds.</a:t>
            </a:r>
          </a:p>
          <a:p xmlns:a="http://schemas.openxmlformats.org/drawingml/2006/main">
            <a:r>
              <a:t>Plain language: AlphaTensor plays a one-player game. At each move it proposes a rank-one factor, removes its contribution from the remaining tensor, and seeks zero residual with few moves. The AI uses a learned policy and tree search. Our code implements the resulting decomposition, not the original RL search. Source: Fawzi et al., Nature 2022, sections “Algorithms as tensor decomposition” and “DRL for algorithm discovery.”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55 seconds.</a:t>
            </a:r>
          </a:p>
          <a:p xmlns:a="http://schemas.openxmlformats.org/drawingml/2006/main">
            <a:r>
              <a:t>Shapes: flatten each 4×4 matrix into 16 entries. T has 16×16×16=4096 binary coefficients. Its coefficient T[o,i,j] says whether the product of A[i] and B[j] contributes to C[o]. A factor has u,v,w in F2^16. The complete identity is T is the sum of u_r ⊗ v_r ⊗ w_r, with each coefficient reduced modulo 2. This is the tensor decomposition in the paper, equation 1. The notebook checks every coefficient.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65 seconds.</a:t>
            </a:r>
          </a:p>
          <a:p xmlns:a="http://schemas.openxmlformats.org/drawingml/2006/main">
            <a:r>
              <a:t>Explain the four equations in sequence. Each u and v is a length-16 list of 0/1 coefficients. Form two sums, multiply them to get p, and add w[o]p to each output sum. Reduce the outputs modulo 2 after all 47 factors. Example first published factor: u selects A13, v selects B31, w selects C11, C12, C21. Some unwanted contributions disappear when the complete output sum is reduced modulo 2. Source: supplied notebook and embedded author factorization, commit 1949163da3bef7e3eb268a3ac015fd1c2dbfc767.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65 seconds.</a:t>
            </a:r>
          </a:p>
          <a:p xmlns:a="http://schemas.openxmlformats.org/drawingml/2006/main">
            <a:r>
              <a:t>Open the accompanying alphatensor_demo.ipynb and walk through the loop. Each published factor contains plain 0/1 arrays u, v, and w. The loop forms each weighted sum with + and *, multiplies left by right, adds the result to selected outputs, and reduces final outputs modulo 2. The 47 triples are published data; the main arithmetic is explicit Python. Source: supplied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40 seconds.</a:t>
            </a:r>
          </a:p>
          <a:p xmlns:a="http://schemas.openxmlformats.org/drawingml/2006/main">
            <a:r>
              <a:t>A single numerical example cannot establish correctness for arbitrary inputs. The notebook computes the target coefficient for every output o, A index i, and B index j, then reconstructs it from all 47 factors. There are 16 cubed, or 4096, coefficients. Zero mismatches proves the decomposition identity over F2. A separate 100-pair NumPy check catches implementation errors. Source: supplied notebook; published factorization from AlphaTensor author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35 seconds.</a:t>
            </a:r>
          </a:p>
          <a:p xmlns:a="http://schemas.openxmlformats.org/drawingml/2006/main">
            <a:r>
              <a:t>For numbers with n digits, the grade-school addition method visits about n columns. Grade-school multiplication forms up to n squared digit products before summing them. This motivates studying the number of products. It is not a claim that every machine multiplication always costs more than every addition. In this notebook, each scalar is a bit modulo 2, and both operations can be cheap. The later m=1 and m=20 examples are assumed relative costs for an experiment, not measured hardware timings. Memory access, implementation, and shared subexpressions also affect runtime. Source: elementary schoolbook arithmetic analysis; accompanying notebook operation-count experiment.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40 seconds.</a:t>
            </a:r>
          </a:p>
          <a:p xmlns:a="http://schemas.openxmlformats.org/drawingml/2006/main">
            <a:r>
              <a:t>Describe the experiment: compare direct, two-level Strassen, and published AlphaTensor factorization. Our expanded implementation counts 48, 318, and 340 additions respectively. These counts are from the notebook and do not minimize shared sums. At m=1 direct is cheapest; at m=20 AlphaTensor is cheapest in this toy arithmetic model. The table is not a GPU benchmark. Source: supplied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35 seconds.</a:t>
            </a:r>
          </a:p>
          <a:p xmlns:a="http://schemas.openxmlformats.org/drawingml/2006/main">
            <a:r>
              <a:t>State denominators carefully. Relative to direct: 17/64 = 26.5625%. Relative to Strassen: 2/49 = 4.0816%. This is multiplication-count reduction, not a measured speedup. The paper separately studies hardware-tailored algorithms with real benchmarks; that is distinct from the 47-term F2 example. Source: Fawzi et al., Nature 2022, Fig. 3 and Fig. 5; supplied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60 seconds.</a:t>
            </a:r>
          </a:p>
          <a:p xmlns:a="http://schemas.openxmlformats.org/drawingml/2006/main">
            <a:r>
              <a:t>Conclude honestly. AlphaTensor can search in other arithmetic systems. These particular 47 factors were found over F2. For example, the coefficient of A11×B31 in C12 sums to 2 across the factors; the correct coefficient is 0, and 2 mod 2 is 0. The Nature paper reports a 47-multiplication rank upper bound for 4×4 matrices over F2. The notebook is a transparent factorization evaluator and verifier, not a reproduction of AlphaTensor training. Lower multiplication rank may trade off with additions and memory. For an AI-method rubric, explain the reinforcement-learning method in the talk while acknowledging the implementation scope. Source: Fawzi et al., Nature 2022, DOI 10.1038/s41586-022-05172-4; author repository; supplied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56cbc4b26450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e2c9b11a8b4a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b63e39519447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9fd1278164e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665f2b955423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e13eb30024c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6C6CC7-29D6-4CEF-913E-20B0745944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951C85D-728A-4F1C-9C57-C04747DBAF2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2284720-DF86-4B71-B3D8-E6C953221D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2841AE-B15D-4A1F-8BF6-762F8B4804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A2A54A9-0DF7-4D80-88B9-28BF119EA6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9C8859-BB84-4C71-B578-DA2F6FED11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1B26DB-98E3-41BA-B8C7-38063FE870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FB3E6FE-54A6-46C5-A792-790C3AFEB1D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90012D-4359-4618-BC40-336AEF7524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15BB67-CEA4-4EE5-B822-1E91956601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ce4841d73d47f9" /><Relationship Type="http://schemas.openxmlformats.org/officeDocument/2006/relationships/slideLayout" Target="/ppt/slideLayouts/slideLayout1.xml" Id="Raf9fe9dd37004bff" /><Relationship Type="http://schemas.openxmlformats.org/officeDocument/2006/relationships/slideLayout" Target="/ppt/slideLayouts/slideLayout2.xml" Id="R84c2a6409f444232" /><Relationship Type="http://schemas.openxmlformats.org/officeDocument/2006/relationships/slideLayout" Target="/ppt/slideLayouts/slideLayout3.xml" Id="R11c2311e7f8b4675" /><Relationship Type="http://schemas.openxmlformats.org/officeDocument/2006/relationships/slideLayout" Target="/ppt/slideLayouts/slideLayout4.xml" Id="R2382ebb6e8324c11" /><Relationship Type="http://schemas.openxmlformats.org/officeDocument/2006/relationships/slideLayout" Target="/ppt/slideLayouts/slideLayout5.xml" Id="Ra526abbbe0a140f0" /><Relationship Type="http://schemas.openxmlformats.org/officeDocument/2006/relationships/slideLayout" Target="/ppt/slideLayouts/slideLayout6.xml" Id="R2f90e416a5c446a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9fe9dd37004bff"/>
    <p:sldLayoutId xmlns:r="http://schemas.openxmlformats.org/officeDocument/2006/relationships" id="2147483650" r:id="R84c2a6409f444232"/>
    <p:sldLayoutId xmlns:r="http://schemas.openxmlformats.org/officeDocument/2006/relationships" id="2147483651" r:id="R11c2311e7f8b4675"/>
    <p:sldLayoutId xmlns:r="http://schemas.openxmlformats.org/officeDocument/2006/relationships" id="2147483652" r:id="R2382ebb6e8324c11"/>
    <p:sldLayoutId xmlns:r="http://schemas.openxmlformats.org/officeDocument/2006/relationships" id="2147483653" r:id="Ra526abbbe0a140f0"/>
    <p:sldLayoutId xmlns:r="http://schemas.openxmlformats.org/officeDocument/2006/relationships" id="2147483654" r:id="R2f90e416a5c446a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be8c9e7a364caa" /><Relationship Type="http://schemas.openxmlformats.org/officeDocument/2006/relationships/notesSlide" Target="/ppt/notesSlides/notesSlide1.xml" Id="R3d4c122dca2b48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322df968a74ca8" /><Relationship Type="http://schemas.openxmlformats.org/officeDocument/2006/relationships/notesSlide" Target="/ppt/notesSlides/notesSlide2.xml" Id="Re793350daf0f40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8fa1a2e0284892" /><Relationship Type="http://schemas.openxmlformats.org/officeDocument/2006/relationships/notesSlide" Target="/ppt/notesSlides/notesSlide3.xml" Id="Rf9a29e3557a141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a93bf08556419f" /><Relationship Type="http://schemas.openxmlformats.org/officeDocument/2006/relationships/notesSlide" Target="/ppt/notesSlides/notesSlide4.xml" Id="R9a5d249746a142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cc24728ab24bab" /><Relationship Type="http://schemas.openxmlformats.org/officeDocument/2006/relationships/notesSlide" Target="/ppt/notesSlides/notesSlide5.xml" Id="R140598d7953146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0f2c5f2b5f4c89" /><Relationship Type="http://schemas.openxmlformats.org/officeDocument/2006/relationships/notesSlide" Target="/ppt/notesSlides/notesSlide6.xml" Id="R3f89e59bd2df43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f9c42590c14303" /><Relationship Type="http://schemas.openxmlformats.org/officeDocument/2006/relationships/notesSlide" Target="/ppt/notesSlides/notesSlide7.xml" Id="R18fced0194a24b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577b4914254220" /><Relationship Type="http://schemas.openxmlformats.org/officeDocument/2006/relationships/notesSlide" Target="/ppt/notesSlides/notesSlide8.xml" Id="Rb950e452d63c4f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6855880d8d4a07" /><Relationship Type="http://schemas.openxmlformats.org/officeDocument/2006/relationships/notesSlide" Target="/ppt/notesSlides/notesSlide9.xml" Id="R895496a4c6ad41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cb5eebc0da4cdd" /><Relationship Type="http://schemas.openxmlformats.org/officeDocument/2006/relationships/notesSlide" Target="/ppt/notesSlides/notesSlide10.xml" Id="R4b2de28bb38d49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17cec84e384d33" /><Relationship Type="http://schemas.openxmlformats.org/officeDocument/2006/relationships/notesSlide" Target="/ppt/notesSlides/notesSlide11.xml" Id="Rbce297d52c4e45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82382dabec4856" /><Relationship Type="http://schemas.openxmlformats.org/officeDocument/2006/relationships/notesSlide" Target="/ppt/notesSlides/notesSlide12.xml" Id="R1ab885c54e2546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907ad31b3a457a" /><Relationship Type="http://schemas.openxmlformats.org/officeDocument/2006/relationships/notesSlide" Target="/ppt/notesSlides/notesSlide13.xml" Id="Rb28990b8853444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9EDD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MATRIX × AI">
            <a:extLst xmlns:a="http://schemas.openxmlformats.org/drawingml/2006/main">
              <a:ext uri="{FF2B5EF4-FFF2-40B4-BE49-F238E27FC236}">
                <a16:creationId xmlns:a16="http://schemas.microsoft.com/office/drawing/2014/main" id="{A2D8BDFA-90DD-4821-97B6-1360900B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MATRIX × AI</a:t>
            </a:r>
          </a:p>
        </p:txBody>
      </p:sp>
      <p:sp>
        <p:nvSpPr>
          <p:cNvPr id="2" name="How AI finds a shorter&#10;m">
            <a:extLst xmlns:a="http://schemas.openxmlformats.org/drawingml/2006/main">
              <a:ext uri="{FF2B5EF4-FFF2-40B4-BE49-F238E27FC236}">
                <a16:creationId xmlns:a16="http://schemas.microsoft.com/office/drawing/2014/main" id="{6B7D4B5D-735C-46E0-9453-AF8E8FDE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1066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How AI finds a shorter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matrix multiplication</a:t>
            </a:r>
          </a:p>
        </p:txBody>
      </p:sp>
      <p:sp>
        <p:nvSpPr>
          <p:cNvPr id="3" name="AlphaTensor · a 4×4 exam">
            <a:extLst xmlns:a="http://schemas.openxmlformats.org/drawingml/2006/main">
              <a:ext uri="{FF2B5EF4-FFF2-40B4-BE49-F238E27FC236}">
                <a16:creationId xmlns:a16="http://schemas.microsoft.com/office/drawing/2014/main" id="{CB241046-3E9C-4353-86AF-D9C6FD84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718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AlphaTensor · a 4×4 example over modulo 2</a:t>
            </a:r>
          </a:p>
        </p:txBody>
      </p:sp>
      <p:sp>
        <p:nvSpPr>
          <p:cNvPr id="4" name="64  /  49  /  47">
            <a:extLst xmlns:a="http://schemas.openxmlformats.org/drawingml/2006/main">
              <a:ext uri="{FF2B5EF4-FFF2-40B4-BE49-F238E27FC236}">
                <a16:creationId xmlns:a16="http://schemas.microsoft.com/office/drawing/2014/main" id="{D500C060-BE55-4644-A6D6-6DFF206C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885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495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64  /  49  /  47</a:t>
            </a:r>
          </a:p>
        </p:txBody>
      </p:sp>
      <p:sp>
        <p:nvSpPr>
          <p:cNvPr id="5" name="Direct             Stras">
            <a:extLst xmlns:a="http://schemas.openxmlformats.org/drawingml/2006/main">
              <a:ext uri="{FF2B5EF4-FFF2-40B4-BE49-F238E27FC236}">
                <a16:creationId xmlns:a16="http://schemas.microsoft.com/office/drawing/2014/main" id="{1237EF1C-317A-4034-8B46-5CA8FA9A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483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Direct             Strassen          AlphaTensor</a:t>
            </a:r>
          </a:p>
        </p:txBody>
      </p:sp>
    </p:spTree>
    <p:extLst>
      <p:ext uri="{BB962C8B-B14F-4D97-AF65-F5344CB8AC3E}">
        <p14:creationId xmlns:p14="http://schemas.microsoft.com/office/powerpoint/2010/main" val="1940717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ROBLEM · 4×4 MATRICES">
            <a:extLst xmlns:a="http://schemas.openxmlformats.org/drawingml/2006/main">
              <a:ext uri="{FF2B5EF4-FFF2-40B4-BE49-F238E27FC236}">
                <a16:creationId xmlns:a16="http://schemas.microsoft.com/office/drawing/2014/main" id="{DC24F752-4A7D-4DA1-974A-2ED8AF9B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PROBLEM · 4×4 MATRICES</a:t>
            </a:r>
          </a:p>
        </p:txBody>
      </p:sp>
      <p:sp>
        <p:nvSpPr>
          <p:cNvPr id="2" name="The problem: compute C =">
            <a:extLst xmlns:a="http://schemas.openxmlformats.org/drawingml/2006/main">
              <a:ext uri="{FF2B5EF4-FFF2-40B4-BE49-F238E27FC236}">
                <a16:creationId xmlns:a16="http://schemas.microsoft.com/office/drawing/2014/main" id="{1065A926-F994-425E-8D59-4F853FD4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The problem: compute C = AB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44AA7DA3-A625-483A-BD0D-434492D0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02 / 13</a:t>
            </a:r>
          </a:p>
        </p:txBody>
      </p:sp>
      <p:sp>
        <p:nvSpPr>
          <p:cNvPr id="4" name="A and B each contain 16 ">
            <a:extLst xmlns:a="http://schemas.openxmlformats.org/drawingml/2006/main">
              <a:ext uri="{FF2B5EF4-FFF2-40B4-BE49-F238E27FC236}">
                <a16:creationId xmlns:a16="http://schemas.microsoft.com/office/drawing/2014/main" id="{1F26DE98-D9F7-4477-8F5D-50AE1B13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621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A and B each contain 16 entries. C has 16 output cells.</a:t>
            </a:r>
          </a:p>
        </p:txBody>
      </p:sp>
      <p:sp>
        <p:nvSpPr>
          <p:cNvPr id="5" name="C₁₁ = A₁₁B₁₁ ⊕ A₁₂B₂₁ ⊕ ">
            <a:extLst xmlns:a="http://schemas.openxmlformats.org/drawingml/2006/main">
              <a:ext uri="{FF2B5EF4-FFF2-40B4-BE49-F238E27FC236}">
                <a16:creationId xmlns:a16="http://schemas.microsoft.com/office/drawing/2014/main" id="{B85B621B-43EB-4EF7-A9E7-7AFD3722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4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C₁₁ = (A₁₁B₁₁ + A₁₂B₂₁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      + A₁₃B₃₁ + A₁₄B₄₁) % 2</a:t>
            </a:r>
          </a:p>
        </p:txBody>
      </p:sp>
      <p:sp>
        <p:nvSpPr>
          <p:cNvPr id="6" name="Each cell needs 4 scalar">
            <a:extLst xmlns:a="http://schemas.openxmlformats.org/drawingml/2006/main">
              <a:ext uri="{FF2B5EF4-FFF2-40B4-BE49-F238E27FC236}">
                <a16:creationId xmlns:a16="http://schemas.microsoft.com/office/drawing/2014/main" id="{6F5D52A6-40DD-49D7-87BE-4F0284BC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Each cell needs 4 scalar products. Direct multiplication uses 16 × 4 = 64.</a:t>
            </a:r>
          </a:p>
        </p:txBody>
      </p:sp>
      <p:sp>
        <p:nvSpPr>
          <p:cNvPr id="7" name="⊕ means addition modulo ">
            <a:extLst xmlns:a="http://schemas.openxmlformats.org/drawingml/2006/main">
              <a:ext uri="{FF2B5EF4-FFF2-40B4-BE49-F238E27FC236}">
                <a16:creationId xmlns:a16="http://schemas.microsoft.com/office/drawing/2014/main" id="{AC9646CD-7890-476D-A4FF-831EC2D7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For binary matrices, take each output sum modulo 2.</a:t>
            </a:r>
          </a:p>
        </p:txBody>
      </p:sp>
    </p:spTree>
    <p:extLst>
      <p:ext uri="{BB962C8B-B14F-4D97-AF65-F5344CB8AC3E}">
        <p14:creationId xmlns:p14="http://schemas.microsoft.com/office/powerpoint/2010/main" val="1891529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5781765-BA0B-425B-A434-05B84A4A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MATH · DIRECT AND STRASSEN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BB8CCD1-B71D-41B5-8388-E7E7B7C1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Direct multiplication and Strassen</a:t>
            </a:r>
          </a:p>
        </p:txBody>
      </p:sp>
      <p:sp>
        <p:nvSpPr>
          <p:cNvPr id="3" name="direct-label">
            <a:extLst xmlns:a="http://schemas.openxmlformats.org/drawingml/2006/main">
              <a:ext uri="{FF2B5EF4-FFF2-40B4-BE49-F238E27FC236}">
                <a16:creationId xmlns:a16="http://schemas.microsoft.com/office/drawing/2014/main" id="{87F8887F-243E-42BF-83EB-A9791E1D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Direct 4×4 product</a:t>
            </a:r>
          </a:p>
        </p:txBody>
      </p:sp>
      <p:sp>
        <p:nvSpPr>
          <p:cNvPr id="4" name="direct-formula">
            <a:extLst xmlns:a="http://schemas.openxmlformats.org/drawingml/2006/main">
              <a:ext uri="{FF2B5EF4-FFF2-40B4-BE49-F238E27FC236}">
                <a16:creationId xmlns:a16="http://schemas.microsoft.com/office/drawing/2014/main" id="{333DC3F6-0407-4160-B184-C9CEBADB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cᵢⱼ = (Σₖ aᵢₖ bₖⱼ) % 2</a:t>
            </a:r>
          </a:p>
        </p:txBody>
      </p:sp>
      <p:sp>
        <p:nvSpPr>
          <p:cNvPr id="5" name="direct-count">
            <a:extLst xmlns:a="http://schemas.openxmlformats.org/drawingml/2006/main">
              <a:ext uri="{FF2B5EF4-FFF2-40B4-BE49-F238E27FC236}">
                <a16:creationId xmlns:a16="http://schemas.microsoft.com/office/drawing/2014/main" id="{385A47D3-4645-40A1-A7F9-20A3874E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16 outputs × 4 products = 64</a:t>
            </a:r>
          </a:p>
        </p:txBody>
      </p:sp>
      <p:sp>
        <p:nvSpPr>
          <p:cNvPr id="6" name="direct-additions">
            <a:extLst xmlns:a="http://schemas.openxmlformats.org/drawingml/2006/main">
              <a:ext uri="{FF2B5EF4-FFF2-40B4-BE49-F238E27FC236}">
                <a16:creationId xmlns:a16="http://schemas.microsoft.com/office/drawing/2014/main" id="{CB8D99A3-C3A4-4C25-BCE1-36342843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48 additions</a:t>
            </a:r>
          </a:p>
        </p:txBody>
      </p:sp>
      <p:sp>
        <p:nvSpPr>
          <p:cNvPr id="7" name="strassen-label">
            <a:extLst xmlns:a="http://schemas.openxmlformats.org/drawingml/2006/main">
              <a:ext uri="{FF2B5EF4-FFF2-40B4-BE49-F238E27FC236}">
                <a16:creationId xmlns:a16="http://schemas.microsoft.com/office/drawing/2014/main" id="{1EA6994A-BFD3-4842-B910-90238AD2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Strassen on 2×2 blocks</a:t>
            </a:r>
          </a:p>
        </p:txBody>
      </p:sp>
      <p:sp>
        <p:nvSpPr>
          <p:cNvPr id="8" name="strassen-formula">
            <a:extLst xmlns:a="http://schemas.openxmlformats.org/drawingml/2006/main">
              <a:ext uri="{FF2B5EF4-FFF2-40B4-BE49-F238E27FC236}">
                <a16:creationId xmlns:a16="http://schemas.microsoft.com/office/drawing/2014/main" id="{EB427D14-32B1-4C9A-99C8-035A7984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860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M₁ = (a + d)(e + h)</a:t>
            </a:r>
          </a:p>
        </p:txBody>
      </p:sp>
      <p:sp>
        <p:nvSpPr>
          <p:cNvPr id="9" name="strassen-count">
            <a:extLst xmlns:a="http://schemas.openxmlformats.org/drawingml/2006/main">
              <a:ext uri="{FF2B5EF4-FFF2-40B4-BE49-F238E27FC236}">
                <a16:creationId xmlns:a16="http://schemas.microsoft.com/office/drawing/2014/main" id="{F1A66671-AB44-4D7E-BA6A-7B65A83F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1470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7 block products, then repeat</a:t>
            </a:r>
          </a:p>
        </p:txBody>
      </p:sp>
      <p:sp>
        <p:nvSpPr>
          <p:cNvPr id="10" name="strassen-result">
            <a:extLst xmlns:a="http://schemas.openxmlformats.org/drawingml/2006/main">
              <a:ext uri="{FF2B5EF4-FFF2-40B4-BE49-F238E27FC236}">
                <a16:creationId xmlns:a16="http://schemas.microsoft.com/office/drawing/2014/main" id="{03F7C5F1-CAFA-4CBB-8E88-2FD77835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2430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7 × 7 = 49 products for 4×4</a:t>
            </a:r>
          </a:p>
        </p:txBody>
      </p:sp>
      <p:sp>
        <p:nvSpPr>
          <p:cNvPr id="11" name="block-definition">
            <a:extLst xmlns:a="http://schemas.openxmlformats.org/drawingml/2006/main">
              <a:ext uri="{FF2B5EF4-FFF2-40B4-BE49-F238E27FC236}">
                <a16:creationId xmlns:a16="http://schemas.microsoft.com/office/drawing/2014/main" id="{D8BE430A-0A2F-4392-85C7-2214D056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A = [[a,b],[c,d]]     B = [[e,f],[g,h]]</a:t>
            </a:r>
          </a:p>
        </p:txBody>
      </p:sp>
      <p:sp>
        <p:nvSpPr>
          <p:cNvPr id="12" name="output-recombination">
            <a:extLst xmlns:a="http://schemas.openxmlformats.org/drawingml/2006/main">
              <a:ext uri="{FF2B5EF4-FFF2-40B4-BE49-F238E27FC236}">
                <a16:creationId xmlns:a16="http://schemas.microsoft.com/office/drawing/2014/main" id="{8A8D746D-812E-413D-B128-71FA20A0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C₁₁ = M₁ + M₄ + M₅ + M₇</a:t>
            </a:r>
          </a:p>
        </p:txBody>
      </p:sp>
      <p:sp>
        <p:nvSpPr>
          <p:cNvPr id="13" name="rule-note">
            <a:extLst xmlns:a="http://schemas.openxmlformats.org/drawingml/2006/main">
              <a:ext uri="{FF2B5EF4-FFF2-40B4-BE49-F238E27FC236}">
                <a16:creationId xmlns:a16="http://schemas.microsoft.com/office/drawing/2014/main" id="{E5E77FB3-22F4-4572-8DD8-38172E8D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In modulo 2, Strassen uses additions in place of subtractions.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5FAC654-5FA6-4115-AF2F-DC1B602D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03 / 13</a:t>
            </a:r>
          </a:p>
        </p:txBody>
      </p:sp>
    </p:spTree>
    <p:extLst>
      <p:ext uri="{BB962C8B-B14F-4D97-AF65-F5344CB8AC3E}">
        <p14:creationId xmlns:p14="http://schemas.microsoft.com/office/powerpoint/2010/main" val="5409893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173F16E4-525E-4DBA-9A10-ED258DE6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MATH · STRASSEN FORMULA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8EC050D-29F6-49CE-A15F-CA8B8B8A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Strassen's seven products</a:t>
            </a:r>
          </a:p>
        </p:txBody>
      </p:sp>
      <p:sp>
        <p:nvSpPr>
          <p:cNvPr id="3" name="products-label">
            <a:extLst xmlns:a="http://schemas.openxmlformats.org/drawingml/2006/main">
              <a:ext uri="{FF2B5EF4-FFF2-40B4-BE49-F238E27FC236}">
                <a16:creationId xmlns:a16="http://schemas.microsoft.com/office/drawing/2014/main" id="{D27F06BF-F7E3-4302-A10F-90EA66FB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Products (mod 2)</a:t>
            </a:r>
          </a:p>
        </p:txBody>
      </p:sp>
      <p:sp>
        <p:nvSpPr>
          <p:cNvPr id="4" name="outputs-label">
            <a:extLst xmlns:a="http://schemas.openxmlformats.org/drawingml/2006/main">
              <a:ext uri="{FF2B5EF4-FFF2-40B4-BE49-F238E27FC236}">
                <a16:creationId xmlns:a16="http://schemas.microsoft.com/office/drawing/2014/main" id="{4C2DDE73-E3BD-4322-8414-A6777ADF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6097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Recombine the outputs</a:t>
            </a:r>
          </a:p>
        </p:txBody>
      </p:sp>
      <p:sp>
        <p:nvSpPr>
          <p:cNvPr id="5" name="product-1">
            <a:extLst xmlns:a="http://schemas.openxmlformats.org/drawingml/2006/main">
              <a:ext uri="{FF2B5EF4-FFF2-40B4-BE49-F238E27FC236}">
                <a16:creationId xmlns:a16="http://schemas.microsoft.com/office/drawing/2014/main" id="{4EFA6E06-B673-420D-B7F3-64E056FB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M₁ = (a+d)(e+h)</a:t>
            </a:r>
          </a:p>
        </p:txBody>
      </p:sp>
      <p:sp>
        <p:nvSpPr>
          <p:cNvPr id="6" name="product-2">
            <a:extLst xmlns:a="http://schemas.openxmlformats.org/drawingml/2006/main">
              <a:ext uri="{FF2B5EF4-FFF2-40B4-BE49-F238E27FC236}">
                <a16:creationId xmlns:a16="http://schemas.microsoft.com/office/drawing/2014/main" id="{610B01AD-687B-41C0-B942-6D74C75F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2225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M₂ = (c+d)e</a:t>
            </a:r>
          </a:p>
        </p:txBody>
      </p:sp>
      <p:sp>
        <p:nvSpPr>
          <p:cNvPr id="7" name="product-3">
            <a:extLst xmlns:a="http://schemas.openxmlformats.org/drawingml/2006/main">
              <a:ext uri="{FF2B5EF4-FFF2-40B4-BE49-F238E27FC236}">
                <a16:creationId xmlns:a16="http://schemas.microsoft.com/office/drawing/2014/main" id="{D5D73C42-B026-4997-9E25-4462D7ED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M₃ = a(f+h)</a:t>
            </a:r>
          </a:p>
        </p:txBody>
      </p:sp>
      <p:sp>
        <p:nvSpPr>
          <p:cNvPr id="8" name="product-4">
            <a:extLst xmlns:a="http://schemas.openxmlformats.org/drawingml/2006/main">
              <a:ext uri="{FF2B5EF4-FFF2-40B4-BE49-F238E27FC236}">
                <a16:creationId xmlns:a16="http://schemas.microsoft.com/office/drawing/2014/main" id="{F5F2237D-F4BA-4B7F-BA58-F82AE1E9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M₄ = d(g+e)</a:t>
            </a:r>
          </a:p>
        </p:txBody>
      </p:sp>
      <p:sp>
        <p:nvSpPr>
          <p:cNvPr id="9" name="product-5">
            <a:extLst xmlns:a="http://schemas.openxmlformats.org/drawingml/2006/main">
              <a:ext uri="{FF2B5EF4-FFF2-40B4-BE49-F238E27FC236}">
                <a16:creationId xmlns:a16="http://schemas.microsoft.com/office/drawing/2014/main" id="{47C563D1-B57B-4863-A470-96F97EDC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M₅ = (a+b)h</a:t>
            </a:r>
          </a:p>
        </p:txBody>
      </p:sp>
      <p:sp>
        <p:nvSpPr>
          <p:cNvPr id="10" name="product-6">
            <a:extLst xmlns:a="http://schemas.openxmlformats.org/drawingml/2006/main">
              <a:ext uri="{FF2B5EF4-FFF2-40B4-BE49-F238E27FC236}">
                <a16:creationId xmlns:a16="http://schemas.microsoft.com/office/drawing/2014/main" id="{61EDCD30-365A-4285-8213-41498A59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M₆ = (c+a)(e+f)</a:t>
            </a:r>
          </a:p>
        </p:txBody>
      </p:sp>
      <p:sp>
        <p:nvSpPr>
          <p:cNvPr id="11" name="product-7">
            <a:extLst xmlns:a="http://schemas.openxmlformats.org/drawingml/2006/main">
              <a:ext uri="{FF2B5EF4-FFF2-40B4-BE49-F238E27FC236}">
                <a16:creationId xmlns:a16="http://schemas.microsoft.com/office/drawing/2014/main" id="{314A4AB2-4607-45E2-B8C1-150608C4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M₇ = (b+d)(g+h)</a:t>
            </a:r>
          </a:p>
        </p:txBody>
      </p:sp>
      <p:sp>
        <p:nvSpPr>
          <p:cNvPr id="12" name="output-1">
            <a:extLst xmlns:a="http://schemas.openxmlformats.org/drawingml/2006/main">
              <a:ext uri="{FF2B5EF4-FFF2-40B4-BE49-F238E27FC236}">
                <a16:creationId xmlns:a16="http://schemas.microsoft.com/office/drawing/2014/main" id="{78DBC6B2-FACF-44F2-928F-6AA58DA9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190750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C₁₁ = M₁+M₄+M₅+M₇</a:t>
            </a:r>
          </a:p>
        </p:txBody>
      </p:sp>
      <p:sp>
        <p:nvSpPr>
          <p:cNvPr id="13" name="output-2">
            <a:extLst xmlns:a="http://schemas.openxmlformats.org/drawingml/2006/main">
              <a:ext uri="{FF2B5EF4-FFF2-40B4-BE49-F238E27FC236}">
                <a16:creationId xmlns:a16="http://schemas.microsoft.com/office/drawing/2014/main" id="{387DB5EF-C25C-4A13-9FE6-9D6BBD80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79082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C₁₂ = M₃+M₅</a:t>
            </a:r>
          </a:p>
        </p:txBody>
      </p:sp>
      <p:sp>
        <p:nvSpPr>
          <p:cNvPr id="14" name="output-3">
            <a:extLst xmlns:a="http://schemas.openxmlformats.org/drawingml/2006/main">
              <a:ext uri="{FF2B5EF4-FFF2-40B4-BE49-F238E27FC236}">
                <a16:creationId xmlns:a16="http://schemas.microsoft.com/office/drawing/2014/main" id="{FAD6D142-43FF-4B66-9A64-F326F6E8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390900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C₂₁ = M₂+M₄</a:t>
            </a:r>
          </a:p>
        </p:txBody>
      </p:sp>
      <p:sp>
        <p:nvSpPr>
          <p:cNvPr id="15" name="output-4">
            <a:extLst xmlns:a="http://schemas.openxmlformats.org/drawingml/2006/main">
              <a:ext uri="{FF2B5EF4-FFF2-40B4-BE49-F238E27FC236}">
                <a16:creationId xmlns:a16="http://schemas.microsoft.com/office/drawing/2014/main" id="{B61323E2-2F8B-407F-A244-7AC23263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99097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C₂₂ = M₁+M₂+M₃+M₆</a:t>
            </a:r>
          </a:p>
        </p:txBody>
      </p:sp>
      <p:sp>
        <p:nvSpPr>
          <p:cNvPr id="16" name="worked-output">
            <a:extLst xmlns:a="http://schemas.openxmlformats.org/drawingml/2006/main">
              <a:ext uri="{FF2B5EF4-FFF2-40B4-BE49-F238E27FC236}">
                <a16:creationId xmlns:a16="http://schemas.microsoft.com/office/drawing/2014/main" id="{84E7D611-E295-4646-BE67-A2645C6A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772025"/>
            <a:ext cx="5048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Example: C₁₁ = ae + bg after pairs cancel</a:t>
            </a:r>
          </a:p>
        </p:txBody>
      </p:sp>
      <p:sp>
        <p:nvSpPr>
          <p:cNvPr id="17" name="recursion-note">
            <a:extLst xmlns:a="http://schemas.openxmlformats.org/drawingml/2006/main">
              <a:ext uri="{FF2B5EF4-FFF2-40B4-BE49-F238E27FC236}">
                <a16:creationId xmlns:a16="http://schemas.microsoft.com/office/drawing/2014/main" id="{3C2B73FF-1A75-42A2-A54D-BDD00EE6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Repeat the seven-product rule inside each 2×2 block: 7 × 7 = 49 products for 4×4.</a:t>
            </a:r>
          </a:p>
        </p:txBody>
      </p:sp>
      <p:sp>
        <p:nvSpPr>
          <p:cNvPr id="1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AE18BE0-D7E6-450B-B40A-1DE50867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04 / 13</a:t>
            </a:r>
          </a:p>
        </p:txBody>
      </p:sp>
    </p:spTree>
    <p:extLst>
      <p:ext uri="{BB962C8B-B14F-4D97-AF65-F5344CB8AC3E}">
        <p14:creationId xmlns:p14="http://schemas.microsoft.com/office/powerpoint/2010/main" val="17889497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IDEA · REINFORCEMENT LEA">
            <a:extLst xmlns:a="http://schemas.openxmlformats.org/drawingml/2006/main">
              <a:ext uri="{FF2B5EF4-FFF2-40B4-BE49-F238E27FC236}">
                <a16:creationId xmlns:a16="http://schemas.microsoft.com/office/drawing/2014/main" id="{1B1BB814-1BFA-425F-893D-9C5B5C9D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IDEA · REINFORCEMENT LEARNING</a:t>
            </a:r>
          </a:p>
        </p:txBody>
      </p:sp>
      <p:sp>
        <p:nvSpPr>
          <p:cNvPr id="2" name="AlphaTensor searches for">
            <a:extLst xmlns:a="http://schemas.openxmlformats.org/drawingml/2006/main">
              <a:ext uri="{FF2B5EF4-FFF2-40B4-BE49-F238E27FC236}">
                <a16:creationId xmlns:a16="http://schemas.microsoft.com/office/drawing/2014/main" id="{4BF1E464-BE63-4A1C-A43C-83206895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AlphaTensor searches for a computation recipe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15786306-3F09-4392-B6E6-0EC046E3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05 / 13</a:t>
            </a:r>
          </a:p>
        </p:txBody>
      </p:sp>
      <p:sp>
        <p:nvSpPr>
          <p:cNvPr id="4" name="Target">
            <a:extLst xmlns:a="http://schemas.openxmlformats.org/drawingml/2006/main">
              <a:ext uri="{FF2B5EF4-FFF2-40B4-BE49-F238E27FC236}">
                <a16:creationId xmlns:a16="http://schemas.microsoft.com/office/drawing/2014/main" id="{CA915D45-7DE0-4443-B6C2-A60DBEDD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Target</a:t>
            </a:r>
          </a:p>
        </p:txBody>
      </p:sp>
      <p:sp>
        <p:nvSpPr>
          <p:cNvPr id="5" name="All 4×4 input–output rel">
            <a:extLst xmlns:a="http://schemas.openxmlformats.org/drawingml/2006/main">
              <a:ext uri="{FF2B5EF4-FFF2-40B4-BE49-F238E27FC236}">
                <a16:creationId xmlns:a16="http://schemas.microsoft.com/office/drawing/2014/main" id="{60FC4BCF-D1AF-47F8-BC8A-54AEEDDE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07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All 4×4 input–output relationships</a:t>
            </a:r>
          </a:p>
        </p:txBody>
      </p:sp>
      <p:sp>
        <p:nvSpPr>
          <p:cNvPr id="6" name="Action">
            <a:extLst xmlns:a="http://schemas.openxmlformats.org/drawingml/2006/main">
              <a:ext uri="{FF2B5EF4-FFF2-40B4-BE49-F238E27FC236}">
                <a16:creationId xmlns:a16="http://schemas.microsoft.com/office/drawing/2014/main" id="{C7C5725E-434C-4FB4-9841-08FCE7B3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38325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</p:txBody>
      </p:sp>
      <p:sp>
        <p:nvSpPr>
          <p:cNvPr id="7" name="Choose input combination">
            <a:extLst xmlns:a="http://schemas.openxmlformats.org/drawingml/2006/main">
              <a:ext uri="{FF2B5EF4-FFF2-40B4-BE49-F238E27FC236}">
                <a16:creationId xmlns:a16="http://schemas.microsoft.com/office/drawing/2014/main" id="{C90706FC-A625-4F9B-9A0C-AB5A1132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90775"/>
            <a:ext cx="314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Choose input combinations and where their product goes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DCDC2A06-F0A4-4FCC-AD5A-4A974EB9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38325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9" name="Reach an exact decomposi">
            <a:extLst xmlns:a="http://schemas.openxmlformats.org/drawingml/2006/main">
              <a:ext uri="{FF2B5EF4-FFF2-40B4-BE49-F238E27FC236}">
                <a16:creationId xmlns:a16="http://schemas.microsoft.com/office/drawing/2014/main" id="{9A9F51D5-40DB-46D5-9319-3315E101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907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Reach an exact decomposition in as few terms as possible</a:t>
            </a:r>
          </a:p>
        </p:txBody>
      </p:sp>
      <p:sp>
        <p:nvSpPr>
          <p:cNvPr id="10" name="The published 47-term re">
            <a:extLst xmlns:a="http://schemas.openxmlformats.org/drawingml/2006/main">
              <a:ext uri="{FF2B5EF4-FFF2-40B4-BE49-F238E27FC236}">
                <a16:creationId xmlns:a16="http://schemas.microsoft.com/office/drawing/2014/main" id="{44731F7A-87B1-42B4-9F64-114905BF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The published 47-term recipe is the output of this search.</a:t>
            </a:r>
          </a:p>
        </p:txBody>
      </p:sp>
      <p:sp>
        <p:nvSpPr>
          <p:cNvPr id="11" name="Our notebook evaluates a">
            <a:extLst xmlns:a="http://schemas.openxmlformats.org/drawingml/2006/main">
              <a:ext uri="{FF2B5EF4-FFF2-40B4-BE49-F238E27FC236}">
                <a16:creationId xmlns:a16="http://schemas.microsoft.com/office/drawing/2014/main" id="{5524AE32-95EC-415F-B246-8880A9D1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Our notebook evaluates and verifies the recipe; it does not retrain AlphaTensor.</a:t>
            </a:r>
          </a:p>
        </p:txBody>
      </p:sp>
    </p:spTree>
    <p:extLst>
      <p:ext uri="{BB962C8B-B14F-4D97-AF65-F5344CB8AC3E}">
        <p14:creationId xmlns:p14="http://schemas.microsoft.com/office/powerpoint/2010/main" val="16340795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ATH · DECOMPOSITION">
            <a:extLst xmlns:a="http://schemas.openxmlformats.org/drawingml/2006/main">
              <a:ext uri="{FF2B5EF4-FFF2-40B4-BE49-F238E27FC236}">
                <a16:creationId xmlns:a16="http://schemas.microsoft.com/office/drawing/2014/main" id="{D6A40BFD-A55F-4E36-B1AC-AB3D450B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MATH · DECOMPOSITION</a:t>
            </a:r>
          </a:p>
        </p:txBody>
      </p:sp>
      <p:sp>
        <p:nvSpPr>
          <p:cNvPr id="2" name="Matrix multiplication as">
            <a:extLst xmlns:a="http://schemas.openxmlformats.org/drawingml/2006/main">
              <a:ext uri="{FF2B5EF4-FFF2-40B4-BE49-F238E27FC236}">
                <a16:creationId xmlns:a16="http://schemas.microsoft.com/office/drawing/2014/main" id="{E81A14D9-451B-4906-8034-36FE579A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Matrix multiplication as a tensor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7EB458CD-1118-45DF-B31A-21D549BF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06 / 13</a:t>
            </a:r>
          </a:p>
        </p:txBody>
      </p:sp>
      <p:sp>
        <p:nvSpPr>
          <p:cNvPr id="4" name="T ∈ 𝔽₂^(16×16×16)">
            <a:extLst xmlns:a="http://schemas.openxmlformats.org/drawingml/2006/main">
              <a:ext uri="{FF2B5EF4-FFF2-40B4-BE49-F238E27FC236}">
                <a16:creationId xmlns:a16="http://schemas.microsoft.com/office/drawing/2014/main" id="{24672E7F-9D13-48C2-9FEB-87205E45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952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39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390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T ∈ 𝔽₂^(16×16×16)</a:t>
            </a:r>
          </a:p>
        </p:txBody>
      </p:sp>
      <p:sp>
        <p:nvSpPr>
          <p:cNvPr id="5" name="16 choices for an A entr">
            <a:extLst xmlns:a="http://schemas.openxmlformats.org/drawingml/2006/main">
              <a:ext uri="{FF2B5EF4-FFF2-40B4-BE49-F238E27FC236}">
                <a16:creationId xmlns:a16="http://schemas.microsoft.com/office/drawing/2014/main" id="{17228AAD-991B-4C6B-8F4C-F534579A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16 choices for an A entry × 16 for a B entry × 16 output cells</a:t>
            </a:r>
          </a:p>
        </p:txBody>
      </p:sp>
      <p:sp>
        <p:nvSpPr>
          <p:cNvPr id="6" name="Tₒᵢⱼ = 1 when AᵢBⱼ belon">
            <a:extLst xmlns:a="http://schemas.openxmlformats.org/drawingml/2006/main">
              <a:ext uri="{FF2B5EF4-FFF2-40B4-BE49-F238E27FC236}">
                <a16:creationId xmlns:a16="http://schemas.microsoft.com/office/drawing/2014/main" id="{C424F3CC-C692-40AA-8649-0A84E6F0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6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Tₒᵢⱼ = 1 when AᵢBⱼ belongs in output Cₒ; otherwise 0</a:t>
            </a:r>
          </a:p>
        </p:txBody>
      </p:sp>
      <p:sp>
        <p:nvSpPr>
          <p:cNvPr id="7" name="Each factor uses three l">
            <a:extLst xmlns:a="http://schemas.openxmlformats.org/drawingml/2006/main">
              <a:ext uri="{FF2B5EF4-FFF2-40B4-BE49-F238E27FC236}">
                <a16:creationId xmlns:a16="http://schemas.microsoft.com/office/drawing/2014/main" id="{BEA691B4-FBD0-4208-86ED-3937E268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Each factor uses three length-16 vectors u, v, w.</a:t>
            </a:r>
          </a:p>
        </p:txBody>
      </p:sp>
    </p:spTree>
    <p:extLst>
      <p:ext uri="{BB962C8B-B14F-4D97-AF65-F5344CB8AC3E}">
        <p14:creationId xmlns:p14="http://schemas.microsoft.com/office/powerpoint/2010/main" val="7179818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ATH · A SINGLE TERM">
            <a:extLst xmlns:a="http://schemas.openxmlformats.org/drawingml/2006/main">
              <a:ext uri="{FF2B5EF4-FFF2-40B4-BE49-F238E27FC236}">
                <a16:creationId xmlns:a16="http://schemas.microsoft.com/office/drawing/2014/main" id="{CC04ADA5-1805-4316-AA3F-886EF277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MATH · A SINGLE TERM</a:t>
            </a:r>
          </a:p>
        </p:txBody>
      </p:sp>
      <p:sp>
        <p:nvSpPr>
          <p:cNvPr id="2" name="One factor is one scalar">
            <a:extLst xmlns:a="http://schemas.openxmlformats.org/drawingml/2006/main">
              <a:ext uri="{FF2B5EF4-FFF2-40B4-BE49-F238E27FC236}">
                <a16:creationId xmlns:a16="http://schemas.microsoft.com/office/drawing/2014/main" id="{D3466809-BBA5-41C3-8613-D73C802E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One factor is one scalar multiplication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C4140A24-411F-4533-9F2C-8BF1BDC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07 / 13</a:t>
            </a:r>
          </a:p>
        </p:txBody>
      </p:sp>
      <p:sp>
        <p:nvSpPr>
          <p:cNvPr id="4" name="Lᵣ = ⊕ᵢ uᵣᵢ Aᵢ">
            <a:extLst xmlns:a="http://schemas.openxmlformats.org/drawingml/2006/main">
              <a:ext uri="{FF2B5EF4-FFF2-40B4-BE49-F238E27FC236}">
                <a16:creationId xmlns:a16="http://schemas.microsoft.com/office/drawing/2014/main" id="{4CCAC62C-452B-4890-8FDB-2FCC79B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533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270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Lᵣ = Σᵢ uᵣᵢ Aᵢ</a:t>
            </a:r>
          </a:p>
        </p:txBody>
      </p:sp>
      <p:sp>
        <p:nvSpPr>
          <p:cNvPr id="5" name="Rᵣ = ⊕ⱼ vᵣⱼ Bⱼ">
            <a:extLst xmlns:a="http://schemas.openxmlformats.org/drawingml/2006/main">
              <a:ext uri="{FF2B5EF4-FFF2-40B4-BE49-F238E27FC236}">
                <a16:creationId xmlns:a16="http://schemas.microsoft.com/office/drawing/2014/main" id="{B390CBDB-2847-4773-B6EE-8B4457C4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9725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270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Rᵣ = Σⱼ vᵣⱼ Bⱼ</a:t>
            </a:r>
          </a:p>
        </p:txBody>
      </p:sp>
      <p:sp>
        <p:nvSpPr>
          <p:cNvPr id="6" name="pᵣ = Lᵣ × Rᵣ">
            <a:extLst xmlns:a="http://schemas.openxmlformats.org/drawingml/2006/main">
              <a:ext uri="{FF2B5EF4-FFF2-40B4-BE49-F238E27FC236}">
                <a16:creationId xmlns:a16="http://schemas.microsoft.com/office/drawing/2014/main" id="{0C2F5767-CA6D-4695-A0D3-D89BE631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2925" b="1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pᵣ = Lᵣ × Rᵣ</a:t>
            </a:r>
          </a:p>
        </p:txBody>
      </p:sp>
      <p:sp>
        <p:nvSpPr>
          <p:cNvPr id="7" name="Cₒ ← Cₒ ⊕ wᵣₒ pᵣ">
            <a:extLst xmlns:a="http://schemas.openxmlformats.org/drawingml/2006/main">
              <a:ext uri="{FF2B5EF4-FFF2-40B4-BE49-F238E27FC236}">
                <a16:creationId xmlns:a16="http://schemas.microsoft.com/office/drawing/2014/main" id="{9DA0DBA9-99B3-4020-9233-EF4D2D6B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2700" b="1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Cₒ ← Cₒ + wᵣₒ pᵣ</a:t>
            </a:r>
          </a:p>
        </p:txBody>
      </p:sp>
      <p:sp>
        <p:nvSpPr>
          <p:cNvPr id="8" name="The published first fact">
            <a:extLst xmlns:a="http://schemas.openxmlformats.org/drawingml/2006/main">
              <a:ext uri="{FF2B5EF4-FFF2-40B4-BE49-F238E27FC236}">
                <a16:creationId xmlns:a16="http://schemas.microsoft.com/office/drawing/2014/main" id="{D4FFF437-B355-44EE-9355-72A45A76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000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The published first factor: p₁ = A₁₃ × B₃₁.</a:t>
            </a:r>
          </a:p>
        </p:txBody>
      </p:sp>
      <p:sp>
        <p:nvSpPr>
          <p:cNvPr id="9" name="It contributes to C₁₁, C">
            <a:extLst xmlns:a="http://schemas.openxmlformats.org/drawingml/2006/main">
              <a:ext uri="{FF2B5EF4-FFF2-40B4-BE49-F238E27FC236}">
                <a16:creationId xmlns:a16="http://schemas.microsoft.com/office/drawing/2014/main" id="{D5DA19C1-E559-4300-9F31-B2408616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It contributes to C₁₁, C₁₂, and C₂₁. Take each final output modulo 2.</a:t>
            </a:r>
          </a:p>
        </p:txBody>
      </p:sp>
    </p:spTree>
    <p:extLst>
      <p:ext uri="{BB962C8B-B14F-4D97-AF65-F5344CB8AC3E}">
        <p14:creationId xmlns:p14="http://schemas.microsoft.com/office/powerpoint/2010/main" val="1744387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EMO · FROM-SCRATCH CODE">
            <a:extLst xmlns:a="http://schemas.openxmlformats.org/drawingml/2006/main">
              <a:ext uri="{FF2B5EF4-FFF2-40B4-BE49-F238E27FC236}">
                <a16:creationId xmlns:a16="http://schemas.microsoft.com/office/drawing/2014/main" id="{EA2257AF-79AA-4B6E-A59C-FBD41D01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DEMO · FROM-SCRATCH CODE</a:t>
            </a:r>
          </a:p>
        </p:txBody>
      </p:sp>
      <p:sp>
        <p:nvSpPr>
          <p:cNvPr id="2" name="Notebook implementation">
            <a:extLst xmlns:a="http://schemas.openxmlformats.org/drawingml/2006/main">
              <a:ext uri="{FF2B5EF4-FFF2-40B4-BE49-F238E27FC236}">
                <a16:creationId xmlns:a16="http://schemas.microsoft.com/office/drawing/2014/main" id="{6E748FD8-9773-4B4D-A7A2-965E88E9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Notebook implementation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DDA61597-8BD5-4FC1-BC2D-FB7F7B7F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08 / 13</a:t>
            </a:r>
          </a:p>
        </p:txBody>
      </p:sp>
      <p:sp>
        <p:nvSpPr>
          <p:cNvPr id="4" name="for each (u, v, w) in 47">
            <a:extLst xmlns:a="http://schemas.openxmlformats.org/drawingml/2006/main">
              <a:ext uri="{FF2B5EF4-FFF2-40B4-BE49-F238E27FC236}">
                <a16:creationId xmlns:a16="http://schemas.microsoft.com/office/drawing/2014/main" id="{2B48404F-BA49-452C-835F-56809518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for each term in TERMS_47:</a:t>
            </a:r>
          </a:p>
        </p:txBody>
      </p:sp>
      <p:sp>
        <p:nvSpPr>
          <p:cNvPr id="5" name="    left  = XOR selected">
            <a:extLst xmlns:a="http://schemas.openxmlformats.org/drawingml/2006/main">
              <a:ext uri="{FF2B5EF4-FFF2-40B4-BE49-F238E27FC236}">
                <a16:creationId xmlns:a16="http://schemas.microsoft.com/office/drawing/2014/main" id="{DD0E0E93-9508-43A5-A88D-2479A632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66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    left  = sum(u[i] * A[i])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    right = sum(v[j] * B[j])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    p     = left * right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    C[o] += w[o] * p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C = [x % 2 for x in C]</a:t>
            </a:r>
          </a:p>
        </p:txBody>
      </p:sp>
      <p:sp>
        <p:nvSpPr>
          <p:cNvPr id="6" name="Each 16-bit mask stores ">
            <a:extLst xmlns:a="http://schemas.openxmlformats.org/drawingml/2006/main">
              <a:ext uri="{FF2B5EF4-FFF2-40B4-BE49-F238E27FC236}">
                <a16:creationId xmlns:a16="http://schemas.microsoft.com/office/drawing/2014/main" id="{8B11F714-251F-440A-AE35-CE14FF68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Each term stores u, v, and w as length-16 lists of 0/1 coefficients.</a:t>
            </a:r>
          </a:p>
        </p:txBody>
      </p:sp>
    </p:spTree>
    <p:extLst>
      <p:ext uri="{BB962C8B-B14F-4D97-AF65-F5344CB8AC3E}">
        <p14:creationId xmlns:p14="http://schemas.microsoft.com/office/powerpoint/2010/main" val="19889673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DEMO · CORRECTNESS">
            <a:extLst xmlns:a="http://schemas.openxmlformats.org/drawingml/2006/main">
              <a:ext uri="{FF2B5EF4-FFF2-40B4-BE49-F238E27FC236}">
                <a16:creationId xmlns:a16="http://schemas.microsoft.com/office/drawing/2014/main" id="{F4D65079-0242-4712-9836-00B0A054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DEMO · CORRECTNESS</a:t>
            </a:r>
          </a:p>
        </p:txBody>
      </p:sp>
      <p:sp>
        <p:nvSpPr>
          <p:cNvPr id="2" name="The 47 terms pass a full">
            <a:extLst xmlns:a="http://schemas.openxmlformats.org/drawingml/2006/main">
              <a:ext uri="{FF2B5EF4-FFF2-40B4-BE49-F238E27FC236}">
                <a16:creationId xmlns:a16="http://schemas.microsoft.com/office/drawing/2014/main" id="{CCAB55CB-DF11-4E9C-8EE5-808F4043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The 47 terms pass a full identity check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7995A6FE-048D-461A-81F6-07291F8E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09 / 13</a:t>
            </a:r>
          </a:p>
        </p:txBody>
      </p:sp>
      <p:sp>
        <p:nvSpPr>
          <p:cNvPr id="4" name="4,096">
            <a:extLst xmlns:a="http://schemas.openxmlformats.org/drawingml/2006/main">
              <a:ext uri="{FF2B5EF4-FFF2-40B4-BE49-F238E27FC236}">
                <a16:creationId xmlns:a16="http://schemas.microsoft.com/office/drawing/2014/main" id="{5F6CD48D-421C-4E12-93AE-EBA1FD71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61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615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4,096</a:t>
            </a:r>
          </a:p>
        </p:txBody>
      </p:sp>
      <p:sp>
        <p:nvSpPr>
          <p:cNvPr id="5" name="coefficients checked">
            <a:extLst xmlns:a="http://schemas.openxmlformats.org/drawingml/2006/main">
              <a:ext uri="{FF2B5EF4-FFF2-40B4-BE49-F238E27FC236}">
                <a16:creationId xmlns:a16="http://schemas.microsoft.com/office/drawing/2014/main" id="{A4C7CD8C-ACA8-4EE1-90EC-42FFFF99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coefficients checked</a:t>
            </a:r>
          </a:p>
        </p:txBody>
      </p:sp>
      <p:sp>
        <p:nvSpPr>
          <p:cNvPr id="6" name="0">
            <a:extLst xmlns:a="http://schemas.openxmlformats.org/drawingml/2006/main">
              <a:ext uri="{FF2B5EF4-FFF2-40B4-BE49-F238E27FC236}">
                <a16:creationId xmlns:a16="http://schemas.microsoft.com/office/drawing/2014/main" id="{B7BE8F87-3669-4D8C-85E5-B5D42D73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6764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61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pPr>
            <a:r>
              <a:rPr sz="6150" b="1">
                <a:solidFill>
                  <a:srgbClr val="728C59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7" name="mismatches">
            <a:extLst xmlns:a="http://schemas.openxmlformats.org/drawingml/2006/main">
              <a:ext uri="{FF2B5EF4-FFF2-40B4-BE49-F238E27FC236}">
                <a16:creationId xmlns:a16="http://schemas.microsoft.com/office/drawing/2014/main" id="{0DAACC15-1692-41AA-8F30-4560CFCE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mismatches</a:t>
            </a:r>
          </a:p>
        </p:txBody>
      </p:sp>
      <p:sp>
        <p:nvSpPr>
          <p:cNvPr id="8" name="Tₒᵢⱼ = ⊕ᵣ wᵣₒ uᵣᵢ vᵣⱼ">
            <a:extLst xmlns:a="http://schemas.openxmlformats.org/drawingml/2006/main">
              <a:ext uri="{FF2B5EF4-FFF2-40B4-BE49-F238E27FC236}">
                <a16:creationId xmlns:a16="http://schemas.microsoft.com/office/drawing/2014/main" id="{153958CD-89A0-458D-A3D6-231EA83D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7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25302B"/>
                </a:solidFill>
                <a:latin typeface="Consolas"/>
                <a:ea typeface="Consolas"/>
                <a:cs typeface="Consolas"/>
              </a:defRPr>
            </a:pPr>
            <a:r>
              <a:rPr sz="2700" b="1">
                <a:solidFill>
                  <a:srgbClr val="25302B"/>
                </a:solidFill>
                <a:latin typeface="Consolas"/>
                <a:ea typeface="Consolas"/>
                <a:cs typeface="Consolas"/>
              </a:rPr>
              <a:t>Tₒᵢⱼ = (Σᵣ wᵣₒ uᵣᵢ vᵣⱼ) % 2</a:t>
            </a:r>
          </a:p>
        </p:txBody>
      </p:sp>
      <p:sp>
        <p:nvSpPr>
          <p:cNvPr id="9" name="The notebook also compar">
            <a:extLst xmlns:a="http://schemas.openxmlformats.org/drawingml/2006/main">
              <a:ext uri="{FF2B5EF4-FFF2-40B4-BE49-F238E27FC236}">
                <a16:creationId xmlns:a16="http://schemas.microsoft.com/office/drawing/2014/main" id="{08E950F5-80E2-4E33-857B-F8D1990E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4925"/>
            <a:ext cx="1038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The notebook also compares 100 random matrix pairs with NumPy.</a:t>
            </a:r>
          </a:p>
        </p:txBody>
      </p:sp>
    </p:spTree>
    <p:extLst>
      <p:ext uri="{BB962C8B-B14F-4D97-AF65-F5344CB8AC3E}">
        <p14:creationId xmlns:p14="http://schemas.microsoft.com/office/powerpoint/2010/main" val="6844312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FF36A14-F517-41E9-8779-8B346A7F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MATH · COST MODEL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D30298C-BE89-4052-9F5C-F45D046C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Why multiplication can cost more</a:t>
            </a:r>
          </a:p>
        </p:txBody>
      </p:sp>
      <p:sp>
        <p:nvSpPr>
          <p:cNvPr id="3" name="add-label">
            <a:extLst xmlns:a="http://schemas.openxmlformats.org/drawingml/2006/main">
              <a:ext uri="{FF2B5EF4-FFF2-40B4-BE49-F238E27FC236}">
                <a16:creationId xmlns:a16="http://schemas.microsoft.com/office/drawing/2014/main" id="{5828E4B3-E6AC-4FF0-BDD4-A617DB00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Adding n-digit numbers</a:t>
            </a:r>
          </a:p>
        </p:txBody>
      </p:sp>
      <p:sp>
        <p:nvSpPr>
          <p:cNvPr id="4" name="add-scale">
            <a:extLst xmlns:a="http://schemas.openxmlformats.org/drawingml/2006/main">
              <a:ext uri="{FF2B5EF4-FFF2-40B4-BE49-F238E27FC236}">
                <a16:creationId xmlns:a16="http://schemas.microsoft.com/office/drawing/2014/main" id="{92A7044A-6B1F-4873-88DD-59C542EA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570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n</a:t>
            </a:r>
          </a:p>
        </p:txBody>
      </p:sp>
      <p:sp>
        <p:nvSpPr>
          <p:cNvPr id="5" name="add-detail">
            <a:extLst xmlns:a="http://schemas.openxmlformats.org/drawingml/2006/main">
              <a:ext uri="{FF2B5EF4-FFF2-40B4-BE49-F238E27FC236}">
                <a16:creationId xmlns:a16="http://schemas.microsoft.com/office/drawing/2014/main" id="{F25CDCD2-7BB3-44A0-9356-54BA6DDB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Process about n digit columns</a:t>
            </a:r>
          </a:p>
        </p:txBody>
      </p:sp>
      <p:sp>
        <p:nvSpPr>
          <p:cNvPr id="6" name="mult-label">
            <a:extLst xmlns:a="http://schemas.openxmlformats.org/drawingml/2006/main">
              <a:ext uri="{FF2B5EF4-FFF2-40B4-BE49-F238E27FC236}">
                <a16:creationId xmlns:a16="http://schemas.microsoft.com/office/drawing/2014/main" id="{29B06FA3-551B-4FC1-ADBD-87790EC4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Multiplying n-digit numbers</a:t>
            </a:r>
          </a:p>
        </p:txBody>
      </p:sp>
      <p:sp>
        <p:nvSpPr>
          <p:cNvPr id="7" name="mult-scale">
            <a:extLst xmlns:a="http://schemas.openxmlformats.org/drawingml/2006/main">
              <a:ext uri="{FF2B5EF4-FFF2-40B4-BE49-F238E27FC236}">
                <a16:creationId xmlns:a16="http://schemas.microsoft.com/office/drawing/2014/main" id="{F85D1573-7FC5-4492-94EA-B039DA9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570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570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n²</a:t>
            </a:r>
          </a:p>
        </p:txBody>
      </p:sp>
      <p:sp>
        <p:nvSpPr>
          <p:cNvPr id="8" name="mult-detail">
            <a:extLst xmlns:a="http://schemas.openxmlformats.org/drawingml/2006/main">
              <a:ext uri="{FF2B5EF4-FFF2-40B4-BE49-F238E27FC236}">
                <a16:creationId xmlns:a16="http://schemas.microsoft.com/office/drawing/2014/main" id="{7A4E8B2E-858B-47DA-9860-531102D5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67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Up to n² digit products, then add</a:t>
            </a:r>
          </a:p>
        </p:txBody>
      </p:sp>
      <p:sp>
        <p:nvSpPr>
          <p:cNvPr id="9" name="cost-caveat">
            <a:extLst xmlns:a="http://schemas.openxmlformats.org/drawingml/2006/main">
              <a:ext uri="{FF2B5EF4-FFF2-40B4-BE49-F238E27FC236}">
                <a16:creationId xmlns:a16="http://schemas.microsoft.com/office/drawing/2014/main" id="{5C87E27F-A418-443C-8E11-896A27A8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815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For modulo-2 bits, both operations are simple. Their real cost depends on hardware.</a:t>
            </a:r>
          </a:p>
        </p:txBody>
      </p:sp>
      <p:sp>
        <p:nvSpPr>
          <p:cNvPr id="10" name="experiment-link">
            <a:extLst xmlns:a="http://schemas.openxmlformats.org/drawingml/2006/main">
              <a:ext uri="{FF2B5EF4-FFF2-40B4-BE49-F238E27FC236}">
                <a16:creationId xmlns:a16="http://schemas.microsoft.com/office/drawing/2014/main" id="{CE3ADA92-3312-45C5-9985-D1CCE94E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Our experiment varies m, the assumed cost of one product relative to one addition.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4B26FA-805E-4095-AE55-ABE63802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10 / 13</a:t>
            </a:r>
          </a:p>
        </p:txBody>
      </p:sp>
    </p:spTree>
    <p:extLst>
      <p:ext uri="{BB962C8B-B14F-4D97-AF65-F5344CB8AC3E}">
        <p14:creationId xmlns:p14="http://schemas.microsoft.com/office/powerpoint/2010/main" val="18824062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EMO · COMPARE THREE MET">
            <a:extLst xmlns:a="http://schemas.openxmlformats.org/drawingml/2006/main">
              <a:ext uri="{FF2B5EF4-FFF2-40B4-BE49-F238E27FC236}">
                <a16:creationId xmlns:a16="http://schemas.microsoft.com/office/drawing/2014/main" id="{4865D516-4530-447C-8815-92B6D02D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DEMO · COMPARE THREE METHODS</a:t>
            </a:r>
          </a:p>
        </p:txBody>
      </p:sp>
      <p:sp>
        <p:nvSpPr>
          <p:cNvPr id="2" name="Operation-count experime">
            <a:extLst xmlns:a="http://schemas.openxmlformats.org/drawingml/2006/main">
              <a:ext uri="{FF2B5EF4-FFF2-40B4-BE49-F238E27FC236}">
                <a16:creationId xmlns:a16="http://schemas.microsoft.com/office/drawing/2014/main" id="{4A99C105-A425-4DDF-AEA5-F5A0CDEE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Operation-count experiment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C0F9D5C7-05B6-4D7A-B9A9-72E567DC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11 / 13</a:t>
            </a:r>
          </a:p>
        </p:txBody>
      </p:sp>
      <p:sp>
        <p:nvSpPr>
          <p:cNvPr id="4" name="Same 4×4 modulo 2 task. ">
            <a:extLst xmlns:a="http://schemas.openxmlformats.org/drawingml/2006/main">
              <a:ext uri="{FF2B5EF4-FFF2-40B4-BE49-F238E27FC236}">
                <a16:creationId xmlns:a16="http://schemas.microsoft.com/office/drawing/2014/main" id="{9C25299E-6A8A-4C1C-A121-E14F7869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Same 4×4 modulo 2 task. Expanded implementation without shared intermediate sums.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F32CD-60F0-4479-B16A-849110D78DED}"/>
              </a:ext>
            </a:extLst>
          </p:cNvPr>
          <p:cNvGraphicFramePr/>
          <p:nvPr/>
        </p:nvGraphicFramePr>
        <p:xfrm>
          <a:off xmlns:a="http://schemas.openxmlformats.org/drawingml/2006/main" x="685800" y="2428875"/>
          <a:ext xmlns:a="http://schemas.openxmlformats.org/drawingml/2006/main" cx="10810875" cy="2286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162175"/>
                <a:gridCol w="2162175"/>
                <a:gridCol w="2162175"/>
                <a:gridCol w="2162175"/>
                <a:gridCol w="2162175"/>
              </a:tblGrid>
              <a:tr h="5715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Method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1D3"/>
                      </a:solidFill>
                      <a:prstDash val="solid"/>
                    </a:lnL>
                    <a:lnR w="9525">
                      <a:solidFill>
                        <a:srgbClr val="DCE1D3"/>
                      </a:solidFill>
                      <a:prstDash val="solid"/>
                    </a:lnR>
                    <a:lnT w="9525">
                      <a:solidFill>
                        <a:srgbClr val="DCE1D3"/>
                      </a:solidFill>
                      <a:prstDash val="solid"/>
                    </a:lnT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2536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Products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T w="9525">
                      <a:solidFill>
                        <a:srgbClr val="DCE1D3"/>
                      </a:solidFill>
                      <a:prstDash val="solid"/>
                    </a:lnT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2536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Additions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T w="9525">
                      <a:solidFill>
                        <a:srgbClr val="DCE1D3"/>
                      </a:solidFill>
                      <a:prstDash val="solid"/>
                    </a:lnT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2536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Cost if m = 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T w="9525">
                      <a:solidFill>
                        <a:srgbClr val="DCE1D3"/>
                      </a:solidFill>
                      <a:prstDash val="solid"/>
                    </a:lnT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2536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Cost if m = 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T w="9525">
                      <a:solidFill>
                        <a:srgbClr val="DCE1D3"/>
                      </a:solidFill>
                      <a:prstDash val="solid"/>
                    </a:lnT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25362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Direct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1D3"/>
                      </a:solidFill>
                      <a:prstDash val="solid"/>
                    </a:lnL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1,328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Strassen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1D3"/>
                      </a:solidFill>
                      <a:prstDash val="solid"/>
                    </a:lnL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EDEF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EDEF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EDEF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EDEF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530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1,298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EDEFE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5751D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AlphaTensor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1D3"/>
                      </a:solidFill>
                      <a:prstDash val="solid"/>
                    </a:lnL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5751D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5751D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5751D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5751D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1,280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CE1D3"/>
                      </a:solidFill>
                      <a:prstDash val="solid"/>
                    </a:lnR>
                    <a:lnB w="9525">
                      <a:solidFill>
                        <a:srgbClr val="DCE1D3"/>
                      </a:solidFill>
                      <a:prstDash val="solid"/>
                    </a:lnB>
                    <a:solidFill>
                      <a:srgbClr val="F6F6EF"/>
                    </a:solidFill>
                  </a:tcPr>
                </a:tc>
              </a:tr>
            </a:tbl>
          </a:graphicData>
        </a:graphic>
      </p:graphicFrame>
      <p:sp>
        <p:nvSpPr>
          <p:cNvPr id="6" name="Toy cost = m × multiplic">
            <a:extLst xmlns:a="http://schemas.openxmlformats.org/drawingml/2006/main">
              <a:ext uri="{FF2B5EF4-FFF2-40B4-BE49-F238E27FC236}">
                <a16:creationId xmlns:a16="http://schemas.microsoft.com/office/drawing/2014/main" id="{A5B843F1-CC13-4A6B-B9EF-4B3B0C30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Toy cost = m × products + additions. m is an assumed cost, not measured time.</a:t>
            </a:r>
          </a:p>
        </p:txBody>
      </p:sp>
    </p:spTree>
    <p:extLst>
      <p:ext uri="{BB962C8B-B14F-4D97-AF65-F5344CB8AC3E}">
        <p14:creationId xmlns:p14="http://schemas.microsoft.com/office/powerpoint/2010/main" val="18300137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SULT · WHAT THE NUMBER">
            <a:extLst xmlns:a="http://schemas.openxmlformats.org/drawingml/2006/main">
              <a:ext uri="{FF2B5EF4-FFF2-40B4-BE49-F238E27FC236}">
                <a16:creationId xmlns:a16="http://schemas.microsoft.com/office/drawing/2014/main" id="{EDD116CD-3CC6-4753-8C94-C7D5160E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RESULT · WHAT THE NUMBERS MEAN</a:t>
            </a:r>
          </a:p>
        </p:txBody>
      </p:sp>
      <p:sp>
        <p:nvSpPr>
          <p:cNvPr id="2" name="Fewer products does not ">
            <a:extLst xmlns:a="http://schemas.openxmlformats.org/drawingml/2006/main">
              <a:ext uri="{FF2B5EF4-FFF2-40B4-BE49-F238E27FC236}">
                <a16:creationId xmlns:a16="http://schemas.microsoft.com/office/drawing/2014/main" id="{375186A7-BE31-49EE-BFB3-450232F3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Fewer products does not prove lower runtime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DE62ACC3-86B8-442D-90D1-C9EA0A22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12 / 13</a:t>
            </a:r>
          </a:p>
        </p:txBody>
      </p:sp>
      <p:sp>
        <p:nvSpPr>
          <p:cNvPr id="4" name="64 → 47">
            <a:extLst xmlns:a="http://schemas.openxmlformats.org/drawingml/2006/main">
              <a:ext uri="{FF2B5EF4-FFF2-40B4-BE49-F238E27FC236}">
                <a16:creationId xmlns:a16="http://schemas.microsoft.com/office/drawing/2014/main" id="{5A607D0D-8F2D-422E-93B8-B4A66B11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5250" b="1">
                <a:solidFill>
                  <a:srgbClr val="5751D3"/>
                </a:solidFill>
                <a:latin typeface="Consolas"/>
                <a:ea typeface="Consolas"/>
                <a:cs typeface="Consolas"/>
              </a:defRPr>
            </a:pPr>
            <a:r>
              <a:rPr sz="5250" b="1">
                <a:solidFill>
                  <a:srgbClr val="5751D3"/>
                </a:solidFill>
                <a:latin typeface="Consolas"/>
                <a:ea typeface="Consolas"/>
                <a:cs typeface="Consolas"/>
              </a:rPr>
              <a:t>64 → 47</a:t>
            </a:r>
          </a:p>
        </p:txBody>
      </p:sp>
      <p:sp>
        <p:nvSpPr>
          <p:cNvPr id="5" name="17 fewer multiplications">
            <a:extLst xmlns:a="http://schemas.openxmlformats.org/drawingml/2006/main">
              <a:ext uri="{FF2B5EF4-FFF2-40B4-BE49-F238E27FC236}">
                <a16:creationId xmlns:a16="http://schemas.microsoft.com/office/drawing/2014/main" id="{2151B21B-6C79-4CE3-96B0-CB0D0FF4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17 fewer multiplications: 17 / 64 = 26.56%</a:t>
            </a:r>
          </a:p>
        </p:txBody>
      </p:sp>
      <p:sp>
        <p:nvSpPr>
          <p:cNvPr id="6" name="49 → 47">
            <a:extLst xmlns:a="http://schemas.openxmlformats.org/drawingml/2006/main">
              <a:ext uri="{FF2B5EF4-FFF2-40B4-BE49-F238E27FC236}">
                <a16:creationId xmlns:a16="http://schemas.microsoft.com/office/drawing/2014/main" id="{1B0E9720-4E41-4530-9FDD-2EF428BA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728C59"/>
                </a:solidFill>
                <a:latin typeface="Consolas"/>
                <a:ea typeface="Consolas"/>
                <a:cs typeface="Consolas"/>
              </a:defRPr>
            </a:pPr>
            <a:r>
              <a:rPr sz="4350" b="1">
                <a:solidFill>
                  <a:srgbClr val="728C59"/>
                </a:solidFill>
                <a:latin typeface="Consolas"/>
                <a:ea typeface="Consolas"/>
                <a:cs typeface="Consolas"/>
              </a:rPr>
              <a:t>49 → 47</a:t>
            </a:r>
          </a:p>
        </p:txBody>
      </p:sp>
      <p:sp>
        <p:nvSpPr>
          <p:cNvPr id="7" name="2 fewer than Strassen: 2">
            <a:extLst xmlns:a="http://schemas.openxmlformats.org/drawingml/2006/main">
              <a:ext uri="{FF2B5EF4-FFF2-40B4-BE49-F238E27FC236}">
                <a16:creationId xmlns:a16="http://schemas.microsoft.com/office/drawing/2014/main" id="{FDB3AE82-6691-4E70-9261-FA4C4D34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291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2 fewer than Strassen: 2 / 49 = 4.08%</a:t>
            </a:r>
          </a:p>
        </p:txBody>
      </p:sp>
      <p:sp>
        <p:nvSpPr>
          <p:cNvPr id="8" name="These are counts of scal">
            <a:extLst xmlns:a="http://schemas.openxmlformats.org/drawingml/2006/main">
              <a:ext uri="{FF2B5EF4-FFF2-40B4-BE49-F238E27FC236}">
                <a16:creationId xmlns:a16="http://schemas.microsoft.com/office/drawing/2014/main" id="{C4169A8F-430B-4227-A4DD-0FC74915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These are counts of scalar products. Addition, memory access, and hardware still matter.</a:t>
            </a:r>
          </a:p>
        </p:txBody>
      </p:sp>
    </p:spTree>
    <p:extLst>
      <p:ext uri="{BB962C8B-B14F-4D97-AF65-F5344CB8AC3E}">
        <p14:creationId xmlns:p14="http://schemas.microsoft.com/office/powerpoint/2010/main" val="2562566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LIMITATIONS · DISCUSSION">
            <a:extLst xmlns:a="http://schemas.openxmlformats.org/drawingml/2006/main">
              <a:ext uri="{FF2B5EF4-FFF2-40B4-BE49-F238E27FC236}">
                <a16:creationId xmlns:a16="http://schemas.microsoft.com/office/drawing/2014/main" id="{DAD76EDC-FEE6-482E-98C6-E40D5295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LIMITATIONS · DISCUSSION</a:t>
            </a:r>
          </a:p>
        </p:txBody>
      </p:sp>
      <p:sp>
        <p:nvSpPr>
          <p:cNvPr id="2" name="Limits and takeaway">
            <a:extLst xmlns:a="http://schemas.openxmlformats.org/drawingml/2006/main">
              <a:ext uri="{FF2B5EF4-FFF2-40B4-BE49-F238E27FC236}">
                <a16:creationId xmlns:a16="http://schemas.microsoft.com/office/drawing/2014/main" id="{00A15594-B572-4337-8714-CC5BBBA5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Limits and takeaway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0311CD77-2F95-494C-AAC4-E5D226E8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644842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defPPr>
            <a:lvl1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1pPr>
            <a:lvl2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2pPr>
            <a:lvl3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3pPr>
            <a:lvl4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4pPr>
            <a:lvl5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5pPr>
            <a:lvl6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6pPr>
            <a:lvl7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7pPr>
            <a:lvl8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8pPr>
            <a:lvl9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718064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718064"/>
                </a:solidFill>
                <a:latin typeface="Consolas"/>
                <a:ea typeface="Consolas"/>
                <a:cs typeface="Consolas"/>
              </a:rPr>
              <a:t>13 / 13</a:t>
            </a:r>
          </a:p>
        </p:txBody>
      </p:sp>
      <p:sp>
        <p:nvSpPr>
          <p:cNvPr id="4" name="The 47-term identity is ">
            <a:extLst xmlns:a="http://schemas.openxmlformats.org/drawingml/2006/main">
              <a:ext uri="{FF2B5EF4-FFF2-40B4-BE49-F238E27FC236}">
                <a16:creationId xmlns:a16="http://schemas.microsoft.com/office/drawing/2014/main" id="{804263AC-9FFE-4C98-B2EA-2EFA2BBA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751D3"/>
                </a:solidFill>
                <a:latin typeface="Microsoft YaHei"/>
                <a:ea typeface="Microsoft YaHei"/>
                <a:cs typeface="Microsoft YaHei"/>
              </a:rPr>
              <a:t>These 47 published factors are for modulo 2.</a:t>
            </a:r>
          </a:p>
        </p:txBody>
      </p:sp>
      <p:sp>
        <p:nvSpPr>
          <p:cNvPr id="5" name="It cannot be applied unc">
            <a:extLst xmlns:a="http://schemas.openxmlformats.org/drawingml/2006/main">
              <a:ext uri="{FF2B5EF4-FFF2-40B4-BE49-F238E27FC236}">
                <a16:creationId xmlns:a16="http://schemas.microsoft.com/office/drawing/2014/main" id="{B3D26D86-F030-4452-8706-DA5FD31C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17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AlphaTensor can search other fields; these factors rely on 2 % 2 = 0.</a:t>
            </a:r>
          </a:p>
        </p:txBody>
      </p:sp>
      <p:sp>
        <p:nvSpPr>
          <p:cNvPr id="6" name="The notebook verifies a ">
            <a:extLst xmlns:a="http://schemas.openxmlformats.org/drawingml/2006/main">
              <a:ext uri="{FF2B5EF4-FFF2-40B4-BE49-F238E27FC236}">
                <a16:creationId xmlns:a16="http://schemas.microsoft.com/office/drawing/2014/main" id="{6F7639B3-06EC-4818-A022-CACF71A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302B"/>
                </a:solidFill>
                <a:latin typeface="Microsoft YaHei"/>
                <a:ea typeface="Microsoft YaHei"/>
                <a:cs typeface="Microsoft YaHei"/>
              </a:rPr>
              <a:t>The notebook verifies a known AI discovery.</a:t>
            </a:r>
          </a:p>
        </p:txBody>
      </p:sp>
      <p:sp>
        <p:nvSpPr>
          <p:cNvPr id="7" name="It does not implement Al">
            <a:extLst xmlns:a="http://schemas.openxmlformats.org/drawingml/2006/main">
              <a:ext uri="{FF2B5EF4-FFF2-40B4-BE49-F238E27FC236}">
                <a16:creationId xmlns:a16="http://schemas.microsoft.com/office/drawing/2014/main" id="{2025C4EF-02CA-403F-AA5C-558BABDF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18064"/>
                </a:solidFill>
                <a:latin typeface="Microsoft YaHei"/>
                <a:ea typeface="Microsoft YaHei"/>
                <a:cs typeface="Microsoft YaHei"/>
              </a:rPr>
              <a:t>It does not implement AlphaTensor’s reinforcement-learning search.</a:t>
            </a:r>
          </a:p>
        </p:txBody>
      </p:sp>
      <p:sp>
        <p:nvSpPr>
          <p:cNvPr id="8" name="A practical algorithm ne">
            <a:extLst xmlns:a="http://schemas.openxmlformats.org/drawingml/2006/main">
              <a:ext uri="{FF2B5EF4-FFF2-40B4-BE49-F238E27FC236}">
                <a16:creationId xmlns:a16="http://schemas.microsoft.com/office/drawing/2014/main" id="{90DD9B31-F58E-4DB8-9379-F0782106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28C59"/>
                </a:solidFill>
                <a:latin typeface="Microsoft YaHei"/>
                <a:ea typeface="Microsoft YaHei"/>
                <a:cs typeface="Microsoft YaHei"/>
              </a:rPr>
              <a:t>A practical algorithm needs a runtime benchmark on its target hardware.</a:t>
            </a:r>
          </a:p>
        </p:txBody>
      </p:sp>
    </p:spTree>
    <p:extLst>
      <p:ext uri="{BB962C8B-B14F-4D97-AF65-F5344CB8AC3E}">
        <p14:creationId xmlns:p14="http://schemas.microsoft.com/office/powerpoint/2010/main" val="12615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2026-10-29T21:46:56.5310000Z</dcterms:created>
  <dcterms:modified xsi:type="dcterms:W3CDTF">2026-10-29T21:46:56.5310000Z</dcterms:modified>
</coreProperties>
</file>