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4c97fb5d4345c1" /><Relationship Type="http://schemas.openxmlformats.org/officeDocument/2006/relationships/extended-properties" Target="/docProps/app.xml" Id="Rd7de6f39a62041ef" /><Relationship Type="http://schemas.openxmlformats.org/officeDocument/2006/relationships/officeDocument" Target="/ppt/presentation.xml" Id="Rb8126557d31f4c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7b42fe131f4699"/>
  </p:sldMasterIdLst>
  <p:notesMasterIdLst>
    <p:notesMasterId xmlns:r="http://schemas.openxmlformats.org/officeDocument/2006/relationships" r:id="R455ed7bd3c69450c"/>
  </p:notesMasterIdLst>
  <p:sldIdLst>
    <p:sldId xmlns:r="http://schemas.openxmlformats.org/officeDocument/2006/relationships" id="256" r:id="R2f10fcd22cce4510"/>
    <p:sldId xmlns:r="http://schemas.openxmlformats.org/officeDocument/2006/relationships" id="257" r:id="R1ec941ddbac7427b"/>
    <p:sldId xmlns:r="http://schemas.openxmlformats.org/officeDocument/2006/relationships" id="258" r:id="Rcb2923c1eb734db5"/>
    <p:sldId xmlns:r="http://schemas.openxmlformats.org/officeDocument/2006/relationships" id="259" r:id="Rfec954902b654b4b"/>
    <p:sldId xmlns:r="http://schemas.openxmlformats.org/officeDocument/2006/relationships" id="260" r:id="R983fe18526ff4f61"/>
    <p:sldId xmlns:r="http://schemas.openxmlformats.org/officeDocument/2006/relationships" id="261" r:id="R33b91d532661443b"/>
    <p:sldId xmlns:r="http://schemas.openxmlformats.org/officeDocument/2006/relationships" id="262" r:id="R1b771a1ad375481c"/>
    <p:sldId xmlns:r="http://schemas.openxmlformats.org/officeDocument/2006/relationships" id="263" r:id="R37b23280ebaa4625"/>
    <p:sldId xmlns:r="http://schemas.openxmlformats.org/officeDocument/2006/relationships" id="264" r:id="R938a428bb1104cf2"/>
    <p:sldId xmlns:r="http://schemas.openxmlformats.org/officeDocument/2006/relationships" id="265" r:id="R16d92d172fcf42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7bfe20579b45ba" /><Relationship Type="http://schemas.openxmlformats.org/officeDocument/2006/relationships/slideMaster" Target="/ppt/slideMasters/slideMaster1.xml" Id="Rb27b42fe131f4699" /><Relationship Type="http://schemas.openxmlformats.org/officeDocument/2006/relationships/notesMaster" Target="/ppt/notesMasters/notesMaster1.xml" Id="R455ed7bd3c69450c" /><Relationship Type="http://schemas.openxmlformats.org/officeDocument/2006/relationships/presProps" Target="/ppt/presProps.xml" Id="Rd6af69dcc0a34419" /><Relationship Type="http://schemas.openxmlformats.org/officeDocument/2006/relationships/tableStyles" Target="/ppt/tableStyles.xml" Id="Ra207103abe104597" /><Relationship Type="http://schemas.openxmlformats.org/officeDocument/2006/relationships/slide" Target="/ppt/slides/slide1.xml" Id="R2f10fcd22cce4510" /><Relationship Type="http://schemas.openxmlformats.org/officeDocument/2006/relationships/slide" Target="/ppt/slides/slide2.xml" Id="R1ec941ddbac7427b" /><Relationship Type="http://schemas.openxmlformats.org/officeDocument/2006/relationships/slide" Target="/ppt/slides/slide3.xml" Id="Rcb2923c1eb734db5" /><Relationship Type="http://schemas.openxmlformats.org/officeDocument/2006/relationships/slide" Target="/ppt/slides/slide4.xml" Id="Rfec954902b654b4b" /><Relationship Type="http://schemas.openxmlformats.org/officeDocument/2006/relationships/slide" Target="/ppt/slides/slide5.xml" Id="R983fe18526ff4f61" /><Relationship Type="http://schemas.openxmlformats.org/officeDocument/2006/relationships/slide" Target="/ppt/slides/slide6.xml" Id="R33b91d532661443b" /><Relationship Type="http://schemas.openxmlformats.org/officeDocument/2006/relationships/slide" Target="/ppt/slides/slide7.xml" Id="R1b771a1ad375481c" /><Relationship Type="http://schemas.openxmlformats.org/officeDocument/2006/relationships/slide" Target="/ppt/slides/slide8.xml" Id="R37b23280ebaa4625" /><Relationship Type="http://schemas.openxmlformats.org/officeDocument/2006/relationships/slide" Target="/ppt/slides/slide9.xml" Id="R938a428bb1104cf2" /><Relationship Type="http://schemas.openxmlformats.org/officeDocument/2006/relationships/slide" Target="/ppt/slides/slide10.xml" Id="R16d92d172fcf42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f39b25b1cb44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ebf0243f784791" /><Relationship Type="http://schemas.openxmlformats.org/officeDocument/2006/relationships/notesMaster" Target="/ppt/notesMasters/notesMaster1.xml" Id="R9bfc9b8441dc43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14a1b6f89546b7" /><Relationship Type="http://schemas.openxmlformats.org/officeDocument/2006/relationships/notesMaster" Target="/ppt/notesMasters/notesMaster1.xml" Id="R2839104f804549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7d42d5dc614c86" /><Relationship Type="http://schemas.openxmlformats.org/officeDocument/2006/relationships/notesMaster" Target="/ppt/notesMasters/notesMaster1.xml" Id="Rdc652c55da9449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e80991ba584cb5" /><Relationship Type="http://schemas.openxmlformats.org/officeDocument/2006/relationships/notesMaster" Target="/ppt/notesMasters/notesMaster1.xml" Id="Rea5628981e454c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49c5875ed14007" /><Relationship Type="http://schemas.openxmlformats.org/officeDocument/2006/relationships/notesMaster" Target="/ppt/notesMasters/notesMaster1.xml" Id="Rc05d71dc5bd04c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5d7fff781d4ed8" /><Relationship Type="http://schemas.openxmlformats.org/officeDocument/2006/relationships/notesMaster" Target="/ppt/notesMasters/notesMaster1.xml" Id="Rfbbfc8225e4544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77f1fa52f64b23" /><Relationship Type="http://schemas.openxmlformats.org/officeDocument/2006/relationships/notesMaster" Target="/ppt/notesMasters/notesMaster1.xml" Id="Rba6dd985647f47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35fe4f76224df4" /><Relationship Type="http://schemas.openxmlformats.org/officeDocument/2006/relationships/notesMaster" Target="/ppt/notesMasters/notesMaster1.xml" Id="R4b3d987c7b7b4c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3d275fd6bf4164" /><Relationship Type="http://schemas.openxmlformats.org/officeDocument/2006/relationships/notesMaster" Target="/ppt/notesMasters/notesMaster1.xml" Id="R09bc4edbcbfe4e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08e7c736c84dd0" /><Relationship Type="http://schemas.openxmlformats.org/officeDocument/2006/relationships/notesMaster" Target="/ppt/notesMasters/notesMaster1.xml" Id="Rc6cf3c79751444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20 seconds.</a:t>
            </a:r>
          </a:p>
          <a:p xmlns:a="http://schemas.openxmlformats.org/drawingml/2006/main">
            <a:r>
              <a:t>Introduce the question: can the same 4×4 matrix product be computed with fewer scalar multiplications? The numbers refer to a modulo 2 task. The 47 result is from Fawzi et al., Nature 2022, DOI 10.1038/s41586-022-05172-4. Design adapted from the supplied HTML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45 seconds.</a:t>
            </a:r>
          </a:p>
          <a:p xmlns:a="http://schemas.openxmlformats.org/drawingml/2006/main">
            <a:r>
              <a:t>Problem: matrix multiplication appears in AI and scientific computing. We focus on 4×4 matrices. One cell is a row–column dot product. In F2, addition is XOR and scalar multiplication is AND. The ordinary direct algorithm needs 4 scalar products for each of 16 cells, or 64 total. Source: supplied matrix notebook and Fawzi et al., Nature 2022.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60 seconds.</a:t>
            </a:r>
          </a:p>
          <a:p xmlns:a="http://schemas.openxmlformats.org/drawingml/2006/main">
            <a:r>
              <a:t>Plain language: AlphaTensor plays a one-player game. At each move it proposes a rank-one factor, removes its contribution from the remaining tensor, and seeks zero residual with few moves. The AI uses a learned policy and tree search. Our code implements the resulting decomposition, not the original RL search. Source: Fawzi et al., Nature 2022, sections “Algorithms as tensor decomposition” and “DRL for algorithm discovery.”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80 seconds.</a:t>
            </a:r>
          </a:p>
          <a:p xmlns:a="http://schemas.openxmlformats.org/drawingml/2006/main">
            <a:r>
              <a:t>Shapes: flatten each 4×4 matrix into 16 entries. T has 16×16×16=4096 binary coefficients. Its coefficient T[o,i,j] says whether the product of A[i] and B[j] contributes to C[o]. A factor has u,v,w in F2^16. The complete identity is T = XOR over r of u_r ⊗ v_r ⊗ w_r. This is the tensor decomposition in the paper, equation 1. The notebook checks every coefficient.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85 seconds.</a:t>
            </a:r>
          </a:p>
          <a:p xmlns:a="http://schemas.openxmlformats.org/drawingml/2006/main">
            <a:r>
              <a:t>Explain the four equations in sequence. Each u selects and XORs A entries, each v does the same for B, one scalar multiplication gives p, and w selects output cells receiving p. Example first published factor: u selects A13, v selects B31, w selects C11, C12, C21. A contribution to an apparently unrelated output can be cancelled by later factors. Source: supplied notebook and embedded author factorization, commit 1949163da3bef7e3eb268a3ac015fd1c2dbfc767.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90 seconds.</a:t>
            </a:r>
          </a:p>
          <a:p xmlns:a="http://schemas.openxmlformats.org/drawingml/2006/main">
            <a:r>
              <a:t>Open the accompanying alphatensor_demo.ipynb and walk through the loop. Masks encode the 16 coefficients of u, v, and w. xor_selected forms a linear combination, product=left &amp; right is one scalar multiplication in F2, and output accumulation is XOR. The 47 triples are published data; the main arithmetic is explicit Python. Source: supplied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55 seconds.</a:t>
            </a:r>
          </a:p>
          <a:p xmlns:a="http://schemas.openxmlformats.org/drawingml/2006/main">
            <a:r>
              <a:t>A single numerical example cannot establish correctness for arbitrary inputs. The notebook computes the target coefficient for every output o, A index i, and B index j, then reconstructs it from all 47 factors. There are 16 cubed, or 4096, coefficients. Zero mismatches proves the decomposition identity over F2. A separate 100-pair NumPy check catches implementation errors. Source: supplied notebook; published factorization from AlphaTensor author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60 seconds.</a:t>
            </a:r>
          </a:p>
          <a:p xmlns:a="http://schemas.openxmlformats.org/drawingml/2006/main">
            <a:r>
              <a:t>Describe the experiment: compare direct, two-level Strassen, and published AlphaTensor factorization. Our expanded implementation counts 48, 318, and 340 XORs respectively. These counts are from the notebook and do not minimize shared additions. At m=1 direct is cheapest; at m=20 AlphaTensor is cheapest in this toy arithmetic model. The table is not a GPU benchmark. Source: supplied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45 seconds.</a:t>
            </a:r>
          </a:p>
          <a:p xmlns:a="http://schemas.openxmlformats.org/drawingml/2006/main">
            <a:r>
              <a:t>State denominators carefully. Relative to direct: 17/64 = 26.5625%. Relative to Strassen: 2/49 = 4.0816%. This is multiplication-count reduction, not a measured speedup. The paper separately studies hardware-tailored algorithms with real benchmarks; that is distinct from the 47-term F2 example. Source: Fawzi et al., Nature 2022, Fig. 3 and Fig. 5; supplied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60 seconds.</a:t>
            </a:r>
          </a:p>
          <a:p xmlns:a="http://schemas.openxmlformats.org/drawingml/2006/main">
            <a:r>
              <a:t>Conclude honestly. The Nature paper reports a 47-multiplication rank upper bound for 4×4 matrices over F2. The notebook is a transparent factorization evaluator and verifier, not a reproduction of AlphaTensor training. Lower multiplication rank may trade off with XORs and memory. For an AI-method rubric, explain the reinforcement-learning method in the talk while acknowledging the implementation scope. Source: Fawzi et al., Nature 2022, DOI 10.1038/s41586-022-05172-4; author repository; supplied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6bd9d62ecd41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c34c110054d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66d8c34304d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202f922b9845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d8e537d9c44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8e8fc741144b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6C6CC7-29D6-4CEF-913E-20B0745944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51C85D-728A-4F1C-9C57-C04747DBAF2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284720-DF86-4B71-B3D8-E6C953221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2841AE-B15D-4A1F-8BF6-762F8B4804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A2A54A9-0DF7-4D80-88B9-28BF119EA6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9C8859-BB84-4C71-B578-DA2F6FED11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1B26DB-98E3-41BA-B8C7-38063FE870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B3E6FE-54A6-46C5-A792-790C3AFEB1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90012D-4359-4618-BC40-336AEF7524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15BB67-CEA4-4EE5-B822-1E91956601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2fb30f99594856" /><Relationship Type="http://schemas.openxmlformats.org/officeDocument/2006/relationships/slideLayout" Target="/ppt/slideLayouts/slideLayout1.xml" Id="Ra208fae0190743fd" /><Relationship Type="http://schemas.openxmlformats.org/officeDocument/2006/relationships/slideLayout" Target="/ppt/slideLayouts/slideLayout2.xml" Id="R43d902850e034694" /><Relationship Type="http://schemas.openxmlformats.org/officeDocument/2006/relationships/slideLayout" Target="/ppt/slideLayouts/slideLayout3.xml" Id="R26b7c03e67aa4919" /><Relationship Type="http://schemas.openxmlformats.org/officeDocument/2006/relationships/slideLayout" Target="/ppt/slideLayouts/slideLayout4.xml" Id="R864eb363df64469b" /><Relationship Type="http://schemas.openxmlformats.org/officeDocument/2006/relationships/slideLayout" Target="/ppt/slideLayouts/slideLayout5.xml" Id="R1c2c7855f955492e" /><Relationship Type="http://schemas.openxmlformats.org/officeDocument/2006/relationships/slideLayout" Target="/ppt/slideLayouts/slideLayout6.xml" Id="R1d5cf10aae094c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08fae0190743fd"/>
    <p:sldLayoutId xmlns:r="http://schemas.openxmlformats.org/officeDocument/2006/relationships" id="2147483650" r:id="R43d902850e034694"/>
    <p:sldLayoutId xmlns:r="http://schemas.openxmlformats.org/officeDocument/2006/relationships" id="2147483651" r:id="R26b7c03e67aa4919"/>
    <p:sldLayoutId xmlns:r="http://schemas.openxmlformats.org/officeDocument/2006/relationships" id="2147483652" r:id="R864eb363df64469b"/>
    <p:sldLayoutId xmlns:r="http://schemas.openxmlformats.org/officeDocument/2006/relationships" id="2147483653" r:id="R1c2c7855f955492e"/>
    <p:sldLayoutId xmlns:r="http://schemas.openxmlformats.org/officeDocument/2006/relationships" id="2147483654" r:id="R1d5cf10aae094c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e2f29a6d1483d" /><Relationship Type="http://schemas.openxmlformats.org/officeDocument/2006/relationships/notesSlide" Target="/ppt/notesSlides/notesSlide1.xml" Id="R32c8f46f1ae240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b793c1719441e9" /><Relationship Type="http://schemas.openxmlformats.org/officeDocument/2006/relationships/notesSlide" Target="/ppt/notesSlides/notesSlide2.xml" Id="R3775b949e30d48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a63c55b6da49cd" /><Relationship Type="http://schemas.openxmlformats.org/officeDocument/2006/relationships/notesSlide" Target="/ppt/notesSlides/notesSlide3.xml" Id="R726f409b943648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d8dddac64f4fd1" /><Relationship Type="http://schemas.openxmlformats.org/officeDocument/2006/relationships/notesSlide" Target="/ppt/notesSlides/notesSlide4.xml" Id="R8af8a43a0d8348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c8f83742814e7c" /><Relationship Type="http://schemas.openxmlformats.org/officeDocument/2006/relationships/notesSlide" Target="/ppt/notesSlides/notesSlide5.xml" Id="Rcd274f8dddc544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5f4c4753014841" /><Relationship Type="http://schemas.openxmlformats.org/officeDocument/2006/relationships/notesSlide" Target="/ppt/notesSlides/notesSlide6.xml" Id="R680646e63d4448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83f693141c4ce4" /><Relationship Type="http://schemas.openxmlformats.org/officeDocument/2006/relationships/notesSlide" Target="/ppt/notesSlides/notesSlide7.xml" Id="R536beaf1346445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37eddda4684701" /><Relationship Type="http://schemas.openxmlformats.org/officeDocument/2006/relationships/notesSlide" Target="/ppt/notesSlides/notesSlide8.xml" Id="R2cf1db65d6ba45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3a0996a44a4726" /><Relationship Type="http://schemas.openxmlformats.org/officeDocument/2006/relationships/notesSlide" Target="/ppt/notesSlides/notesSlide9.xml" Id="R991a4d5a3aef46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7775d662fe4935" /><Relationship Type="http://schemas.openxmlformats.org/officeDocument/2006/relationships/notesSlide" Target="/ppt/notesSlides/notesSlide10.xml" Id="R6ca8fe5e69dc49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9ED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ATRIX × AI">
            <a:extLst xmlns:a="http://schemas.openxmlformats.org/drawingml/2006/main">
              <a:ext uri="{FF2B5EF4-FFF2-40B4-BE49-F238E27FC236}">
                <a16:creationId xmlns:a16="http://schemas.microsoft.com/office/drawing/2014/main" id="{A2D8BDFA-90DD-4821-97B6-1360900B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rPr>
              <a:t>MATRIX × AI</a:t>
            </a:r>
          </a:p>
        </p:txBody>
      </p:sp>
      <p:sp>
        <p:nvSpPr>
          <p:cNvPr id="2" name="How AI finds a shorter&#10;m">
            <a:extLst xmlns:a="http://schemas.openxmlformats.org/drawingml/2006/main">
              <a:ext uri="{FF2B5EF4-FFF2-40B4-BE49-F238E27FC236}">
                <a16:creationId xmlns:a16="http://schemas.microsoft.com/office/drawing/2014/main" id="{6B7D4B5D-735C-46E0-9453-AF8E8FDE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48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rPr>
              <a:t>How AI finds a shorter</a:t>
            </a:r>
          </a:p>
          <a:p xmlns:a="http://schemas.openxmlformats.org/drawingml/2006/main">
            <a:pPr algn="l">
              <a:defRPr sz="48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rPr>
              <a:t>matrix multiplication</a:t>
            </a:r>
          </a:p>
        </p:txBody>
      </p:sp>
      <p:sp>
        <p:nvSpPr>
          <p:cNvPr id="3" name="AlphaTensor · a 4×4 exam">
            <a:extLst xmlns:a="http://schemas.openxmlformats.org/drawingml/2006/main">
              <a:ext uri="{FF2B5EF4-FFF2-40B4-BE49-F238E27FC236}">
                <a16:creationId xmlns:a16="http://schemas.microsoft.com/office/drawing/2014/main" id="{CB241046-3E9C-4353-86AF-D9C6FD84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0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rPr>
              <a:t>AlphaTensor · a 4×4 example over modulo 2</a:t>
            </a:r>
          </a:p>
        </p:txBody>
      </p:sp>
      <p:sp>
        <p:nvSpPr>
          <p:cNvPr id="4" name="64  /  49  /  47">
            <a:extLst xmlns:a="http://schemas.openxmlformats.org/drawingml/2006/main">
              <a:ext uri="{FF2B5EF4-FFF2-40B4-BE49-F238E27FC236}">
                <a16:creationId xmlns:a16="http://schemas.microsoft.com/office/drawing/2014/main" id="{D500C060-BE55-4644-A6D6-6DFF206C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49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49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49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49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49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49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49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49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49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49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pPr>
            <a:r>
              <a:rPr sz="4950" b="1">
                <a:solidFill>
                  <a:srgbClr val="5751D3"/>
                </a:solidFill>
                <a:latin typeface="Consolas"/>
                <a:ea typeface="Consolas"/>
                <a:cs typeface="Consolas"/>
              </a:rPr>
              <a:t>64  /  49  /  47</a:t>
            </a:r>
          </a:p>
        </p:txBody>
      </p:sp>
      <p:sp>
        <p:nvSpPr>
          <p:cNvPr id="5" name="Direct             Stras">
            <a:extLst xmlns:a="http://schemas.openxmlformats.org/drawingml/2006/main">
              <a:ext uri="{FF2B5EF4-FFF2-40B4-BE49-F238E27FC236}">
                <a16:creationId xmlns:a16="http://schemas.microsoft.com/office/drawing/2014/main" id="{1237EF1C-317A-4034-8B46-5CA8FA9A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Direct             Strassen          AlphaTensor</a:t>
            </a:r>
          </a:p>
        </p:txBody>
      </p:sp>
    </p:spTree>
    <p:extLst>
      <p:ext uri="{BB962C8B-B14F-4D97-AF65-F5344CB8AC3E}">
        <p14:creationId xmlns:p14="http://schemas.microsoft.com/office/powerpoint/2010/main" val="194071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ROBLEM · 4×4 MATRICES">
            <a:extLst xmlns:a="http://schemas.openxmlformats.org/drawingml/2006/main">
              <a:ext uri="{FF2B5EF4-FFF2-40B4-BE49-F238E27FC236}">
                <a16:creationId xmlns:a16="http://schemas.microsoft.com/office/drawing/2014/main" id="{DC24F752-4A7D-4DA1-974A-2ED8AF9B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rPr>
              <a:t>PROBLEM · 4×4 MATRICES</a:t>
            </a:r>
          </a:p>
        </p:txBody>
      </p:sp>
      <p:sp>
        <p:nvSpPr>
          <p:cNvPr id="2" name="The problem: compute C =">
            <a:extLst xmlns:a="http://schemas.openxmlformats.org/drawingml/2006/main">
              <a:ext uri="{FF2B5EF4-FFF2-40B4-BE49-F238E27FC236}">
                <a16:creationId xmlns:a16="http://schemas.microsoft.com/office/drawing/2014/main" id="{1065A926-F994-425E-8D59-4F853FD4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rPr>
              <a:t>The problem: compute C = AB</a:t>
            </a:r>
          </a:p>
        </p:txBody>
      </p:sp>
      <p:sp>
        <p:nvSpPr>
          <p:cNvPr id="3" name="02 / 10">
            <a:extLst xmlns:a="http://schemas.openxmlformats.org/drawingml/2006/main">
              <a:ext uri="{FF2B5EF4-FFF2-40B4-BE49-F238E27FC236}">
                <a16:creationId xmlns:a16="http://schemas.microsoft.com/office/drawing/2014/main" id="{44AA7DA3-A625-483A-BD0D-434492D0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4842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718064"/>
                </a:solidFill>
                <a:latin typeface="Consolas"/>
                <a:ea typeface="Consolas"/>
                <a:cs typeface="Consolas"/>
              </a:rPr>
              <a:t>02 / 10</a:t>
            </a:r>
          </a:p>
        </p:txBody>
      </p:sp>
      <p:sp>
        <p:nvSpPr>
          <p:cNvPr id="4" name="A and B each contain 16 ">
            <a:extLst xmlns:a="http://schemas.openxmlformats.org/drawingml/2006/main">
              <a:ext uri="{FF2B5EF4-FFF2-40B4-BE49-F238E27FC236}">
                <a16:creationId xmlns:a16="http://schemas.microsoft.com/office/drawing/2014/main" id="{1F26DE98-D9F7-4477-8F5D-50AE1B13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621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A and B each contain 16 entries. C has 16 output cells.</a:t>
            </a:r>
          </a:p>
        </p:txBody>
      </p:sp>
      <p:sp>
        <p:nvSpPr>
          <p:cNvPr id="5" name="C₁₁ = A₁₁B₁₁ ⊕ A₁₂B₂₁ ⊕ ">
            <a:extLst xmlns:a="http://schemas.openxmlformats.org/drawingml/2006/main">
              <a:ext uri="{FF2B5EF4-FFF2-40B4-BE49-F238E27FC236}">
                <a16:creationId xmlns:a16="http://schemas.microsoft.com/office/drawing/2014/main" id="{B85B621B-43EB-4EF7-A9E7-7AFD3722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92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92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92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92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92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92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92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92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92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92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pPr>
            <a:r>
              <a:rPr sz="2925" b="1">
                <a:solidFill>
                  <a:srgbClr val="5751D3"/>
                </a:solidFill>
                <a:latin typeface="Consolas"/>
                <a:ea typeface="Consolas"/>
                <a:cs typeface="Consolas"/>
              </a:rPr>
              <a:t>C₁₁ = A₁₁B₁₁ ⊕ A₁₂B₂₁ ⊕ A₁₃B₃₁ ⊕ A₁₄B₄₁</a:t>
            </a:r>
          </a:p>
        </p:txBody>
      </p:sp>
      <p:sp>
        <p:nvSpPr>
          <p:cNvPr id="6" name="Each cell needs 4 scalar">
            <a:extLst xmlns:a="http://schemas.openxmlformats.org/drawingml/2006/main">
              <a:ext uri="{FF2B5EF4-FFF2-40B4-BE49-F238E27FC236}">
                <a16:creationId xmlns:a16="http://schemas.microsoft.com/office/drawing/2014/main" id="{6F5D52A6-40DD-49D7-87BE-4F0284BC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rPr>
              <a:t>Each cell needs 4 scalar products. Direct multiplication uses 16 × 4 = 64.</a:t>
            </a:r>
          </a:p>
        </p:txBody>
      </p:sp>
      <p:sp>
        <p:nvSpPr>
          <p:cNvPr id="7" name="⊕ means addition modulo ">
            <a:extLst xmlns:a="http://schemas.openxmlformats.org/drawingml/2006/main">
              <a:ext uri="{FF2B5EF4-FFF2-40B4-BE49-F238E27FC236}">
                <a16:creationId xmlns:a16="http://schemas.microsoft.com/office/drawing/2014/main" id="{AC9646CD-7890-476D-A4FF-831EC2D7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rPr>
              <a:t>⊕ means addition modulo 2: 1 ⊕ 1 = 0</a:t>
            </a:r>
          </a:p>
        </p:txBody>
      </p:sp>
    </p:spTree>
    <p:extLst>
      <p:ext uri="{BB962C8B-B14F-4D97-AF65-F5344CB8AC3E}">
        <p14:creationId xmlns:p14="http://schemas.microsoft.com/office/powerpoint/2010/main" val="18915291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IDEA · REINFORCEMENT LEA">
            <a:extLst xmlns:a="http://schemas.openxmlformats.org/drawingml/2006/main">
              <a:ext uri="{FF2B5EF4-FFF2-40B4-BE49-F238E27FC236}">
                <a16:creationId xmlns:a16="http://schemas.microsoft.com/office/drawing/2014/main" id="{1B1BB814-1BFA-425F-893D-9C5B5C9D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rPr>
              <a:t>IDEA · REINFORCEMENT LEARNING</a:t>
            </a:r>
          </a:p>
        </p:txBody>
      </p:sp>
      <p:sp>
        <p:nvSpPr>
          <p:cNvPr id="2" name="AlphaTensor searches for">
            <a:extLst xmlns:a="http://schemas.openxmlformats.org/drawingml/2006/main">
              <a:ext uri="{FF2B5EF4-FFF2-40B4-BE49-F238E27FC236}">
                <a16:creationId xmlns:a16="http://schemas.microsoft.com/office/drawing/2014/main" id="{4BF1E464-BE63-4A1C-A43C-83206895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rPr>
              <a:t>AlphaTensor searches for a computation recipe</a:t>
            </a:r>
          </a:p>
        </p:txBody>
      </p:sp>
      <p:sp>
        <p:nvSpPr>
          <p:cNvPr id="3" name="03 / 10">
            <a:extLst xmlns:a="http://schemas.openxmlformats.org/drawingml/2006/main">
              <a:ext uri="{FF2B5EF4-FFF2-40B4-BE49-F238E27FC236}">
                <a16:creationId xmlns:a16="http://schemas.microsoft.com/office/drawing/2014/main" id="{15786306-3F09-4392-B6E6-0EC046E3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4842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718064"/>
                </a:solidFill>
                <a:latin typeface="Consolas"/>
                <a:ea typeface="Consolas"/>
                <a:cs typeface="Consolas"/>
              </a:rPr>
              <a:t>03 / 10</a:t>
            </a:r>
          </a:p>
        </p:txBody>
      </p:sp>
      <p:sp>
        <p:nvSpPr>
          <p:cNvPr id="4" name="Target">
            <a:extLst xmlns:a="http://schemas.openxmlformats.org/drawingml/2006/main">
              <a:ext uri="{FF2B5EF4-FFF2-40B4-BE49-F238E27FC236}">
                <a16:creationId xmlns:a16="http://schemas.microsoft.com/office/drawing/2014/main" id="{CA915D45-7DE0-4443-B6C2-A60DBEDD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rPr>
              <a:t>Target</a:t>
            </a:r>
          </a:p>
        </p:txBody>
      </p:sp>
      <p:sp>
        <p:nvSpPr>
          <p:cNvPr id="5" name="All 4×4 input–output rel">
            <a:extLst xmlns:a="http://schemas.openxmlformats.org/drawingml/2006/main">
              <a:ext uri="{FF2B5EF4-FFF2-40B4-BE49-F238E27FC236}">
                <a16:creationId xmlns:a16="http://schemas.microsoft.com/office/drawing/2014/main" id="{60FC4BCF-D1AF-47F8-BC8A-54AEEDDE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All 4×4 input–output relationships</a:t>
            </a:r>
          </a:p>
        </p:txBody>
      </p:sp>
      <p:sp>
        <p:nvSpPr>
          <p:cNvPr id="6" name="Action">
            <a:extLst xmlns:a="http://schemas.openxmlformats.org/drawingml/2006/main">
              <a:ext uri="{FF2B5EF4-FFF2-40B4-BE49-F238E27FC236}">
                <a16:creationId xmlns:a16="http://schemas.microsoft.com/office/drawing/2014/main" id="{C7C5725E-434C-4FB4-9841-08FCE7B3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383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</p:txBody>
      </p:sp>
      <p:sp>
        <p:nvSpPr>
          <p:cNvPr id="7" name="Choose input combination">
            <a:extLst xmlns:a="http://schemas.openxmlformats.org/drawingml/2006/main">
              <a:ext uri="{FF2B5EF4-FFF2-40B4-BE49-F238E27FC236}">
                <a16:creationId xmlns:a16="http://schemas.microsoft.com/office/drawing/2014/main" id="{C90706FC-A625-4F9B-9A0C-AB5A1132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90775"/>
            <a:ext cx="314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Choose input combinations and where their product goes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DCDC2A06-F0A4-4FCC-AD5A-4A974EB9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383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rPr>
              <a:t>Goal</a:t>
            </a:r>
          </a:p>
        </p:txBody>
      </p:sp>
      <p:sp>
        <p:nvSpPr>
          <p:cNvPr id="9" name="Reach an exact decomposi">
            <a:extLst xmlns:a="http://schemas.openxmlformats.org/drawingml/2006/main">
              <a:ext uri="{FF2B5EF4-FFF2-40B4-BE49-F238E27FC236}">
                <a16:creationId xmlns:a16="http://schemas.microsoft.com/office/drawing/2014/main" id="{9A9F51D5-40DB-46D5-9319-3315E101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90775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Reach an exact decomposition in as few terms as possible</a:t>
            </a:r>
          </a:p>
        </p:txBody>
      </p:sp>
      <p:sp>
        <p:nvSpPr>
          <p:cNvPr id="10" name="The published 47-term re">
            <a:extLst xmlns:a="http://schemas.openxmlformats.org/drawingml/2006/main">
              <a:ext uri="{FF2B5EF4-FFF2-40B4-BE49-F238E27FC236}">
                <a16:creationId xmlns:a16="http://schemas.microsoft.com/office/drawing/2014/main" id="{44731F7A-87B1-42B4-9F64-114905BF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4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rPr>
              <a:t>The published 47-term recipe is the output of this search.</a:t>
            </a:r>
          </a:p>
        </p:txBody>
      </p:sp>
      <p:sp>
        <p:nvSpPr>
          <p:cNvPr id="11" name="Our notebook evaluates a">
            <a:extLst xmlns:a="http://schemas.openxmlformats.org/drawingml/2006/main">
              <a:ext uri="{FF2B5EF4-FFF2-40B4-BE49-F238E27FC236}">
                <a16:creationId xmlns:a16="http://schemas.microsoft.com/office/drawing/2014/main" id="{5524AE32-95EC-415F-B246-8880A9D1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Our notebook evaluates and verifies the recipe; it does not retrain AlphaTensor.</a:t>
            </a:r>
          </a:p>
        </p:txBody>
      </p:sp>
    </p:spTree>
    <p:extLst>
      <p:ext uri="{BB962C8B-B14F-4D97-AF65-F5344CB8AC3E}">
        <p14:creationId xmlns:p14="http://schemas.microsoft.com/office/powerpoint/2010/main" val="16340795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MATH · DECOMPOSITION">
            <a:extLst xmlns:a="http://schemas.openxmlformats.org/drawingml/2006/main">
              <a:ext uri="{FF2B5EF4-FFF2-40B4-BE49-F238E27FC236}">
                <a16:creationId xmlns:a16="http://schemas.microsoft.com/office/drawing/2014/main" id="{D6A40BFD-A55F-4E36-B1AC-AB3D450B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rPr>
              <a:t>MATH · DECOMPOSITION</a:t>
            </a:r>
          </a:p>
        </p:txBody>
      </p:sp>
      <p:sp>
        <p:nvSpPr>
          <p:cNvPr id="2" name="Matrix multiplication as">
            <a:extLst xmlns:a="http://schemas.openxmlformats.org/drawingml/2006/main">
              <a:ext uri="{FF2B5EF4-FFF2-40B4-BE49-F238E27FC236}">
                <a16:creationId xmlns:a16="http://schemas.microsoft.com/office/drawing/2014/main" id="{E81A14D9-451B-4906-8034-36FE579A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rPr>
              <a:t>Matrix multiplication as a tensor</a:t>
            </a:r>
          </a:p>
        </p:txBody>
      </p:sp>
      <p:sp>
        <p:nvSpPr>
          <p:cNvPr id="3" name="04 / 10">
            <a:extLst xmlns:a="http://schemas.openxmlformats.org/drawingml/2006/main">
              <a:ext uri="{FF2B5EF4-FFF2-40B4-BE49-F238E27FC236}">
                <a16:creationId xmlns:a16="http://schemas.microsoft.com/office/drawing/2014/main" id="{7EB458CD-1118-45DF-B31A-21D549BF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4842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718064"/>
                </a:solidFill>
                <a:latin typeface="Consolas"/>
                <a:ea typeface="Consolas"/>
                <a:cs typeface="Consolas"/>
              </a:rPr>
              <a:t>04 / 10</a:t>
            </a:r>
          </a:p>
        </p:txBody>
      </p:sp>
      <p:sp>
        <p:nvSpPr>
          <p:cNvPr id="4" name="T ∈ 𝔽₂^(16×16×16)">
            <a:extLst xmlns:a="http://schemas.openxmlformats.org/drawingml/2006/main">
              <a:ext uri="{FF2B5EF4-FFF2-40B4-BE49-F238E27FC236}">
                <a16:creationId xmlns:a16="http://schemas.microsoft.com/office/drawing/2014/main" id="{24672E7F-9D13-48C2-9FEB-87205E45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9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39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39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39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39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39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39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39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39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39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pPr>
            <a:r>
              <a:rPr sz="3900" b="1">
                <a:solidFill>
                  <a:srgbClr val="5751D3"/>
                </a:solidFill>
                <a:latin typeface="Consolas"/>
                <a:ea typeface="Consolas"/>
                <a:cs typeface="Consolas"/>
              </a:rPr>
              <a:t>T ∈ 𝔽₂^(16×16×16)</a:t>
            </a:r>
          </a:p>
        </p:txBody>
      </p:sp>
      <p:sp>
        <p:nvSpPr>
          <p:cNvPr id="5" name="16 choices for an A entr">
            <a:extLst xmlns:a="http://schemas.openxmlformats.org/drawingml/2006/main">
              <a:ext uri="{FF2B5EF4-FFF2-40B4-BE49-F238E27FC236}">
                <a16:creationId xmlns:a16="http://schemas.microsoft.com/office/drawing/2014/main" id="{17228AAD-991B-4C6B-8F4C-F534579A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16 choices for an A entry × 16 for a B entry × 16 output cells</a:t>
            </a:r>
          </a:p>
        </p:txBody>
      </p:sp>
      <p:sp>
        <p:nvSpPr>
          <p:cNvPr id="6" name="Tₒᵢⱼ = 1 when AᵢBⱼ belon">
            <a:extLst xmlns:a="http://schemas.openxmlformats.org/drawingml/2006/main">
              <a:ext uri="{FF2B5EF4-FFF2-40B4-BE49-F238E27FC236}">
                <a16:creationId xmlns:a16="http://schemas.microsoft.com/office/drawing/2014/main" id="{C424F3CC-C692-40AA-8649-0A84E6F0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rPr>
              <a:t>Tₒᵢⱼ = 1 when AᵢBⱼ belongs in output Cₒ; otherwise 0</a:t>
            </a:r>
          </a:p>
        </p:txBody>
      </p:sp>
      <p:sp>
        <p:nvSpPr>
          <p:cNvPr id="7" name="Each factor uses three l">
            <a:extLst xmlns:a="http://schemas.openxmlformats.org/drawingml/2006/main">
              <a:ext uri="{FF2B5EF4-FFF2-40B4-BE49-F238E27FC236}">
                <a16:creationId xmlns:a16="http://schemas.microsoft.com/office/drawing/2014/main" id="{BEA691B4-FBD0-4208-86ED-3937E268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Each factor uses three length-16 vectors u, v, w.</a:t>
            </a:r>
          </a:p>
        </p:txBody>
      </p:sp>
    </p:spTree>
    <p:extLst>
      <p:ext uri="{BB962C8B-B14F-4D97-AF65-F5344CB8AC3E}">
        <p14:creationId xmlns:p14="http://schemas.microsoft.com/office/powerpoint/2010/main" val="7179818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MATH · A SINGLE TERM">
            <a:extLst xmlns:a="http://schemas.openxmlformats.org/drawingml/2006/main">
              <a:ext uri="{FF2B5EF4-FFF2-40B4-BE49-F238E27FC236}">
                <a16:creationId xmlns:a16="http://schemas.microsoft.com/office/drawing/2014/main" id="{CC04ADA5-1805-4316-AA3F-886EF277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rPr>
              <a:t>MATH · A SINGLE TERM</a:t>
            </a:r>
          </a:p>
        </p:txBody>
      </p:sp>
      <p:sp>
        <p:nvSpPr>
          <p:cNvPr id="2" name="One factor is one scalar">
            <a:extLst xmlns:a="http://schemas.openxmlformats.org/drawingml/2006/main">
              <a:ext uri="{FF2B5EF4-FFF2-40B4-BE49-F238E27FC236}">
                <a16:creationId xmlns:a16="http://schemas.microsoft.com/office/drawing/2014/main" id="{D3466809-BBA5-41C3-8613-D73C802E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rPr>
              <a:t>One factor is one scalar multiplication</a:t>
            </a:r>
          </a:p>
        </p:txBody>
      </p:sp>
      <p:sp>
        <p:nvSpPr>
          <p:cNvPr id="3" name="05 / 10">
            <a:extLst xmlns:a="http://schemas.openxmlformats.org/drawingml/2006/main">
              <a:ext uri="{FF2B5EF4-FFF2-40B4-BE49-F238E27FC236}">
                <a16:creationId xmlns:a16="http://schemas.microsoft.com/office/drawing/2014/main" id="{C4140A24-411F-4533-9F2C-8BF1BDC1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4842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718064"/>
                </a:solidFill>
                <a:latin typeface="Consolas"/>
                <a:ea typeface="Consolas"/>
                <a:cs typeface="Consolas"/>
              </a:rPr>
              <a:t>05 / 10</a:t>
            </a:r>
          </a:p>
        </p:txBody>
      </p:sp>
      <p:sp>
        <p:nvSpPr>
          <p:cNvPr id="4" name="Lᵣ = ⊕ᵢ uᵣᵢ Aᵢ">
            <a:extLst xmlns:a="http://schemas.openxmlformats.org/drawingml/2006/main">
              <a:ext uri="{FF2B5EF4-FFF2-40B4-BE49-F238E27FC236}">
                <a16:creationId xmlns:a16="http://schemas.microsoft.com/office/drawing/2014/main" id="{4CCAC62C-452B-4890-8FDB-2FCC79BC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pPr>
            <a:r>
              <a:rPr sz="2700" b="1">
                <a:solidFill>
                  <a:srgbClr val="5751D3"/>
                </a:solidFill>
                <a:latin typeface="Consolas"/>
                <a:ea typeface="Consolas"/>
                <a:cs typeface="Consolas"/>
              </a:rPr>
              <a:t>Lᵣ = ⊕ᵢ uᵣᵢ Aᵢ</a:t>
            </a:r>
          </a:p>
        </p:txBody>
      </p:sp>
      <p:sp>
        <p:nvSpPr>
          <p:cNvPr id="5" name="Rᵣ = ⊕ⱼ vᵣⱼ Bⱼ">
            <a:extLst xmlns:a="http://schemas.openxmlformats.org/drawingml/2006/main">
              <a:ext uri="{FF2B5EF4-FFF2-40B4-BE49-F238E27FC236}">
                <a16:creationId xmlns:a16="http://schemas.microsoft.com/office/drawing/2014/main" id="{B390CBDB-2847-4773-B6EE-8B4457C4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97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pPr>
            <a:r>
              <a:rPr sz="2700" b="1">
                <a:solidFill>
                  <a:srgbClr val="5751D3"/>
                </a:solidFill>
                <a:latin typeface="Consolas"/>
                <a:ea typeface="Consolas"/>
                <a:cs typeface="Consolas"/>
              </a:rPr>
              <a:t>Rᵣ = ⊕ⱼ vᵣⱼ Bⱼ</a:t>
            </a:r>
          </a:p>
        </p:txBody>
      </p:sp>
      <p:sp>
        <p:nvSpPr>
          <p:cNvPr id="6" name="pᵣ = Lᵣ × Rᵣ">
            <a:extLst xmlns:a="http://schemas.openxmlformats.org/drawingml/2006/main">
              <a:ext uri="{FF2B5EF4-FFF2-40B4-BE49-F238E27FC236}">
                <a16:creationId xmlns:a16="http://schemas.microsoft.com/office/drawing/2014/main" id="{0C2F5767-CA6D-4695-A0D3-D89BE63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925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925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925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925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925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925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925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925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925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925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pPr>
            <a:r>
              <a:rPr sz="2925" b="1">
                <a:solidFill>
                  <a:srgbClr val="25302B"/>
                </a:solidFill>
                <a:latin typeface="Consolas"/>
                <a:ea typeface="Consolas"/>
                <a:cs typeface="Consolas"/>
              </a:rPr>
              <a:t>pᵣ = Lᵣ × Rᵣ</a:t>
            </a:r>
          </a:p>
        </p:txBody>
      </p:sp>
      <p:sp>
        <p:nvSpPr>
          <p:cNvPr id="7" name="Cₒ ← Cₒ ⊕ wᵣₒ pᵣ">
            <a:extLst xmlns:a="http://schemas.openxmlformats.org/drawingml/2006/main">
              <a:ext uri="{FF2B5EF4-FFF2-40B4-BE49-F238E27FC236}">
                <a16:creationId xmlns:a16="http://schemas.microsoft.com/office/drawing/2014/main" id="{9DA0DBA9-99B3-4020-9233-EF4D2D6B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7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7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7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7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7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7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7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7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7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7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pPr>
            <a:r>
              <a:rPr sz="2700" b="1">
                <a:solidFill>
                  <a:srgbClr val="25302B"/>
                </a:solidFill>
                <a:latin typeface="Consolas"/>
                <a:ea typeface="Consolas"/>
                <a:cs typeface="Consolas"/>
              </a:rPr>
              <a:t>Cₒ ← Cₒ ⊕ wᵣₒ pᵣ</a:t>
            </a:r>
          </a:p>
        </p:txBody>
      </p:sp>
      <p:sp>
        <p:nvSpPr>
          <p:cNvPr id="8" name="The published first fact">
            <a:extLst xmlns:a="http://schemas.openxmlformats.org/drawingml/2006/main">
              <a:ext uri="{FF2B5EF4-FFF2-40B4-BE49-F238E27FC236}">
                <a16:creationId xmlns:a16="http://schemas.microsoft.com/office/drawing/2014/main" id="{D4FFF437-B355-44EE-9355-72A45A76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The published first factor: p₁ = A₁₃ × B₃₁.</a:t>
            </a:r>
          </a:p>
        </p:txBody>
      </p:sp>
      <p:sp>
        <p:nvSpPr>
          <p:cNvPr id="9" name="It contributes to C₁₁, C">
            <a:extLst xmlns:a="http://schemas.openxmlformats.org/drawingml/2006/main">
              <a:ext uri="{FF2B5EF4-FFF2-40B4-BE49-F238E27FC236}">
                <a16:creationId xmlns:a16="http://schemas.microsoft.com/office/drawing/2014/main" id="{D5DA19C1-E559-4300-9F31-B2408616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382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It contributes to C₁₁, C₁₂, and C₂₁. Later factors can cancel temporary terms.</a:t>
            </a:r>
          </a:p>
        </p:txBody>
      </p:sp>
    </p:spTree>
    <p:extLst>
      <p:ext uri="{BB962C8B-B14F-4D97-AF65-F5344CB8AC3E}">
        <p14:creationId xmlns:p14="http://schemas.microsoft.com/office/powerpoint/2010/main" val="1744387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EMO · FROM-SCRATCH CODE">
            <a:extLst xmlns:a="http://schemas.openxmlformats.org/drawingml/2006/main">
              <a:ext uri="{FF2B5EF4-FFF2-40B4-BE49-F238E27FC236}">
                <a16:creationId xmlns:a16="http://schemas.microsoft.com/office/drawing/2014/main" id="{EA2257AF-79AA-4B6E-A59C-FBD41D01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rPr>
              <a:t>DEMO · FROM-SCRATCH CODE</a:t>
            </a:r>
          </a:p>
        </p:txBody>
      </p:sp>
      <p:sp>
        <p:nvSpPr>
          <p:cNvPr id="2" name="Notebook implementation">
            <a:extLst xmlns:a="http://schemas.openxmlformats.org/drawingml/2006/main">
              <a:ext uri="{FF2B5EF4-FFF2-40B4-BE49-F238E27FC236}">
                <a16:creationId xmlns:a16="http://schemas.microsoft.com/office/drawing/2014/main" id="{6E748FD8-9773-4B4D-A7A2-965E88E9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rPr>
              <a:t>Notebook implementation</a:t>
            </a:r>
          </a:p>
        </p:txBody>
      </p:sp>
      <p:sp>
        <p:nvSpPr>
          <p:cNvPr id="3" name="06 / 10">
            <a:extLst xmlns:a="http://schemas.openxmlformats.org/drawingml/2006/main">
              <a:ext uri="{FF2B5EF4-FFF2-40B4-BE49-F238E27FC236}">
                <a16:creationId xmlns:a16="http://schemas.microsoft.com/office/drawing/2014/main" id="{DDA61597-8BD5-4FC1-BC2D-FB7F7B7F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4842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718064"/>
                </a:solidFill>
                <a:latin typeface="Consolas"/>
                <a:ea typeface="Consolas"/>
                <a:cs typeface="Consolas"/>
              </a:rPr>
              <a:t>06 / 10</a:t>
            </a:r>
          </a:p>
        </p:txBody>
      </p:sp>
      <p:sp>
        <p:nvSpPr>
          <p:cNvPr id="4" name="for each (u, v, w) in 47">
            <a:extLst xmlns:a="http://schemas.openxmlformats.org/drawingml/2006/main">
              <a:ext uri="{FF2B5EF4-FFF2-40B4-BE49-F238E27FC236}">
                <a16:creationId xmlns:a16="http://schemas.microsoft.com/office/drawing/2014/main" id="{2B48404F-BA49-452C-835F-56809518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7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7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7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7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7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7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7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7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7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5751D3"/>
                </a:solidFill>
                <a:latin typeface="Consolas"/>
                <a:ea typeface="Consolas"/>
                <a:cs typeface="Consolas"/>
              </a:rPr>
              <a:t>for each (u, v, w) in 47 terms:</a:t>
            </a:r>
          </a:p>
        </p:txBody>
      </p:sp>
      <p:sp>
        <p:nvSpPr>
          <p:cNvPr id="5" name="    left  = XOR selected">
            <a:extLst xmlns:a="http://schemas.openxmlformats.org/drawingml/2006/main">
              <a:ext uri="{FF2B5EF4-FFF2-40B4-BE49-F238E27FC236}">
                <a16:creationId xmlns:a16="http://schemas.microsoft.com/office/drawing/2014/main" id="{DD0E0E93-9508-43A5-A88D-2479A632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0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00" b="0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00" b="0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00" b="0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00" b="0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00" b="0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00" b="0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00" b="0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00" b="0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00" b="0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5302B"/>
                </a:solidFill>
                <a:latin typeface="Consolas"/>
                <a:ea typeface="Consolas"/>
                <a:cs typeface="Consolas"/>
              </a:rPr>
              <a:t>    left  = XOR selected A entries</a:t>
            </a:r>
          </a:p>
          <a:p xmlns:a="http://schemas.openxmlformats.org/drawingml/2006/main">
            <a:pPr algn="l">
              <a:defRPr sz="2100" b="0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5302B"/>
                </a:solidFill>
                <a:latin typeface="Consolas"/>
                <a:ea typeface="Consolas"/>
                <a:cs typeface="Consolas"/>
              </a:rPr>
              <a:t>    right = XOR selected B entries</a:t>
            </a:r>
          </a:p>
          <a:p xmlns:a="http://schemas.openxmlformats.org/drawingml/2006/main">
            <a:pPr algn="l">
              <a:defRPr sz="2100" b="0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5302B"/>
                </a:solidFill>
                <a:latin typeface="Consolas"/>
                <a:ea typeface="Consolas"/>
                <a:cs typeface="Consolas"/>
              </a:rPr>
              <a:t>    p     = left AND right</a:t>
            </a:r>
          </a:p>
          <a:p xmlns:a="http://schemas.openxmlformats.org/drawingml/2006/main">
            <a:pPr algn="l">
              <a:defRPr sz="2100" b="0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5302B"/>
                </a:solidFill>
                <a:latin typeface="Consolas"/>
                <a:ea typeface="Consolas"/>
                <a:cs typeface="Consolas"/>
              </a:rPr>
              <a:t>    XOR p into each output selected by w</a:t>
            </a:r>
          </a:p>
        </p:txBody>
      </p:sp>
      <p:sp>
        <p:nvSpPr>
          <p:cNvPr id="6" name="Each 16-bit mask stores ">
            <a:extLst xmlns:a="http://schemas.openxmlformats.org/drawingml/2006/main">
              <a:ext uri="{FF2B5EF4-FFF2-40B4-BE49-F238E27FC236}">
                <a16:creationId xmlns:a16="http://schemas.microsoft.com/office/drawing/2014/main" id="{8B11F714-251F-440A-AE35-CE14FF68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Each 16-bit mask stores one vector. Bit i says whether entry i participates.</a:t>
            </a:r>
          </a:p>
        </p:txBody>
      </p:sp>
    </p:spTree>
    <p:extLst>
      <p:ext uri="{BB962C8B-B14F-4D97-AF65-F5344CB8AC3E}">
        <p14:creationId xmlns:p14="http://schemas.microsoft.com/office/powerpoint/2010/main" val="19889673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DEMO · CORRECTNESS">
            <a:extLst xmlns:a="http://schemas.openxmlformats.org/drawingml/2006/main">
              <a:ext uri="{FF2B5EF4-FFF2-40B4-BE49-F238E27FC236}">
                <a16:creationId xmlns:a16="http://schemas.microsoft.com/office/drawing/2014/main" id="{F4D65079-0242-4712-9836-00B0A054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rPr>
              <a:t>DEMO · CORRECTNESS</a:t>
            </a:r>
          </a:p>
        </p:txBody>
      </p:sp>
      <p:sp>
        <p:nvSpPr>
          <p:cNvPr id="2" name="The 47 terms pass a full">
            <a:extLst xmlns:a="http://schemas.openxmlformats.org/drawingml/2006/main">
              <a:ext uri="{FF2B5EF4-FFF2-40B4-BE49-F238E27FC236}">
                <a16:creationId xmlns:a16="http://schemas.microsoft.com/office/drawing/2014/main" id="{CCAB55CB-DF11-4E9C-8EE5-808F4043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rPr>
              <a:t>The 47 terms pass a full identity check</a:t>
            </a:r>
          </a:p>
        </p:txBody>
      </p:sp>
      <p:sp>
        <p:nvSpPr>
          <p:cNvPr id="3" name="07 / 10">
            <a:extLst xmlns:a="http://schemas.openxmlformats.org/drawingml/2006/main">
              <a:ext uri="{FF2B5EF4-FFF2-40B4-BE49-F238E27FC236}">
                <a16:creationId xmlns:a16="http://schemas.microsoft.com/office/drawing/2014/main" id="{7995A6FE-048D-461A-81F6-07291F8E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4842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718064"/>
                </a:solidFill>
                <a:latin typeface="Consolas"/>
                <a:ea typeface="Consolas"/>
                <a:cs typeface="Consolas"/>
              </a:rPr>
              <a:t>07 / 10</a:t>
            </a:r>
          </a:p>
        </p:txBody>
      </p:sp>
      <p:sp>
        <p:nvSpPr>
          <p:cNvPr id="4" name="4,096">
            <a:extLst xmlns:a="http://schemas.openxmlformats.org/drawingml/2006/main">
              <a:ext uri="{FF2B5EF4-FFF2-40B4-BE49-F238E27FC236}">
                <a16:creationId xmlns:a16="http://schemas.microsoft.com/office/drawing/2014/main" id="{5F6CD48D-421C-4E12-93AE-EBA1FD71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61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61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61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61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61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61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61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61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61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61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61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pPr>
            <a:r>
              <a:rPr sz="6150" b="1">
                <a:solidFill>
                  <a:srgbClr val="5751D3"/>
                </a:solidFill>
                <a:latin typeface="Consolas"/>
                <a:ea typeface="Consolas"/>
                <a:cs typeface="Consolas"/>
              </a:rPr>
              <a:t>4,096</a:t>
            </a:r>
          </a:p>
        </p:txBody>
      </p:sp>
      <p:sp>
        <p:nvSpPr>
          <p:cNvPr id="5" name="coefficients checked">
            <a:extLst xmlns:a="http://schemas.openxmlformats.org/drawingml/2006/main">
              <a:ext uri="{FF2B5EF4-FFF2-40B4-BE49-F238E27FC236}">
                <a16:creationId xmlns:a16="http://schemas.microsoft.com/office/drawing/2014/main" id="{A4C7CD8C-ACA8-4EE1-90EC-42FFFF99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479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coefficients checked</a:t>
            </a:r>
          </a:p>
        </p:txBody>
      </p:sp>
      <p:sp>
        <p:nvSpPr>
          <p:cNvPr id="6" name="0">
            <a:extLst xmlns:a="http://schemas.openxmlformats.org/drawingml/2006/main">
              <a:ext uri="{FF2B5EF4-FFF2-40B4-BE49-F238E27FC236}">
                <a16:creationId xmlns:a16="http://schemas.microsoft.com/office/drawing/2014/main" id="{B7BE8F87-3669-4D8C-85E5-B5D42D73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764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61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61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61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61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61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61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61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61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61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61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pPr>
            <a:r>
              <a:rPr sz="6150" b="1">
                <a:solidFill>
                  <a:srgbClr val="728C59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7" name="mismatches">
            <a:extLst xmlns:a="http://schemas.openxmlformats.org/drawingml/2006/main">
              <a:ext uri="{FF2B5EF4-FFF2-40B4-BE49-F238E27FC236}">
                <a16:creationId xmlns:a16="http://schemas.microsoft.com/office/drawing/2014/main" id="{0DAACC15-1692-41AA-8F30-4560CFCE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mismatches</a:t>
            </a:r>
          </a:p>
        </p:txBody>
      </p:sp>
      <p:sp>
        <p:nvSpPr>
          <p:cNvPr id="8" name="Tₒᵢⱼ = ⊕ᵣ wᵣₒ uᵣᵢ vᵣⱼ">
            <a:extLst xmlns:a="http://schemas.openxmlformats.org/drawingml/2006/main">
              <a:ext uri="{FF2B5EF4-FFF2-40B4-BE49-F238E27FC236}">
                <a16:creationId xmlns:a16="http://schemas.microsoft.com/office/drawing/2014/main" id="{153958CD-89A0-458D-A3D6-231EA83D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0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30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30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30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30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30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30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30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30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30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5302B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25302B"/>
                </a:solidFill>
                <a:latin typeface="Consolas"/>
                <a:ea typeface="Consolas"/>
                <a:cs typeface="Consolas"/>
              </a:rPr>
              <a:t>Tₒᵢⱼ = ⊕ᵣ wᵣₒ uᵣᵢ vᵣⱼ</a:t>
            </a:r>
          </a:p>
        </p:txBody>
      </p:sp>
      <p:sp>
        <p:nvSpPr>
          <p:cNvPr id="9" name="The notebook also compar">
            <a:extLst xmlns:a="http://schemas.openxmlformats.org/drawingml/2006/main">
              <a:ext uri="{FF2B5EF4-FFF2-40B4-BE49-F238E27FC236}">
                <a16:creationId xmlns:a16="http://schemas.microsoft.com/office/drawing/2014/main" id="{08E950F5-80E2-4E33-857B-F8D1990E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The notebook also compares 100 random matrix pairs with NumPy.</a:t>
            </a:r>
          </a:p>
        </p:txBody>
      </p:sp>
    </p:spTree>
    <p:extLst>
      <p:ext uri="{BB962C8B-B14F-4D97-AF65-F5344CB8AC3E}">
        <p14:creationId xmlns:p14="http://schemas.microsoft.com/office/powerpoint/2010/main" val="684431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EMO · COMPARE THREE MET">
            <a:extLst xmlns:a="http://schemas.openxmlformats.org/drawingml/2006/main">
              <a:ext uri="{FF2B5EF4-FFF2-40B4-BE49-F238E27FC236}">
                <a16:creationId xmlns:a16="http://schemas.microsoft.com/office/drawing/2014/main" id="{4865D516-4530-447C-8815-92B6D02D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rPr>
              <a:t>DEMO · COMPARE THREE METHODS</a:t>
            </a:r>
          </a:p>
        </p:txBody>
      </p:sp>
      <p:sp>
        <p:nvSpPr>
          <p:cNvPr id="2" name="Operation-count experime">
            <a:extLst xmlns:a="http://schemas.openxmlformats.org/drawingml/2006/main">
              <a:ext uri="{FF2B5EF4-FFF2-40B4-BE49-F238E27FC236}">
                <a16:creationId xmlns:a16="http://schemas.microsoft.com/office/drawing/2014/main" id="{4A99C105-A425-4DDF-AEA5-F5A0CDEE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rPr>
              <a:t>Operation-count experiment</a:t>
            </a:r>
          </a:p>
        </p:txBody>
      </p:sp>
      <p:sp>
        <p:nvSpPr>
          <p:cNvPr id="3" name="08 / 10">
            <a:extLst xmlns:a="http://schemas.openxmlformats.org/drawingml/2006/main">
              <a:ext uri="{FF2B5EF4-FFF2-40B4-BE49-F238E27FC236}">
                <a16:creationId xmlns:a16="http://schemas.microsoft.com/office/drawing/2014/main" id="{C0F9D5C7-05B6-4D7A-B9A9-72E567DC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4842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718064"/>
                </a:solidFill>
                <a:latin typeface="Consolas"/>
                <a:ea typeface="Consolas"/>
                <a:cs typeface="Consolas"/>
              </a:rPr>
              <a:t>08 / 10</a:t>
            </a:r>
          </a:p>
        </p:txBody>
      </p:sp>
      <p:sp>
        <p:nvSpPr>
          <p:cNvPr id="4" name="Same 4×4 modulo 2 task. ">
            <a:extLst xmlns:a="http://schemas.openxmlformats.org/drawingml/2006/main">
              <a:ext uri="{FF2B5EF4-FFF2-40B4-BE49-F238E27FC236}">
                <a16:creationId xmlns:a16="http://schemas.microsoft.com/office/drawing/2014/main" id="{9C25299E-6A8A-4C1C-A121-E14F7869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Same 4×4 modulo 2 task. Expanded implementation without shared XOR intermediates.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6C1E9-E13B-4A66-842A-1EFB40774199}"/>
              </a:ext>
            </a:extLst>
          </p:cNvPr>
          <p:cNvGraphicFramePr/>
          <p:nvPr/>
        </p:nvGraphicFramePr>
        <p:xfrm>
          <a:off xmlns:a="http://schemas.openxmlformats.org/drawingml/2006/main" x="685800" y="2428875"/>
          <a:ext xmlns:a="http://schemas.openxmlformats.org/drawingml/2006/main" cx="10810875" cy="22860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162175"/>
                <a:gridCol w="2162175"/>
                <a:gridCol w="2162175"/>
                <a:gridCol w="2162175"/>
                <a:gridCol w="2162175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Method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1D3"/>
                      </a:solidFill>
                      <a:prstDash val="solid"/>
                    </a:lnL>
                    <a:lnR w="9525">
                      <a:solidFill>
                        <a:srgbClr val="DCE1D3"/>
                      </a:solidFill>
                      <a:prstDash val="solid"/>
                    </a:lnR>
                    <a:lnT w="9525">
                      <a:solidFill>
                        <a:srgbClr val="DCE1D3"/>
                      </a:solidFill>
                      <a:prstDash val="solid"/>
                    </a:lnT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253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Multiply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D3"/>
                      </a:solidFill>
                      <a:prstDash val="solid"/>
                    </a:lnR>
                    <a:lnT w="9525">
                      <a:solidFill>
                        <a:srgbClr val="DCE1D3"/>
                      </a:solidFill>
                      <a:prstDash val="solid"/>
                    </a:lnT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253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D3"/>
                      </a:solidFill>
                      <a:prstDash val="solid"/>
                    </a:lnR>
                    <a:lnT w="9525">
                      <a:solidFill>
                        <a:srgbClr val="DCE1D3"/>
                      </a:solidFill>
                      <a:prstDash val="solid"/>
                    </a:lnT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253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Cost if m =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D3"/>
                      </a:solidFill>
                      <a:prstDash val="solid"/>
                    </a:lnR>
                    <a:lnT w="9525">
                      <a:solidFill>
                        <a:srgbClr val="DCE1D3"/>
                      </a:solidFill>
                      <a:prstDash val="solid"/>
                    </a:lnT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253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Cost if m = 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D3"/>
                      </a:solidFill>
                      <a:prstDash val="solid"/>
                    </a:lnR>
                    <a:lnT w="9525">
                      <a:solidFill>
                        <a:srgbClr val="DCE1D3"/>
                      </a:solidFill>
                      <a:prstDash val="solid"/>
                    </a:lnT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25362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Direct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1D3"/>
                      </a:solidFill>
                      <a:prstDash val="solid"/>
                    </a:lnL>
                    <a:lnR w="9525">
                      <a:solidFill>
                        <a:srgbClr val="DCE1D3"/>
                      </a:solidFill>
                      <a:prstDash val="solid"/>
                    </a:lnR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D3"/>
                      </a:solidFill>
                      <a:prstDash val="solid"/>
                    </a:lnR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D3"/>
                      </a:solidFill>
                      <a:prstDash val="solid"/>
                    </a:lnR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D3"/>
                      </a:solidFill>
                      <a:prstDash val="solid"/>
                    </a:lnR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1,328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D3"/>
                      </a:solidFill>
                      <a:prstDash val="solid"/>
                    </a:lnR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Strassen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1D3"/>
                      </a:solidFill>
                      <a:prstDash val="solid"/>
                    </a:lnL>
                    <a:lnR w="9525">
                      <a:solidFill>
                        <a:srgbClr val="DCE1D3"/>
                      </a:solidFill>
                      <a:prstDash val="solid"/>
                    </a:lnR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ED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D3"/>
                      </a:solidFill>
                      <a:prstDash val="solid"/>
                    </a:lnR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ED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D3"/>
                      </a:solidFill>
                      <a:prstDash val="solid"/>
                    </a:lnR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ED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D3"/>
                      </a:solidFill>
                      <a:prstDash val="solid"/>
                    </a:lnR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ED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0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1,298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D3"/>
                      </a:solidFill>
                      <a:prstDash val="solid"/>
                    </a:lnR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EDEFE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751D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AlphaTensor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1D3"/>
                      </a:solidFill>
                      <a:prstDash val="solid"/>
                    </a:lnL>
                    <a:lnR w="9525">
                      <a:solidFill>
                        <a:srgbClr val="DCE1D3"/>
                      </a:solidFill>
                      <a:prstDash val="solid"/>
                    </a:lnR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751D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D3"/>
                      </a:solidFill>
                      <a:prstDash val="solid"/>
                    </a:lnR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751D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D3"/>
                      </a:solidFill>
                      <a:prstDash val="solid"/>
                    </a:lnR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751D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D3"/>
                      </a:solidFill>
                      <a:prstDash val="solid"/>
                    </a:lnR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751D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1,280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1D3"/>
                      </a:solidFill>
                      <a:prstDash val="solid"/>
                    </a:lnR>
                    <a:lnB w="9525">
                      <a:solidFill>
                        <a:srgbClr val="DCE1D3"/>
                      </a:solidFill>
                      <a:prstDash val="solid"/>
                    </a:lnB>
                    <a:solidFill>
                      <a:srgbClr val="F6F6EF"/>
                    </a:solidFill>
                  </a:tcPr>
                </a:tc>
              </a:tr>
            </a:tbl>
          </a:graphicData>
        </a:graphic>
      </p:graphicFrame>
      <p:sp>
        <p:nvSpPr>
          <p:cNvPr id="6" name="Toy cost = m × multiplic">
            <a:extLst xmlns:a="http://schemas.openxmlformats.org/drawingml/2006/main">
              <a:ext uri="{FF2B5EF4-FFF2-40B4-BE49-F238E27FC236}">
                <a16:creationId xmlns:a16="http://schemas.microsoft.com/office/drawing/2014/main" id="{A5B843F1-CC13-4A6B-B9EF-4B3B0C30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Toy cost = m × multiplications + XORs. m is an assumed relative cost, not measured time.</a:t>
            </a:r>
          </a:p>
        </p:txBody>
      </p:sp>
    </p:spTree>
    <p:extLst>
      <p:ext uri="{BB962C8B-B14F-4D97-AF65-F5344CB8AC3E}">
        <p14:creationId xmlns:p14="http://schemas.microsoft.com/office/powerpoint/2010/main" val="18300137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SULT · WHAT THE NUMBER">
            <a:extLst xmlns:a="http://schemas.openxmlformats.org/drawingml/2006/main">
              <a:ext uri="{FF2B5EF4-FFF2-40B4-BE49-F238E27FC236}">
                <a16:creationId xmlns:a16="http://schemas.microsoft.com/office/drawing/2014/main" id="{EDD116CD-3CC6-4753-8C94-C7D5160E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rPr>
              <a:t>RESULT · WHAT THE NUMBERS MEAN</a:t>
            </a:r>
          </a:p>
        </p:txBody>
      </p:sp>
      <p:sp>
        <p:nvSpPr>
          <p:cNvPr id="2" name="Fewer products does not ">
            <a:extLst xmlns:a="http://schemas.openxmlformats.org/drawingml/2006/main">
              <a:ext uri="{FF2B5EF4-FFF2-40B4-BE49-F238E27FC236}">
                <a16:creationId xmlns:a16="http://schemas.microsoft.com/office/drawing/2014/main" id="{375186A7-BE31-49EE-BFB3-450232F3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rPr>
              <a:t>Fewer products does not prove lower runtime</a:t>
            </a:r>
          </a:p>
        </p:txBody>
      </p:sp>
      <p:sp>
        <p:nvSpPr>
          <p:cNvPr id="3" name="09 / 10">
            <a:extLst xmlns:a="http://schemas.openxmlformats.org/drawingml/2006/main">
              <a:ext uri="{FF2B5EF4-FFF2-40B4-BE49-F238E27FC236}">
                <a16:creationId xmlns:a16="http://schemas.microsoft.com/office/drawing/2014/main" id="{DE62ACC3-86B8-442D-90D1-C9EA0A22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4842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718064"/>
                </a:solidFill>
                <a:latin typeface="Consolas"/>
                <a:ea typeface="Consolas"/>
                <a:cs typeface="Consolas"/>
              </a:rPr>
              <a:t>09 / 10</a:t>
            </a:r>
          </a:p>
        </p:txBody>
      </p:sp>
      <p:sp>
        <p:nvSpPr>
          <p:cNvPr id="4" name="64 → 47">
            <a:extLst xmlns:a="http://schemas.openxmlformats.org/drawingml/2006/main">
              <a:ext uri="{FF2B5EF4-FFF2-40B4-BE49-F238E27FC236}">
                <a16:creationId xmlns:a16="http://schemas.microsoft.com/office/drawing/2014/main" id="{5A607D0D-8F2D-422E-93B8-B4A66B11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52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52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52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52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52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52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52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52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52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52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5751D3"/>
                </a:solidFill>
                <a:latin typeface="Consolas"/>
                <a:ea typeface="Consolas"/>
                <a:cs typeface="Consolas"/>
              </a:defRPr>
            </a:pPr>
            <a:r>
              <a:rPr sz="5250" b="1">
                <a:solidFill>
                  <a:srgbClr val="5751D3"/>
                </a:solidFill>
                <a:latin typeface="Consolas"/>
                <a:ea typeface="Consolas"/>
                <a:cs typeface="Consolas"/>
              </a:rPr>
              <a:t>64 → 47</a:t>
            </a:r>
          </a:p>
        </p:txBody>
      </p:sp>
      <p:sp>
        <p:nvSpPr>
          <p:cNvPr id="5" name="17 fewer multiplications">
            <a:extLst xmlns:a="http://schemas.openxmlformats.org/drawingml/2006/main">
              <a:ext uri="{FF2B5EF4-FFF2-40B4-BE49-F238E27FC236}">
                <a16:creationId xmlns:a16="http://schemas.microsoft.com/office/drawing/2014/main" id="{2151B21B-6C79-4CE3-96B0-CB0D0FF4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479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rPr>
              <a:t>17 fewer multiplications: 17 / 64 = 26.56%</a:t>
            </a:r>
          </a:p>
        </p:txBody>
      </p:sp>
      <p:sp>
        <p:nvSpPr>
          <p:cNvPr id="6" name="49 → 47">
            <a:extLst xmlns:a="http://schemas.openxmlformats.org/drawingml/2006/main">
              <a:ext uri="{FF2B5EF4-FFF2-40B4-BE49-F238E27FC236}">
                <a16:creationId xmlns:a16="http://schemas.microsoft.com/office/drawing/2014/main" id="{1B0E9720-4E41-4530-9FDD-2EF428BA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43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43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43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43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43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43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43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43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43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43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728C59"/>
                </a:solidFill>
                <a:latin typeface="Consolas"/>
                <a:ea typeface="Consolas"/>
                <a:cs typeface="Consolas"/>
              </a:defRPr>
            </a:pPr>
            <a:r>
              <a:rPr sz="4350" b="1">
                <a:solidFill>
                  <a:srgbClr val="728C59"/>
                </a:solidFill>
                <a:latin typeface="Consolas"/>
                <a:ea typeface="Consolas"/>
                <a:cs typeface="Consolas"/>
              </a:rPr>
              <a:t>49 → 47</a:t>
            </a:r>
          </a:p>
        </p:txBody>
      </p:sp>
      <p:sp>
        <p:nvSpPr>
          <p:cNvPr id="7" name="2 fewer than Strassen: 2">
            <a:extLst xmlns:a="http://schemas.openxmlformats.org/drawingml/2006/main">
              <a:ext uri="{FF2B5EF4-FFF2-40B4-BE49-F238E27FC236}">
                <a16:creationId xmlns:a16="http://schemas.microsoft.com/office/drawing/2014/main" id="{FDB3AE82-6691-4E70-9261-FA4C4D34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291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rPr>
              <a:t>2 fewer than Strassen: 2 / 49 = 4.08%</a:t>
            </a:r>
          </a:p>
        </p:txBody>
      </p:sp>
      <p:sp>
        <p:nvSpPr>
          <p:cNvPr id="8" name="These are counts of scal">
            <a:extLst xmlns:a="http://schemas.openxmlformats.org/drawingml/2006/main">
              <a:ext uri="{FF2B5EF4-FFF2-40B4-BE49-F238E27FC236}">
                <a16:creationId xmlns:a16="http://schemas.microsoft.com/office/drawing/2014/main" id="{C4169A8F-430B-4227-A4DD-0FC74915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These are counts of scalar products. Addition, memory access, and hardware still matter.</a:t>
            </a:r>
          </a:p>
        </p:txBody>
      </p:sp>
    </p:spTree>
    <p:extLst>
      <p:ext uri="{BB962C8B-B14F-4D97-AF65-F5344CB8AC3E}">
        <p14:creationId xmlns:p14="http://schemas.microsoft.com/office/powerpoint/2010/main" val="256256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IMITATIONS · DISCUSSION">
            <a:extLst xmlns:a="http://schemas.openxmlformats.org/drawingml/2006/main">
              <a:ext uri="{FF2B5EF4-FFF2-40B4-BE49-F238E27FC236}">
                <a16:creationId xmlns:a16="http://schemas.microsoft.com/office/drawing/2014/main" id="{DAD76EDC-FEE6-482E-98C6-E40D5295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rPr>
              <a:t>LIMITATIONS · DISCUSSION</a:t>
            </a:r>
          </a:p>
        </p:txBody>
      </p:sp>
      <p:sp>
        <p:nvSpPr>
          <p:cNvPr id="2" name="Limits and takeaway">
            <a:extLst xmlns:a="http://schemas.openxmlformats.org/drawingml/2006/main">
              <a:ext uri="{FF2B5EF4-FFF2-40B4-BE49-F238E27FC236}">
                <a16:creationId xmlns:a16="http://schemas.microsoft.com/office/drawing/2014/main" id="{00A15594-B572-4337-8714-CC5BBBA5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rPr>
              <a:t>Limits and takeaway</a:t>
            </a:r>
          </a:p>
        </p:txBody>
      </p:sp>
      <p:sp>
        <p:nvSpPr>
          <p:cNvPr id="3" name="10 / 10">
            <a:extLst xmlns:a="http://schemas.openxmlformats.org/drawingml/2006/main">
              <a:ext uri="{FF2B5EF4-FFF2-40B4-BE49-F238E27FC236}">
                <a16:creationId xmlns:a16="http://schemas.microsoft.com/office/drawing/2014/main" id="{0311CD77-2F95-494C-AAC4-E5D226E8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44842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718064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718064"/>
                </a:solidFill>
                <a:latin typeface="Consolas"/>
                <a:ea typeface="Consolas"/>
                <a:cs typeface="Consolas"/>
              </a:rPr>
              <a:t>10 / 10</a:t>
            </a:r>
          </a:p>
        </p:txBody>
      </p:sp>
      <p:sp>
        <p:nvSpPr>
          <p:cNvPr id="4" name="The 47-term identity is ">
            <a:extLst xmlns:a="http://schemas.openxmlformats.org/drawingml/2006/main">
              <a:ext uri="{FF2B5EF4-FFF2-40B4-BE49-F238E27FC236}">
                <a16:creationId xmlns:a16="http://schemas.microsoft.com/office/drawing/2014/main" id="{804263AC-9FFE-4C98-B2EA-2EFA2BBA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751D3"/>
                </a:solidFill>
                <a:latin typeface="Microsoft YaHei"/>
                <a:ea typeface="Microsoft YaHei"/>
                <a:cs typeface="Microsoft YaHei"/>
              </a:rPr>
              <a:t>The 47-term identity is for modulo 2 arithmetic.</a:t>
            </a:r>
          </a:p>
        </p:txBody>
      </p:sp>
      <p:sp>
        <p:nvSpPr>
          <p:cNvPr id="5" name="It cannot be applied unc">
            <a:extLst xmlns:a="http://schemas.openxmlformats.org/drawingml/2006/main">
              <a:ext uri="{FF2B5EF4-FFF2-40B4-BE49-F238E27FC236}">
                <a16:creationId xmlns:a16="http://schemas.microsoft.com/office/drawing/2014/main" id="{B3D26D86-F030-4452-8706-DA5FD31C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It cannot be applied unchanged to arbitrary real-number matrices.</a:t>
            </a:r>
          </a:p>
        </p:txBody>
      </p:sp>
      <p:sp>
        <p:nvSpPr>
          <p:cNvPr id="6" name="The notebook verifies a ">
            <a:extLst xmlns:a="http://schemas.openxmlformats.org/drawingml/2006/main">
              <a:ext uri="{FF2B5EF4-FFF2-40B4-BE49-F238E27FC236}">
                <a16:creationId xmlns:a16="http://schemas.microsoft.com/office/drawing/2014/main" id="{6F7639B3-06EC-4818-A022-CACF71A5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302B"/>
                </a:solidFill>
                <a:latin typeface="Microsoft YaHei"/>
                <a:ea typeface="Microsoft YaHei"/>
                <a:cs typeface="Microsoft YaHei"/>
              </a:rPr>
              <a:t>The notebook verifies a known AI discovery.</a:t>
            </a:r>
          </a:p>
        </p:txBody>
      </p:sp>
      <p:sp>
        <p:nvSpPr>
          <p:cNvPr id="7" name="It does not implement Al">
            <a:extLst xmlns:a="http://schemas.openxmlformats.org/drawingml/2006/main">
              <a:ext uri="{FF2B5EF4-FFF2-40B4-BE49-F238E27FC236}">
                <a16:creationId xmlns:a16="http://schemas.microsoft.com/office/drawing/2014/main" id="{2025C4EF-02CA-403F-AA5C-558BABDF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18064"/>
                </a:solidFill>
                <a:latin typeface="Microsoft YaHei"/>
                <a:ea typeface="Microsoft YaHei"/>
                <a:cs typeface="Microsoft YaHei"/>
              </a:rPr>
              <a:t>It does not implement AlphaTensor’s reinforcement-learning search.</a:t>
            </a:r>
          </a:p>
        </p:txBody>
      </p:sp>
      <p:sp>
        <p:nvSpPr>
          <p:cNvPr id="8" name="A practical algorithm ne">
            <a:extLst xmlns:a="http://schemas.openxmlformats.org/drawingml/2006/main">
              <a:ext uri="{FF2B5EF4-FFF2-40B4-BE49-F238E27FC236}">
                <a16:creationId xmlns:a16="http://schemas.microsoft.com/office/drawing/2014/main" id="{90DD9B31-F58E-4DB8-9379-F0782106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28C59"/>
                </a:solidFill>
                <a:latin typeface="Microsoft YaHei"/>
                <a:ea typeface="Microsoft YaHei"/>
                <a:cs typeface="Microsoft YaHei"/>
              </a:rPr>
              <a:t>A practical algorithm needs a runtime benchmark on its target hardware.</a:t>
            </a:r>
          </a:p>
        </p:txBody>
      </p:sp>
    </p:spTree>
    <p:extLst>
      <p:ext uri="{BB962C8B-B14F-4D97-AF65-F5344CB8AC3E}">
        <p14:creationId xmlns:p14="http://schemas.microsoft.com/office/powerpoint/2010/main" val="12615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2026-10-29T04:47:53.8450000Z</dcterms:created>
  <dcterms:modified xsi:type="dcterms:W3CDTF">2026-10-29T04:47:53.8450000Z</dcterms:modified>
</coreProperties>
</file>